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4202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pic>
        <p:nvPicPr>
          <p:cNvPr id="3" name="Image 0" descr="preencoded.png"/>
          <p:cNvPicPr>
            <a:picLocks noChangeAspect="1"/>
          </p:cNvPicPr>
          <p:nvPr/>
        </p:nvPicPr>
        <p:blipFill>
          <a:blip r:embed="rId3"/>
          <a:stretch>
            <a:fillRect/>
          </a:stretch>
        </p:blipFill>
        <p:spPr>
          <a:xfrm>
            <a:off x="365760" y="640080"/>
            <a:ext cx="1005840" cy="1005840"/>
          </a:xfrm>
          <a:prstGeom prst="rect">
            <a:avLst/>
          </a:prstGeom>
        </p:spPr>
      </p:pic>
      <p:sp>
        <p:nvSpPr>
          <p:cNvPr id="4" name="Text 1"/>
          <p:cNvSpPr/>
          <p:nvPr/>
        </p:nvSpPr>
        <p:spPr>
          <a:xfrm>
            <a:off x="1463040" y="594360"/>
            <a:ext cx="7132320" cy="411480"/>
          </a:xfrm>
          <a:prstGeom prst="rect">
            <a:avLst/>
          </a:prstGeom>
          <a:noFill/>
          <a:ln/>
        </p:spPr>
        <p:txBody>
          <a:bodyPr wrap="square" rtlCol="0" anchor="ctr"/>
          <a:lstStyle/>
          <a:p>
            <a:pPr marL="0" indent="0">
              <a:buNone/>
            </a:pPr>
            <a:r>
              <a:rPr lang="en-US" sz="1300" b="1" kern="0" spc="400" dirty="0">
                <a:solidFill>
                  <a:srgbClr val="00B4D8"/>
                </a:solidFill>
                <a:latin typeface="Calibri" pitchFamily="34" charset="0"/>
                <a:ea typeface="Calibri" pitchFamily="34" charset="-122"/>
                <a:cs typeface="Calibri" pitchFamily="34" charset="-120"/>
              </a:rPr>
              <a:t>CYBERSTER BLUE TEAM</a:t>
            </a:r>
            <a:endParaRPr lang="en-US" sz="1300" dirty="0"/>
          </a:p>
        </p:txBody>
      </p:sp>
      <p:sp>
        <p:nvSpPr>
          <p:cNvPr id="5" name="Text 2"/>
          <p:cNvSpPr/>
          <p:nvPr/>
        </p:nvSpPr>
        <p:spPr>
          <a:xfrm>
            <a:off x="1463040" y="1005840"/>
            <a:ext cx="7132320" cy="73152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Windows Artifact Analysis</a:t>
            </a:r>
            <a:endParaRPr lang="en-US" sz="3600" dirty="0"/>
          </a:p>
        </p:txBody>
      </p:sp>
      <p:sp>
        <p:nvSpPr>
          <p:cNvPr id="6" name="Shape 3"/>
          <p:cNvSpPr/>
          <p:nvPr/>
        </p:nvSpPr>
        <p:spPr>
          <a:xfrm>
            <a:off x="365760" y="1920240"/>
            <a:ext cx="8412480" cy="36576"/>
          </a:xfrm>
          <a:prstGeom prst="rect">
            <a:avLst/>
          </a:prstGeom>
          <a:solidFill>
            <a:srgbClr val="0077B6"/>
          </a:solidFill>
          <a:ln w="12700">
            <a:solidFill>
              <a:srgbClr val="0077B6"/>
            </a:solidFill>
            <a:prstDash val="solid"/>
          </a:ln>
        </p:spPr>
      </p:sp>
      <p:sp>
        <p:nvSpPr>
          <p:cNvPr id="7" name="Text 4"/>
          <p:cNvSpPr/>
          <p:nvPr/>
        </p:nvSpPr>
        <p:spPr>
          <a:xfrm>
            <a:off x="365760" y="2057400"/>
            <a:ext cx="8412480" cy="457200"/>
          </a:xfrm>
          <a:prstGeom prst="rect">
            <a:avLst/>
          </a:prstGeom>
          <a:noFill/>
          <a:ln/>
        </p:spPr>
        <p:txBody>
          <a:bodyPr wrap="square" rtlCol="0" anchor="ctr"/>
          <a:lstStyle/>
          <a:p>
            <a:pPr marL="0" indent="0">
              <a:buNone/>
            </a:pPr>
            <a:r>
              <a:rPr lang="en-US" sz="1500" i="1" dirty="0">
                <a:solidFill>
                  <a:srgbClr val="48CAE4"/>
                </a:solidFill>
                <a:latin typeface="Calibri" pitchFamily="34" charset="0"/>
                <a:ea typeface="Calibri" pitchFamily="34" charset="-122"/>
                <a:cs typeface="Calibri" pitchFamily="34" charset="-120"/>
              </a:rPr>
              <a:t>Event Logs  •  Prefetch Files  •  Cache &amp; Deleted File Recovery</a:t>
            </a:r>
            <a:endParaRPr lang="en-US" sz="1500" dirty="0"/>
          </a:p>
        </p:txBody>
      </p:sp>
      <p:sp>
        <p:nvSpPr>
          <p:cNvPr id="8" name="Shape 5"/>
          <p:cNvSpPr/>
          <p:nvPr/>
        </p:nvSpPr>
        <p:spPr>
          <a:xfrm>
            <a:off x="320040" y="2743200"/>
            <a:ext cx="2743200" cy="15087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9" name="Image 1" descr="preencoded.png"/>
          <p:cNvPicPr>
            <a:picLocks noChangeAspect="1"/>
          </p:cNvPicPr>
          <p:nvPr/>
        </p:nvPicPr>
        <p:blipFill>
          <a:blip r:embed="rId4"/>
          <a:stretch>
            <a:fillRect/>
          </a:stretch>
        </p:blipFill>
        <p:spPr>
          <a:xfrm>
            <a:off x="429768" y="2834640"/>
            <a:ext cx="411480" cy="411480"/>
          </a:xfrm>
          <a:prstGeom prst="rect">
            <a:avLst/>
          </a:prstGeom>
        </p:spPr>
      </p:pic>
      <p:sp>
        <p:nvSpPr>
          <p:cNvPr id="10" name="Text 6"/>
          <p:cNvSpPr/>
          <p:nvPr/>
        </p:nvSpPr>
        <p:spPr>
          <a:xfrm>
            <a:off x="429768" y="3291840"/>
            <a:ext cx="251460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Windows Event Log Analysis</a:t>
            </a:r>
            <a:endParaRPr lang="en-US" sz="1200" dirty="0"/>
          </a:p>
        </p:txBody>
      </p:sp>
      <p:sp>
        <p:nvSpPr>
          <p:cNvPr id="11" name="Text 7"/>
          <p:cNvSpPr/>
          <p:nvPr/>
        </p:nvSpPr>
        <p:spPr>
          <a:xfrm>
            <a:off x="429768" y="3822192"/>
            <a:ext cx="2514600" cy="320040"/>
          </a:xfrm>
          <a:prstGeom prst="rect">
            <a:avLst/>
          </a:prstGeom>
          <a:noFill/>
          <a:ln/>
        </p:spPr>
        <p:txBody>
          <a:bodyPr wrap="square" rtlCol="0" anchor="ctr"/>
          <a:lstStyle/>
          <a:p>
            <a:pPr marL="0" indent="0">
              <a:buNone/>
            </a:pPr>
            <a:r>
              <a:rPr lang="en-US" sz="1100" dirty="0">
                <a:solidFill>
                  <a:srgbClr val="00B4D8"/>
                </a:solidFill>
                <a:latin typeface="Calibri" pitchFamily="34" charset="0"/>
                <a:ea typeface="Calibri" pitchFamily="34" charset="-122"/>
                <a:cs typeface="Calibri" pitchFamily="34" charset="-120"/>
              </a:rPr>
              <a:t>Days 53 – 55</a:t>
            </a:r>
            <a:endParaRPr lang="en-US" sz="1100" dirty="0"/>
          </a:p>
        </p:txBody>
      </p:sp>
      <p:sp>
        <p:nvSpPr>
          <p:cNvPr id="12" name="Shape 8"/>
          <p:cNvSpPr/>
          <p:nvPr/>
        </p:nvSpPr>
        <p:spPr>
          <a:xfrm>
            <a:off x="3337560" y="2743200"/>
            <a:ext cx="2743200" cy="15087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13" name="Image 2" descr="preencoded.png"/>
          <p:cNvPicPr>
            <a:picLocks noChangeAspect="1"/>
          </p:cNvPicPr>
          <p:nvPr/>
        </p:nvPicPr>
        <p:blipFill>
          <a:blip r:embed="rId5"/>
          <a:stretch>
            <a:fillRect/>
          </a:stretch>
        </p:blipFill>
        <p:spPr>
          <a:xfrm>
            <a:off x="3447288" y="2834640"/>
            <a:ext cx="411480" cy="411480"/>
          </a:xfrm>
          <a:prstGeom prst="rect">
            <a:avLst/>
          </a:prstGeom>
        </p:spPr>
      </p:pic>
      <p:sp>
        <p:nvSpPr>
          <p:cNvPr id="14" name="Text 9"/>
          <p:cNvSpPr/>
          <p:nvPr/>
        </p:nvSpPr>
        <p:spPr>
          <a:xfrm>
            <a:off x="3447288" y="3291840"/>
            <a:ext cx="251460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Prefetch File Analysis</a:t>
            </a:r>
            <a:endParaRPr lang="en-US" sz="1200" dirty="0"/>
          </a:p>
        </p:txBody>
      </p:sp>
      <p:sp>
        <p:nvSpPr>
          <p:cNvPr id="15" name="Text 10"/>
          <p:cNvSpPr/>
          <p:nvPr/>
        </p:nvSpPr>
        <p:spPr>
          <a:xfrm>
            <a:off x="3447288" y="3822192"/>
            <a:ext cx="2514600" cy="320040"/>
          </a:xfrm>
          <a:prstGeom prst="rect">
            <a:avLst/>
          </a:prstGeom>
          <a:noFill/>
          <a:ln/>
        </p:spPr>
        <p:txBody>
          <a:bodyPr wrap="square" rtlCol="0" anchor="ctr"/>
          <a:lstStyle/>
          <a:p>
            <a:pPr marL="0" indent="0">
              <a:buNone/>
            </a:pPr>
            <a:r>
              <a:rPr lang="en-US" sz="1100" dirty="0">
                <a:solidFill>
                  <a:srgbClr val="00B4D8"/>
                </a:solidFill>
                <a:latin typeface="Calibri" pitchFamily="34" charset="0"/>
                <a:ea typeface="Calibri" pitchFamily="34" charset="-122"/>
                <a:cs typeface="Calibri" pitchFamily="34" charset="-120"/>
              </a:rPr>
              <a:t>Days 56 – 57</a:t>
            </a:r>
            <a:endParaRPr lang="en-US" sz="1100" dirty="0"/>
          </a:p>
        </p:txBody>
      </p:sp>
      <p:sp>
        <p:nvSpPr>
          <p:cNvPr id="16" name="Shape 11"/>
          <p:cNvSpPr/>
          <p:nvPr/>
        </p:nvSpPr>
        <p:spPr>
          <a:xfrm>
            <a:off x="6355080" y="2743200"/>
            <a:ext cx="2743200" cy="15087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17" name="Image 3" descr="preencoded.png"/>
          <p:cNvPicPr>
            <a:picLocks noChangeAspect="1"/>
          </p:cNvPicPr>
          <p:nvPr/>
        </p:nvPicPr>
        <p:blipFill>
          <a:blip r:embed="rId6"/>
          <a:stretch>
            <a:fillRect/>
          </a:stretch>
        </p:blipFill>
        <p:spPr>
          <a:xfrm>
            <a:off x="6464808" y="2834640"/>
            <a:ext cx="411480" cy="411480"/>
          </a:xfrm>
          <a:prstGeom prst="rect">
            <a:avLst/>
          </a:prstGeom>
        </p:spPr>
      </p:pic>
      <p:sp>
        <p:nvSpPr>
          <p:cNvPr id="18" name="Text 12"/>
          <p:cNvSpPr/>
          <p:nvPr/>
        </p:nvSpPr>
        <p:spPr>
          <a:xfrm>
            <a:off x="6464808" y="3291840"/>
            <a:ext cx="251460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Cache, Thumbcache &amp; Deleted Files</a:t>
            </a:r>
            <a:endParaRPr lang="en-US" sz="1200" dirty="0"/>
          </a:p>
        </p:txBody>
      </p:sp>
      <p:sp>
        <p:nvSpPr>
          <p:cNvPr id="19" name="Text 13"/>
          <p:cNvSpPr/>
          <p:nvPr/>
        </p:nvSpPr>
        <p:spPr>
          <a:xfrm>
            <a:off x="6464808" y="3822192"/>
            <a:ext cx="2514600" cy="320040"/>
          </a:xfrm>
          <a:prstGeom prst="rect">
            <a:avLst/>
          </a:prstGeom>
          <a:noFill/>
          <a:ln/>
        </p:spPr>
        <p:txBody>
          <a:bodyPr wrap="square" rtlCol="0" anchor="ctr"/>
          <a:lstStyle/>
          <a:p>
            <a:pPr marL="0" indent="0">
              <a:buNone/>
            </a:pPr>
            <a:r>
              <a:rPr lang="en-US" sz="1100" dirty="0">
                <a:solidFill>
                  <a:srgbClr val="00B4D8"/>
                </a:solidFill>
                <a:latin typeface="Calibri" pitchFamily="34" charset="0"/>
                <a:ea typeface="Calibri" pitchFamily="34" charset="-122"/>
                <a:cs typeface="Calibri" pitchFamily="34" charset="-120"/>
              </a:rPr>
              <a:t>Days 58 – 59</a:t>
            </a:r>
            <a:endParaRPr lang="en-US" sz="1100" dirty="0"/>
          </a:p>
        </p:txBody>
      </p:sp>
      <p:sp>
        <p:nvSpPr>
          <p:cNvPr id="20" name="Text 14"/>
          <p:cNvSpPr/>
          <p:nvPr/>
        </p:nvSpPr>
        <p:spPr>
          <a:xfrm>
            <a:off x="0" y="4800600"/>
            <a:ext cx="9144000" cy="320040"/>
          </a:xfrm>
          <a:prstGeom prst="rect">
            <a:avLst/>
          </a:prstGeom>
          <a:noFill/>
          <a:ln/>
        </p:spPr>
        <p:txBody>
          <a:bodyPr wrap="square" rtlCol="0" anchor="ctr"/>
          <a:lstStyle/>
          <a:p>
            <a:pPr marL="0" indent="0" algn="ctr">
              <a:buNone/>
            </a:pPr>
            <a:r>
              <a:rPr lang="en-US" sz="1000" dirty="0">
                <a:solidFill>
                  <a:srgbClr val="8BB8D4"/>
                </a:solidFill>
                <a:latin typeface="Calibri" pitchFamily="34" charset="0"/>
                <a:ea typeface="Calibri" pitchFamily="34" charset="-122"/>
                <a:cs typeface="Calibri" pitchFamily="34" charset="-120"/>
              </a:rPr>
              <a:t>Week 8  |  Phase Two — Digital Forensics and Incident Response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82880"/>
            <a:ext cx="841248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Are Windows Artifacts?</a:t>
            </a:r>
            <a:endParaRPr lang="en-US" sz="2800" dirty="0"/>
          </a:p>
        </p:txBody>
      </p:sp>
      <p:sp>
        <p:nvSpPr>
          <p:cNvPr id="4" name="Text 2"/>
          <p:cNvSpPr/>
          <p:nvPr/>
        </p:nvSpPr>
        <p:spPr>
          <a:xfrm>
            <a:off x="365760" y="868680"/>
            <a:ext cx="8412480" cy="502920"/>
          </a:xfrm>
          <a:prstGeom prst="rect">
            <a:avLst/>
          </a:prstGeom>
          <a:noFill/>
          <a:ln/>
        </p:spPr>
        <p:txBody>
          <a:bodyPr wrap="square" rtlCol="0" anchor="ctr"/>
          <a:lstStyle/>
          <a:p>
            <a:pPr marL="0" indent="0">
              <a:buNone/>
            </a:pPr>
            <a:r>
              <a:rPr lang="en-US" sz="1400" i="1" dirty="0">
                <a:solidFill>
                  <a:srgbClr val="E8F4FD"/>
                </a:solidFill>
                <a:latin typeface="Calibri" pitchFamily="34" charset="0"/>
                <a:ea typeface="Calibri" pitchFamily="34" charset="-122"/>
                <a:cs typeface="Calibri" pitchFamily="34" charset="-120"/>
              </a:rPr>
              <a:t>Windows constantly records what happens on a system — who logged in, what programs ran, what files were opened.</a:t>
            </a:r>
            <a:endParaRPr lang="en-US" sz="1400" dirty="0"/>
          </a:p>
        </p:txBody>
      </p:sp>
      <p:sp>
        <p:nvSpPr>
          <p:cNvPr id="5" name="Shape 3"/>
          <p:cNvSpPr/>
          <p:nvPr/>
        </p:nvSpPr>
        <p:spPr>
          <a:xfrm>
            <a:off x="320040" y="1463040"/>
            <a:ext cx="4114800" cy="329184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6" name="Image 0" descr="preencoded.png"/>
          <p:cNvPicPr>
            <a:picLocks noChangeAspect="1"/>
          </p:cNvPicPr>
          <p:nvPr/>
        </p:nvPicPr>
        <p:blipFill>
          <a:blip r:embed="rId3"/>
          <a:stretch>
            <a:fillRect/>
          </a:stretch>
        </p:blipFill>
        <p:spPr>
          <a:xfrm>
            <a:off x="502920" y="1572768"/>
            <a:ext cx="457200" cy="457200"/>
          </a:xfrm>
          <a:prstGeom prst="rect">
            <a:avLst/>
          </a:prstGeom>
        </p:spPr>
      </p:pic>
      <p:sp>
        <p:nvSpPr>
          <p:cNvPr id="7" name="Text 4"/>
          <p:cNvSpPr/>
          <p:nvPr/>
        </p:nvSpPr>
        <p:spPr>
          <a:xfrm>
            <a:off x="1051560" y="1572768"/>
            <a:ext cx="3246120" cy="45720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The Forensic Treasure Chest</a:t>
            </a:r>
            <a:endParaRPr lang="en-US" sz="1300" dirty="0"/>
          </a:p>
        </p:txBody>
      </p:sp>
      <p:sp>
        <p:nvSpPr>
          <p:cNvPr id="8" name="Text 5"/>
          <p:cNvSpPr/>
          <p:nvPr/>
        </p:nvSpPr>
        <p:spPr>
          <a:xfrm>
            <a:off x="502920" y="2103120"/>
            <a:ext cx="3840480" cy="2468880"/>
          </a:xfrm>
          <a:prstGeom prst="rect">
            <a:avLst/>
          </a:prstGeom>
          <a:noFill/>
          <a:ln/>
        </p:spPr>
        <p:txBody>
          <a:bodyPr wrap="square" rtlCol="0" anchor="ctr"/>
          <a:lstStyle/>
          <a:p>
            <a:pPr marL="0" indent="0">
              <a:buNone/>
            </a:pPr>
            <a:r>
              <a:rPr lang="en-US" sz="1200" dirty="0">
                <a:solidFill>
                  <a:srgbClr val="E8F4FD"/>
                </a:solidFill>
                <a:latin typeface="Calibri" pitchFamily="34" charset="0"/>
                <a:ea typeface="Calibri" pitchFamily="34" charset="-122"/>
                <a:cs typeface="Calibri" pitchFamily="34" charset="-120"/>
              </a:rPr>
              <a:t>Artifacts are the digital footprints left behind by system activity. Every time someone logs in, runs a program, opens a folder, or deletes a file — Windows records something.</a:t>
            </a:r>
            <a:endParaRPr lang="en-US" sz="1200" dirty="0"/>
          </a:p>
          <a:p>
            <a:pPr marL="0" indent="0">
              <a:buNone/>
            </a:pPr>
            <a:endParaRPr lang="en-US" sz="1200" dirty="0"/>
          </a:p>
          <a:p>
            <a:pPr marL="0" indent="0">
              <a:buNone/>
            </a:pPr>
            <a:r>
              <a:rPr lang="en-US" sz="1200" dirty="0">
                <a:solidFill>
                  <a:srgbClr val="E8F4FD"/>
                </a:solidFill>
                <a:latin typeface="Calibri" pitchFamily="34" charset="0"/>
                <a:ea typeface="Calibri" pitchFamily="34" charset="-122"/>
                <a:cs typeface="Calibri" pitchFamily="34" charset="-120"/>
              </a:rPr>
              <a:t>The challenge in forensics is not whether evidence exists. It almost always does. The challenge is knowing WHERE to look and how to READ what you find.</a:t>
            </a:r>
            <a:endParaRPr lang="en-US" sz="1200" dirty="0"/>
          </a:p>
          <a:p>
            <a:pPr marL="0" indent="0">
              <a:buNone/>
            </a:pPr>
            <a:endParaRPr lang="en-US" sz="1200" dirty="0"/>
          </a:p>
          <a:p>
            <a:pPr marL="0" indent="0">
              <a:buNone/>
            </a:pPr>
            <a:r>
              <a:rPr lang="en-US" sz="1200" dirty="0">
                <a:solidFill>
                  <a:srgbClr val="E8F4FD"/>
                </a:solidFill>
                <a:latin typeface="Calibri" pitchFamily="34" charset="0"/>
                <a:ea typeface="Calibri" pitchFamily="34" charset="-122"/>
                <a:cs typeface="Calibri" pitchFamily="34" charset="-120"/>
              </a:rPr>
              <a:t>This week covers the three artifact types that appear in nearly every Windows investigation.</a:t>
            </a:r>
            <a:endParaRPr lang="en-US" sz="1200" dirty="0"/>
          </a:p>
        </p:txBody>
      </p:sp>
      <p:sp>
        <p:nvSpPr>
          <p:cNvPr id="9" name="Shape 6"/>
          <p:cNvSpPr/>
          <p:nvPr/>
        </p:nvSpPr>
        <p:spPr>
          <a:xfrm>
            <a:off x="4709160" y="1463040"/>
            <a:ext cx="4114800" cy="100584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10" name="Image 1" descr="preencoded.png"/>
          <p:cNvPicPr>
            <a:picLocks noChangeAspect="1"/>
          </p:cNvPicPr>
          <p:nvPr/>
        </p:nvPicPr>
        <p:blipFill>
          <a:blip r:embed="rId4"/>
          <a:stretch>
            <a:fillRect/>
          </a:stretch>
        </p:blipFill>
        <p:spPr>
          <a:xfrm>
            <a:off x="4846320" y="1719072"/>
            <a:ext cx="411480" cy="411480"/>
          </a:xfrm>
          <a:prstGeom prst="rect">
            <a:avLst/>
          </a:prstGeom>
        </p:spPr>
      </p:pic>
      <p:sp>
        <p:nvSpPr>
          <p:cNvPr id="11" name="Text 7"/>
          <p:cNvSpPr/>
          <p:nvPr/>
        </p:nvSpPr>
        <p:spPr>
          <a:xfrm>
            <a:off x="5394960" y="1554480"/>
            <a:ext cx="3291840" cy="347472"/>
          </a:xfrm>
          <a:prstGeom prst="rect">
            <a:avLst/>
          </a:prstGeom>
          <a:noFill/>
          <a:ln/>
        </p:spPr>
        <p:txBody>
          <a:bodyPr wrap="square" rtlCol="0" anchor="ctr"/>
          <a:lstStyle/>
          <a:p>
            <a:pPr marL="0" indent="0">
              <a:buNone/>
            </a:pPr>
            <a:r>
              <a:rPr lang="en-US" sz="1300" b="1" dirty="0">
                <a:solidFill>
                  <a:srgbClr val="48CAE4"/>
                </a:solidFill>
                <a:latin typeface="Calibri" pitchFamily="34" charset="0"/>
                <a:ea typeface="Calibri" pitchFamily="34" charset="-122"/>
                <a:cs typeface="Calibri" pitchFamily="34" charset="-120"/>
              </a:rPr>
              <a:t>Event Logs</a:t>
            </a:r>
            <a:endParaRPr lang="en-US" sz="1300" dirty="0"/>
          </a:p>
        </p:txBody>
      </p:sp>
      <p:sp>
        <p:nvSpPr>
          <p:cNvPr id="12" name="Text 8"/>
          <p:cNvSpPr/>
          <p:nvPr/>
        </p:nvSpPr>
        <p:spPr>
          <a:xfrm>
            <a:off x="5394960" y="1901952"/>
            <a:ext cx="3291840" cy="45720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Authentication records — who logged in, when, from where, and what failed</a:t>
            </a:r>
            <a:endParaRPr lang="en-US" sz="1100" dirty="0"/>
          </a:p>
        </p:txBody>
      </p:sp>
      <p:sp>
        <p:nvSpPr>
          <p:cNvPr id="13" name="Shape 9"/>
          <p:cNvSpPr/>
          <p:nvPr/>
        </p:nvSpPr>
        <p:spPr>
          <a:xfrm>
            <a:off x="4709160" y="2606040"/>
            <a:ext cx="4114800" cy="100584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14" name="Image 2" descr="preencoded.png"/>
          <p:cNvPicPr>
            <a:picLocks noChangeAspect="1"/>
          </p:cNvPicPr>
          <p:nvPr/>
        </p:nvPicPr>
        <p:blipFill>
          <a:blip r:embed="rId5"/>
          <a:stretch>
            <a:fillRect/>
          </a:stretch>
        </p:blipFill>
        <p:spPr>
          <a:xfrm>
            <a:off x="4846320" y="2862072"/>
            <a:ext cx="411480" cy="411480"/>
          </a:xfrm>
          <a:prstGeom prst="rect">
            <a:avLst/>
          </a:prstGeom>
        </p:spPr>
      </p:pic>
      <p:sp>
        <p:nvSpPr>
          <p:cNvPr id="15" name="Text 10"/>
          <p:cNvSpPr/>
          <p:nvPr/>
        </p:nvSpPr>
        <p:spPr>
          <a:xfrm>
            <a:off x="5394960" y="2697480"/>
            <a:ext cx="3291840" cy="347472"/>
          </a:xfrm>
          <a:prstGeom prst="rect">
            <a:avLst/>
          </a:prstGeom>
          <a:noFill/>
          <a:ln/>
        </p:spPr>
        <p:txBody>
          <a:bodyPr wrap="square" rtlCol="0" anchor="ctr"/>
          <a:lstStyle/>
          <a:p>
            <a:pPr marL="0" indent="0">
              <a:buNone/>
            </a:pPr>
            <a:r>
              <a:rPr lang="en-US" sz="1300" b="1" dirty="0">
                <a:solidFill>
                  <a:srgbClr val="48CAE4"/>
                </a:solidFill>
                <a:latin typeface="Calibri" pitchFamily="34" charset="0"/>
                <a:ea typeface="Calibri" pitchFamily="34" charset="-122"/>
                <a:cs typeface="Calibri" pitchFamily="34" charset="-120"/>
              </a:rPr>
              <a:t>Prefetch Files</a:t>
            </a:r>
            <a:endParaRPr lang="en-US" sz="1300" dirty="0"/>
          </a:p>
        </p:txBody>
      </p:sp>
      <p:sp>
        <p:nvSpPr>
          <p:cNvPr id="16" name="Text 11"/>
          <p:cNvSpPr/>
          <p:nvPr/>
        </p:nvSpPr>
        <p:spPr>
          <a:xfrm>
            <a:off x="5394960" y="3044952"/>
            <a:ext cx="3291840" cy="45720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Execution history — every program that ran, including those since deleted</a:t>
            </a:r>
            <a:endParaRPr lang="en-US" sz="1100" dirty="0"/>
          </a:p>
        </p:txBody>
      </p:sp>
      <p:sp>
        <p:nvSpPr>
          <p:cNvPr id="17" name="Shape 12"/>
          <p:cNvSpPr/>
          <p:nvPr/>
        </p:nvSpPr>
        <p:spPr>
          <a:xfrm>
            <a:off x="4709160" y="3749040"/>
            <a:ext cx="4114800" cy="100584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18" name="Image 3" descr="preencoded.png"/>
          <p:cNvPicPr>
            <a:picLocks noChangeAspect="1"/>
          </p:cNvPicPr>
          <p:nvPr/>
        </p:nvPicPr>
        <p:blipFill>
          <a:blip r:embed="rId6"/>
          <a:stretch>
            <a:fillRect/>
          </a:stretch>
        </p:blipFill>
        <p:spPr>
          <a:xfrm>
            <a:off x="4846320" y="4005072"/>
            <a:ext cx="411480" cy="411480"/>
          </a:xfrm>
          <a:prstGeom prst="rect">
            <a:avLst/>
          </a:prstGeom>
        </p:spPr>
      </p:pic>
      <p:sp>
        <p:nvSpPr>
          <p:cNvPr id="19" name="Text 13"/>
          <p:cNvSpPr/>
          <p:nvPr/>
        </p:nvSpPr>
        <p:spPr>
          <a:xfrm>
            <a:off x="5394960" y="3840480"/>
            <a:ext cx="3291840" cy="347472"/>
          </a:xfrm>
          <a:prstGeom prst="rect">
            <a:avLst/>
          </a:prstGeom>
          <a:noFill/>
          <a:ln/>
        </p:spPr>
        <p:txBody>
          <a:bodyPr wrap="square" rtlCol="0" anchor="ctr"/>
          <a:lstStyle/>
          <a:p>
            <a:pPr marL="0" indent="0">
              <a:buNone/>
            </a:pPr>
            <a:r>
              <a:rPr lang="en-US" sz="1300" b="1" dirty="0">
                <a:solidFill>
                  <a:srgbClr val="48CAE4"/>
                </a:solidFill>
                <a:latin typeface="Calibri" pitchFamily="34" charset="0"/>
                <a:ea typeface="Calibri" pitchFamily="34" charset="-122"/>
                <a:cs typeface="Calibri" pitchFamily="34" charset="-120"/>
              </a:rPr>
              <a:t>Cache &amp; Thumbnails</a:t>
            </a:r>
            <a:endParaRPr lang="en-US" sz="1300" dirty="0"/>
          </a:p>
        </p:txBody>
      </p:sp>
      <p:sp>
        <p:nvSpPr>
          <p:cNvPr id="20" name="Text 14"/>
          <p:cNvSpPr/>
          <p:nvPr/>
        </p:nvSpPr>
        <p:spPr>
          <a:xfrm>
            <a:off x="5394960" y="4187952"/>
            <a:ext cx="3291840" cy="45720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Visual activity &amp; deleted file residue — what users viewed and tried to hide</a:t>
            </a:r>
            <a:endParaRPr lang="en-US" sz="1100" dirty="0"/>
          </a:p>
        </p:txBody>
      </p:sp>
      <p:sp>
        <p:nvSpPr>
          <p:cNvPr id="21" name="Text 15"/>
          <p:cNvSpPr/>
          <p:nvPr/>
        </p:nvSpPr>
        <p:spPr>
          <a:xfrm>
            <a:off x="0" y="4846320"/>
            <a:ext cx="9144000" cy="274320"/>
          </a:xfrm>
          <a:prstGeom prst="rect">
            <a:avLst/>
          </a:prstGeom>
          <a:noFill/>
          <a:ln/>
        </p:spPr>
        <p:txBody>
          <a:bodyPr wrap="square" lIns="0" tIns="0" rIns="3810" bIns="0" rtlCol="0" anchor="ctr"/>
          <a:lstStyle/>
          <a:p>
            <a:pPr marL="0" indent="0" algn="r">
              <a:buNone/>
            </a:pPr>
            <a:r>
              <a:rPr lang="en-US" sz="900" dirty="0">
                <a:solidFill>
                  <a:srgbClr val="8BB8D4"/>
                </a:solidFill>
                <a:latin typeface="Calibri" pitchFamily="34" charset="0"/>
                <a:ea typeface="Calibri" pitchFamily="34" charset="-122"/>
                <a:cs typeface="Calibri" pitchFamily="34" charset="-120"/>
              </a:rPr>
              <a:t>Week 8  |  Cyberster Blue Team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0" y="54864"/>
            <a:ext cx="164592" cy="5084064"/>
          </a:xfrm>
          <a:prstGeom prst="rect">
            <a:avLst/>
          </a:prstGeom>
          <a:solidFill>
            <a:srgbClr val="0077B6"/>
          </a:solidFill>
          <a:ln w="12700">
            <a:solidFill>
              <a:srgbClr val="0077B6"/>
            </a:solidFill>
            <a:prstDash val="solid"/>
          </a:ln>
        </p:spPr>
      </p:sp>
      <p:sp>
        <p:nvSpPr>
          <p:cNvPr id="4" name="Text 2"/>
          <p:cNvSpPr/>
          <p:nvPr/>
        </p:nvSpPr>
        <p:spPr>
          <a:xfrm>
            <a:off x="320040" y="137160"/>
            <a:ext cx="8503920" cy="320040"/>
          </a:xfrm>
          <a:prstGeom prst="rect">
            <a:avLst/>
          </a:prstGeom>
          <a:noFill/>
          <a:ln/>
        </p:spPr>
        <p:txBody>
          <a:bodyPr wrap="square" rtlCol="0" anchor="ctr"/>
          <a:lstStyle/>
          <a:p>
            <a:pPr marL="0" indent="0">
              <a:buNone/>
            </a:pPr>
            <a:r>
              <a:rPr lang="en-US" sz="1100" b="1" kern="0" spc="400" dirty="0">
                <a:solidFill>
                  <a:srgbClr val="00B4D8"/>
                </a:solidFill>
                <a:latin typeface="Calibri" pitchFamily="34" charset="0"/>
                <a:ea typeface="Calibri" pitchFamily="34" charset="-122"/>
                <a:cs typeface="Calibri" pitchFamily="34" charset="-120"/>
              </a:rPr>
              <a:t>PART 1</a:t>
            </a:r>
            <a:endParaRPr lang="en-US" sz="1100" dirty="0"/>
          </a:p>
        </p:txBody>
      </p:sp>
      <p:sp>
        <p:nvSpPr>
          <p:cNvPr id="5" name="Text 3"/>
          <p:cNvSpPr/>
          <p:nvPr/>
        </p:nvSpPr>
        <p:spPr>
          <a:xfrm>
            <a:off x="320040" y="411480"/>
            <a:ext cx="850392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Windows Event Log Analysis</a:t>
            </a:r>
            <a:endParaRPr lang="en-US" sz="3200" dirty="0"/>
          </a:p>
        </p:txBody>
      </p:sp>
      <p:pic>
        <p:nvPicPr>
          <p:cNvPr id="6" name="Image 0" descr="preencoded.png"/>
          <p:cNvPicPr>
            <a:picLocks noChangeAspect="1"/>
          </p:cNvPicPr>
          <p:nvPr/>
        </p:nvPicPr>
        <p:blipFill>
          <a:blip r:embed="rId3"/>
          <a:stretch>
            <a:fillRect/>
          </a:stretch>
        </p:blipFill>
        <p:spPr>
          <a:xfrm>
            <a:off x="7589520" y="365760"/>
            <a:ext cx="1005840" cy="1005840"/>
          </a:xfrm>
          <a:prstGeom prst="rect">
            <a:avLst/>
          </a:prstGeom>
        </p:spPr>
      </p:pic>
      <p:sp>
        <p:nvSpPr>
          <p:cNvPr id="7" name="Text 4"/>
          <p:cNvSpPr/>
          <p:nvPr/>
        </p:nvSpPr>
        <p:spPr>
          <a:xfrm>
            <a:off x="320040" y="1234440"/>
            <a:ext cx="6858000" cy="384048"/>
          </a:xfrm>
          <a:prstGeom prst="rect">
            <a:avLst/>
          </a:prstGeom>
          <a:noFill/>
          <a:ln/>
        </p:spPr>
        <p:txBody>
          <a:bodyPr wrap="square" rtlCol="0" anchor="ctr"/>
          <a:lstStyle/>
          <a:p>
            <a:pPr marL="0" indent="0">
              <a:buNone/>
            </a:pPr>
            <a:r>
              <a:rPr lang="en-US" sz="1600" b="1" dirty="0">
                <a:solidFill>
                  <a:srgbClr val="48CAE4"/>
                </a:solidFill>
                <a:latin typeface="Calibri" pitchFamily="34" charset="0"/>
                <a:ea typeface="Calibri" pitchFamily="34" charset="-122"/>
                <a:cs typeface="Calibri" pitchFamily="34" charset="-120"/>
              </a:rPr>
              <a:t>What is an Event Log?</a:t>
            </a:r>
            <a:endParaRPr lang="en-US" sz="1600" dirty="0"/>
          </a:p>
        </p:txBody>
      </p:sp>
      <p:sp>
        <p:nvSpPr>
          <p:cNvPr id="8" name="Text 5"/>
          <p:cNvSpPr/>
          <p:nvPr/>
        </p:nvSpPr>
        <p:spPr>
          <a:xfrm>
            <a:off x="320040" y="1664208"/>
            <a:ext cx="5394960" cy="1645920"/>
          </a:xfrm>
          <a:prstGeom prst="rect">
            <a:avLst/>
          </a:prstGeom>
          <a:noFill/>
          <a:ln/>
        </p:spPr>
        <p:txBody>
          <a:bodyPr wrap="square" rtlCol="0" anchor="ctr"/>
          <a:lstStyle/>
          <a:p>
            <a:pPr marL="0" indent="0">
              <a:buNone/>
            </a:pPr>
            <a:r>
              <a:rPr lang="en-US" sz="1250" dirty="0">
                <a:solidFill>
                  <a:srgbClr val="E8F4FD"/>
                </a:solidFill>
                <a:latin typeface="Calibri" pitchFamily="34" charset="0"/>
                <a:ea typeface="Calibri" pitchFamily="34" charset="-122"/>
                <a:cs typeface="Calibri" pitchFamily="34" charset="-120"/>
              </a:rPr>
              <a:t>Windows keeps a running journal of everything significant that happens on a system. This journal is the Event Log. It captures authentication attempts, account changes, service starts and stops, system errors, and much more.</a:t>
            </a:r>
            <a:endParaRPr lang="en-US" sz="1250" dirty="0"/>
          </a:p>
          <a:p>
            <a:pPr marL="0" indent="0">
              <a:buNone/>
            </a:pPr>
            <a:endParaRPr lang="en-US" sz="1250" dirty="0"/>
          </a:p>
          <a:p>
            <a:pPr marL="0" indent="0">
              <a:buNone/>
            </a:pPr>
            <a:r>
              <a:rPr lang="en-US" sz="1250" dirty="0">
                <a:solidFill>
                  <a:srgbClr val="E8F4FD"/>
                </a:solidFill>
                <a:latin typeface="Calibri" pitchFamily="34" charset="0"/>
                <a:ea typeface="Calibri" pitchFamily="34" charset="-122"/>
                <a:cs typeface="Calibri" pitchFamily="34" charset="-120"/>
              </a:rPr>
              <a:t>The Security event log is the most important one for investigators. It records every login attempt, every privilege use, and every account management action. This log exists on every Windows system since Vista.</a:t>
            </a:r>
            <a:endParaRPr lang="en-US" sz="1250" dirty="0"/>
          </a:p>
        </p:txBody>
      </p:sp>
      <p:sp>
        <p:nvSpPr>
          <p:cNvPr id="9" name="Shape 6"/>
          <p:cNvSpPr/>
          <p:nvPr/>
        </p:nvSpPr>
        <p:spPr>
          <a:xfrm>
            <a:off x="6035040" y="1234440"/>
            <a:ext cx="2743200" cy="210312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0" name="Text 7"/>
          <p:cNvSpPr/>
          <p:nvPr/>
        </p:nvSpPr>
        <p:spPr>
          <a:xfrm>
            <a:off x="6172200" y="1353312"/>
            <a:ext cx="2468880" cy="347472"/>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Key Facts</a:t>
            </a:r>
            <a:endParaRPr lang="en-US" sz="1300" dirty="0"/>
          </a:p>
        </p:txBody>
      </p:sp>
      <p:sp>
        <p:nvSpPr>
          <p:cNvPr id="11" name="Text 8"/>
          <p:cNvSpPr/>
          <p:nvPr/>
        </p:nvSpPr>
        <p:spPr>
          <a:xfrm>
            <a:off x="6172200" y="1737360"/>
            <a:ext cx="2468880" cy="1463040"/>
          </a:xfrm>
          <a:prstGeom prst="rect">
            <a:avLst/>
          </a:prstGeom>
          <a:noFill/>
          <a:ln/>
        </p:spPr>
        <p:txBody>
          <a:bodyPr wrap="square" rtlCol="0" anchor="ctr"/>
          <a:lstStyle/>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File format: .EVTX</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Cannot open in text editor</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Needs Event Viewer or parsing tool</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Standardised since Windows Vista</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Located at C:\Windows\System32\winevt\Logs</a:t>
            </a:r>
            <a:endParaRPr lang="en-US" sz="1100" dirty="0"/>
          </a:p>
        </p:txBody>
      </p:sp>
      <p:sp>
        <p:nvSpPr>
          <p:cNvPr id="12" name="Shape 9"/>
          <p:cNvSpPr/>
          <p:nvPr/>
        </p:nvSpPr>
        <p:spPr>
          <a:xfrm>
            <a:off x="320040" y="3383280"/>
            <a:ext cx="8503920" cy="141732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3" name="Text 10"/>
          <p:cNvSpPr/>
          <p:nvPr/>
        </p:nvSpPr>
        <p:spPr>
          <a:xfrm>
            <a:off x="502920" y="3493008"/>
            <a:ext cx="8138160" cy="347472"/>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Why Investigators Use Event Logs</a:t>
            </a:r>
            <a:endParaRPr lang="en-US" sz="1300" dirty="0"/>
          </a:p>
        </p:txBody>
      </p:sp>
      <p:pic>
        <p:nvPicPr>
          <p:cNvPr id="14" name="Image 1" descr="preencoded.png"/>
          <p:cNvPicPr>
            <a:picLocks noChangeAspect="1"/>
          </p:cNvPicPr>
          <p:nvPr/>
        </p:nvPicPr>
        <p:blipFill>
          <a:blip r:embed="rId4"/>
          <a:stretch>
            <a:fillRect/>
          </a:stretch>
        </p:blipFill>
        <p:spPr>
          <a:xfrm>
            <a:off x="7772400" y="3493008"/>
            <a:ext cx="365760" cy="365760"/>
          </a:xfrm>
          <a:prstGeom prst="rect">
            <a:avLst/>
          </a:prstGeom>
        </p:spPr>
      </p:pic>
      <p:sp>
        <p:nvSpPr>
          <p:cNvPr id="15" name="Text 11"/>
          <p:cNvSpPr/>
          <p:nvPr/>
        </p:nvSpPr>
        <p:spPr>
          <a:xfrm>
            <a:off x="502920" y="3877056"/>
            <a:ext cx="8092440" cy="822960"/>
          </a:xfrm>
          <a:prstGeom prst="rect">
            <a:avLst/>
          </a:prstGeom>
          <a:noFill/>
          <a:ln/>
        </p:spPr>
        <p:txBody>
          <a:bodyPr wrap="square" rtlCol="0" anchor="ctr"/>
          <a:lstStyle/>
          <a:p>
            <a:pPr marL="0" indent="0">
              <a:buNone/>
            </a:pPr>
            <a:r>
              <a:rPr lang="en-US" sz="1200" dirty="0">
                <a:solidFill>
                  <a:srgbClr val="E8F4FD"/>
                </a:solidFill>
                <a:latin typeface="Calibri" pitchFamily="34" charset="0"/>
                <a:ea typeface="Calibri" pitchFamily="34" charset="-122"/>
                <a:cs typeface="Calibri" pitchFamily="34" charset="-120"/>
              </a:rPr>
              <a:t>If an attacker logged in, escalated privileges, created an account, or disabled a service — the event log has a record of it. Every entry includes a timestamp, the account involved, the source IP for network logins, and a reason code if something failed. This makes event logs one of the most reliable sources of truth in any Windows investigation.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Event IDs Every Investigator Must Know</a:t>
            </a:r>
            <a:endParaRPr lang="en-US" sz="2600" dirty="0"/>
          </a:p>
        </p:txBody>
      </p:sp>
      <p:sp>
        <p:nvSpPr>
          <p:cNvPr id="4" name="Shape 2"/>
          <p:cNvSpPr/>
          <p:nvPr/>
        </p:nvSpPr>
        <p:spPr>
          <a:xfrm>
            <a:off x="320040" y="822960"/>
            <a:ext cx="411480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5" name="Shape 3"/>
          <p:cNvSpPr/>
          <p:nvPr/>
        </p:nvSpPr>
        <p:spPr>
          <a:xfrm>
            <a:off x="393192" y="914400"/>
            <a:ext cx="749808" cy="475488"/>
          </a:xfrm>
          <a:prstGeom prst="rect">
            <a:avLst/>
          </a:prstGeom>
          <a:solidFill>
            <a:srgbClr val="00B4D8"/>
          </a:solidFill>
          <a:ln w="12700">
            <a:solidFill>
              <a:srgbClr val="00B4D8"/>
            </a:solidFill>
            <a:prstDash val="solid"/>
          </a:ln>
        </p:spPr>
      </p:sp>
      <p:sp>
        <p:nvSpPr>
          <p:cNvPr id="6" name="Text 4"/>
          <p:cNvSpPr/>
          <p:nvPr/>
        </p:nvSpPr>
        <p:spPr>
          <a:xfrm>
            <a:off x="393192" y="914400"/>
            <a:ext cx="749808" cy="47548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4624</a:t>
            </a:r>
            <a:endParaRPr lang="en-US" sz="1300" dirty="0"/>
          </a:p>
        </p:txBody>
      </p:sp>
      <p:sp>
        <p:nvSpPr>
          <p:cNvPr id="7" name="Text 5"/>
          <p:cNvSpPr/>
          <p:nvPr/>
        </p:nvSpPr>
        <p:spPr>
          <a:xfrm>
            <a:off x="1252728" y="877824"/>
            <a:ext cx="3063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Successful Logon</a:t>
            </a:r>
            <a:endParaRPr lang="en-US" sz="1200" dirty="0"/>
          </a:p>
        </p:txBody>
      </p:sp>
      <p:sp>
        <p:nvSpPr>
          <p:cNvPr id="8" name="Text 6"/>
          <p:cNvSpPr/>
          <p:nvPr/>
        </p:nvSpPr>
        <p:spPr>
          <a:xfrm>
            <a:off x="1252728" y="1143000"/>
            <a:ext cx="3063240" cy="320040"/>
          </a:xfrm>
          <a:prstGeom prst="rect">
            <a:avLst/>
          </a:prstGeom>
          <a:noFill/>
          <a:ln/>
        </p:spPr>
        <p:txBody>
          <a:bodyPr wrap="square" rtlCol="0" anchor="ctr"/>
          <a:lstStyle/>
          <a:p>
            <a:pPr marL="0" indent="0">
              <a:buNone/>
            </a:pPr>
            <a:r>
              <a:rPr lang="en-US" sz="1000" dirty="0">
                <a:solidFill>
                  <a:srgbClr val="8BB8D4"/>
                </a:solidFill>
                <a:latin typeface="Calibri" pitchFamily="34" charset="0"/>
                <a:ea typeface="Calibri" pitchFamily="34" charset="-122"/>
                <a:cs typeface="Calibri" pitchFamily="34" charset="-120"/>
              </a:rPr>
              <a:t>Someone successfully authenticated. Records: username, logon type, workstation, source IP.</a:t>
            </a:r>
            <a:endParaRPr lang="en-US" sz="1000" dirty="0"/>
          </a:p>
        </p:txBody>
      </p:sp>
      <p:sp>
        <p:nvSpPr>
          <p:cNvPr id="9" name="Shape 7"/>
          <p:cNvSpPr/>
          <p:nvPr/>
        </p:nvSpPr>
        <p:spPr>
          <a:xfrm>
            <a:off x="4709160" y="822960"/>
            <a:ext cx="411480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0" name="Shape 8"/>
          <p:cNvSpPr/>
          <p:nvPr/>
        </p:nvSpPr>
        <p:spPr>
          <a:xfrm>
            <a:off x="4782312" y="914400"/>
            <a:ext cx="749808" cy="475488"/>
          </a:xfrm>
          <a:prstGeom prst="rect">
            <a:avLst/>
          </a:prstGeom>
          <a:solidFill>
            <a:srgbClr val="E63946"/>
          </a:solidFill>
          <a:ln w="12700">
            <a:solidFill>
              <a:srgbClr val="E63946"/>
            </a:solidFill>
            <a:prstDash val="solid"/>
          </a:ln>
        </p:spPr>
      </p:sp>
      <p:sp>
        <p:nvSpPr>
          <p:cNvPr id="11" name="Text 9"/>
          <p:cNvSpPr/>
          <p:nvPr/>
        </p:nvSpPr>
        <p:spPr>
          <a:xfrm>
            <a:off x="4782312" y="914400"/>
            <a:ext cx="749808" cy="47548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4625</a:t>
            </a:r>
            <a:endParaRPr lang="en-US" sz="1300" dirty="0"/>
          </a:p>
        </p:txBody>
      </p:sp>
      <p:sp>
        <p:nvSpPr>
          <p:cNvPr id="12" name="Text 10"/>
          <p:cNvSpPr/>
          <p:nvPr/>
        </p:nvSpPr>
        <p:spPr>
          <a:xfrm>
            <a:off x="5641848" y="877824"/>
            <a:ext cx="3063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Failed Logon</a:t>
            </a:r>
            <a:endParaRPr lang="en-US" sz="1200" dirty="0"/>
          </a:p>
        </p:txBody>
      </p:sp>
      <p:sp>
        <p:nvSpPr>
          <p:cNvPr id="13" name="Text 11"/>
          <p:cNvSpPr/>
          <p:nvPr/>
        </p:nvSpPr>
        <p:spPr>
          <a:xfrm>
            <a:off x="5641848" y="1143000"/>
            <a:ext cx="3063240" cy="320040"/>
          </a:xfrm>
          <a:prstGeom prst="rect">
            <a:avLst/>
          </a:prstGeom>
          <a:noFill/>
          <a:ln/>
        </p:spPr>
        <p:txBody>
          <a:bodyPr wrap="square" rtlCol="0" anchor="ctr"/>
          <a:lstStyle/>
          <a:p>
            <a:pPr marL="0" indent="0">
              <a:buNone/>
            </a:pPr>
            <a:r>
              <a:rPr lang="en-US" sz="1000" dirty="0">
                <a:solidFill>
                  <a:srgbClr val="8BB8D4"/>
                </a:solidFill>
                <a:latin typeface="Calibri" pitchFamily="34" charset="0"/>
                <a:ea typeface="Calibri" pitchFamily="34" charset="-122"/>
                <a:cs typeface="Calibri" pitchFamily="34" charset="-120"/>
              </a:rPr>
              <a:t>Failed authentication attempt. Includes failure reason — wrong password, locked account, etc.</a:t>
            </a:r>
            <a:endParaRPr lang="en-US" sz="1000" dirty="0"/>
          </a:p>
        </p:txBody>
      </p:sp>
      <p:sp>
        <p:nvSpPr>
          <p:cNvPr id="14" name="Shape 12"/>
          <p:cNvSpPr/>
          <p:nvPr/>
        </p:nvSpPr>
        <p:spPr>
          <a:xfrm>
            <a:off x="320040" y="1572768"/>
            <a:ext cx="411480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5" name="Shape 13"/>
          <p:cNvSpPr/>
          <p:nvPr/>
        </p:nvSpPr>
        <p:spPr>
          <a:xfrm>
            <a:off x="393192" y="1664208"/>
            <a:ext cx="749808" cy="475488"/>
          </a:xfrm>
          <a:prstGeom prst="rect">
            <a:avLst/>
          </a:prstGeom>
          <a:solidFill>
            <a:srgbClr val="FFB703"/>
          </a:solidFill>
          <a:ln w="12700">
            <a:solidFill>
              <a:srgbClr val="FFB703"/>
            </a:solidFill>
            <a:prstDash val="solid"/>
          </a:ln>
        </p:spPr>
      </p:sp>
      <p:sp>
        <p:nvSpPr>
          <p:cNvPr id="16" name="Text 14"/>
          <p:cNvSpPr/>
          <p:nvPr/>
        </p:nvSpPr>
        <p:spPr>
          <a:xfrm>
            <a:off x="393192" y="1664208"/>
            <a:ext cx="749808" cy="47548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4672</a:t>
            </a:r>
            <a:endParaRPr lang="en-US" sz="1300" dirty="0"/>
          </a:p>
        </p:txBody>
      </p:sp>
      <p:sp>
        <p:nvSpPr>
          <p:cNvPr id="17" name="Text 15"/>
          <p:cNvSpPr/>
          <p:nvPr/>
        </p:nvSpPr>
        <p:spPr>
          <a:xfrm>
            <a:off x="1252728" y="1627632"/>
            <a:ext cx="3063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Special Privileges Assigned</a:t>
            </a:r>
            <a:endParaRPr lang="en-US" sz="1200" dirty="0"/>
          </a:p>
        </p:txBody>
      </p:sp>
      <p:sp>
        <p:nvSpPr>
          <p:cNvPr id="18" name="Text 16"/>
          <p:cNvSpPr/>
          <p:nvPr/>
        </p:nvSpPr>
        <p:spPr>
          <a:xfrm>
            <a:off x="1252728" y="1892808"/>
            <a:ext cx="3063240" cy="320040"/>
          </a:xfrm>
          <a:prstGeom prst="rect">
            <a:avLst/>
          </a:prstGeom>
          <a:noFill/>
          <a:ln/>
        </p:spPr>
        <p:txBody>
          <a:bodyPr wrap="square" rtlCol="0" anchor="ctr"/>
          <a:lstStyle/>
          <a:p>
            <a:pPr marL="0" indent="0">
              <a:buNone/>
            </a:pPr>
            <a:r>
              <a:rPr lang="en-US" sz="1000" dirty="0">
                <a:solidFill>
                  <a:srgbClr val="8BB8D4"/>
                </a:solidFill>
                <a:latin typeface="Calibri" pitchFamily="34" charset="0"/>
                <a:ea typeface="Calibri" pitchFamily="34" charset="-122"/>
                <a:cs typeface="Calibri" pitchFamily="34" charset="-120"/>
              </a:rPr>
              <a:t>Fires when an admin or privileged account logs in. Helps track privilege escalation.</a:t>
            </a:r>
            <a:endParaRPr lang="en-US" sz="1000" dirty="0"/>
          </a:p>
        </p:txBody>
      </p:sp>
      <p:sp>
        <p:nvSpPr>
          <p:cNvPr id="19" name="Shape 17"/>
          <p:cNvSpPr/>
          <p:nvPr/>
        </p:nvSpPr>
        <p:spPr>
          <a:xfrm>
            <a:off x="4709160" y="1572768"/>
            <a:ext cx="411480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20" name="Shape 18"/>
          <p:cNvSpPr/>
          <p:nvPr/>
        </p:nvSpPr>
        <p:spPr>
          <a:xfrm>
            <a:off x="4782312" y="1664208"/>
            <a:ext cx="749808" cy="475488"/>
          </a:xfrm>
          <a:prstGeom prst="rect">
            <a:avLst/>
          </a:prstGeom>
          <a:solidFill>
            <a:srgbClr val="48CAE4"/>
          </a:solidFill>
          <a:ln w="12700">
            <a:solidFill>
              <a:srgbClr val="48CAE4"/>
            </a:solidFill>
            <a:prstDash val="solid"/>
          </a:ln>
        </p:spPr>
      </p:sp>
      <p:sp>
        <p:nvSpPr>
          <p:cNvPr id="21" name="Text 19"/>
          <p:cNvSpPr/>
          <p:nvPr/>
        </p:nvSpPr>
        <p:spPr>
          <a:xfrm>
            <a:off x="4782312" y="1664208"/>
            <a:ext cx="749808" cy="47548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4720</a:t>
            </a:r>
            <a:endParaRPr lang="en-US" sz="1300" dirty="0"/>
          </a:p>
        </p:txBody>
      </p:sp>
      <p:sp>
        <p:nvSpPr>
          <p:cNvPr id="22" name="Text 20"/>
          <p:cNvSpPr/>
          <p:nvPr/>
        </p:nvSpPr>
        <p:spPr>
          <a:xfrm>
            <a:off x="5641848" y="1627632"/>
            <a:ext cx="3063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User Account Created</a:t>
            </a:r>
            <a:endParaRPr lang="en-US" sz="1200" dirty="0"/>
          </a:p>
        </p:txBody>
      </p:sp>
      <p:sp>
        <p:nvSpPr>
          <p:cNvPr id="23" name="Text 21"/>
          <p:cNvSpPr/>
          <p:nvPr/>
        </p:nvSpPr>
        <p:spPr>
          <a:xfrm>
            <a:off x="5641848" y="1892808"/>
            <a:ext cx="3063240" cy="320040"/>
          </a:xfrm>
          <a:prstGeom prst="rect">
            <a:avLst/>
          </a:prstGeom>
          <a:noFill/>
          <a:ln/>
        </p:spPr>
        <p:txBody>
          <a:bodyPr wrap="square" rtlCol="0" anchor="ctr"/>
          <a:lstStyle/>
          <a:p>
            <a:pPr marL="0" indent="0">
              <a:buNone/>
            </a:pPr>
            <a:r>
              <a:rPr lang="en-US" sz="1000" dirty="0">
                <a:solidFill>
                  <a:srgbClr val="8BB8D4"/>
                </a:solidFill>
                <a:latin typeface="Calibri" pitchFamily="34" charset="0"/>
                <a:ea typeface="Calibri" pitchFamily="34" charset="-122"/>
                <a:cs typeface="Calibri" pitchFamily="34" charset="-120"/>
              </a:rPr>
              <a:t>New account was created. Attacker persistence — creating backdoor accounts.</a:t>
            </a:r>
            <a:endParaRPr lang="en-US" sz="1000" dirty="0"/>
          </a:p>
        </p:txBody>
      </p:sp>
      <p:sp>
        <p:nvSpPr>
          <p:cNvPr id="24" name="Shape 22"/>
          <p:cNvSpPr/>
          <p:nvPr/>
        </p:nvSpPr>
        <p:spPr>
          <a:xfrm>
            <a:off x="320040" y="2322576"/>
            <a:ext cx="411480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25" name="Shape 23"/>
          <p:cNvSpPr/>
          <p:nvPr/>
        </p:nvSpPr>
        <p:spPr>
          <a:xfrm>
            <a:off x="393192" y="2414016"/>
            <a:ext cx="749808" cy="475488"/>
          </a:xfrm>
          <a:prstGeom prst="rect">
            <a:avLst/>
          </a:prstGeom>
          <a:solidFill>
            <a:srgbClr val="48CAE4"/>
          </a:solidFill>
          <a:ln w="12700">
            <a:solidFill>
              <a:srgbClr val="48CAE4"/>
            </a:solidFill>
            <a:prstDash val="solid"/>
          </a:ln>
        </p:spPr>
      </p:sp>
      <p:sp>
        <p:nvSpPr>
          <p:cNvPr id="26" name="Text 24"/>
          <p:cNvSpPr/>
          <p:nvPr/>
        </p:nvSpPr>
        <p:spPr>
          <a:xfrm>
            <a:off x="393192" y="2414016"/>
            <a:ext cx="749808" cy="47548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4722</a:t>
            </a:r>
            <a:endParaRPr lang="en-US" sz="1300" dirty="0"/>
          </a:p>
        </p:txBody>
      </p:sp>
      <p:sp>
        <p:nvSpPr>
          <p:cNvPr id="27" name="Text 25"/>
          <p:cNvSpPr/>
          <p:nvPr/>
        </p:nvSpPr>
        <p:spPr>
          <a:xfrm>
            <a:off x="1252728" y="2377440"/>
            <a:ext cx="3063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User Account Enabled</a:t>
            </a:r>
            <a:endParaRPr lang="en-US" sz="1200" dirty="0"/>
          </a:p>
        </p:txBody>
      </p:sp>
      <p:sp>
        <p:nvSpPr>
          <p:cNvPr id="28" name="Text 26"/>
          <p:cNvSpPr/>
          <p:nvPr/>
        </p:nvSpPr>
        <p:spPr>
          <a:xfrm>
            <a:off x="1252728" y="2642616"/>
            <a:ext cx="3063240" cy="320040"/>
          </a:xfrm>
          <a:prstGeom prst="rect">
            <a:avLst/>
          </a:prstGeom>
          <a:noFill/>
          <a:ln/>
        </p:spPr>
        <p:txBody>
          <a:bodyPr wrap="square" rtlCol="0" anchor="ctr"/>
          <a:lstStyle/>
          <a:p>
            <a:pPr marL="0" indent="0">
              <a:buNone/>
            </a:pPr>
            <a:r>
              <a:rPr lang="en-US" sz="1000" dirty="0">
                <a:solidFill>
                  <a:srgbClr val="8BB8D4"/>
                </a:solidFill>
                <a:latin typeface="Calibri" pitchFamily="34" charset="0"/>
                <a:ea typeface="Calibri" pitchFamily="34" charset="-122"/>
                <a:cs typeface="Calibri" pitchFamily="34" charset="-120"/>
              </a:rPr>
              <a:t>A previously disabled account was turned on. Reviving dormant accounts is a common tactic.</a:t>
            </a:r>
            <a:endParaRPr lang="en-US" sz="1000" dirty="0"/>
          </a:p>
        </p:txBody>
      </p:sp>
      <p:sp>
        <p:nvSpPr>
          <p:cNvPr id="29" name="Shape 27"/>
          <p:cNvSpPr/>
          <p:nvPr/>
        </p:nvSpPr>
        <p:spPr>
          <a:xfrm>
            <a:off x="4709160" y="2322576"/>
            <a:ext cx="411480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30" name="Shape 28"/>
          <p:cNvSpPr/>
          <p:nvPr/>
        </p:nvSpPr>
        <p:spPr>
          <a:xfrm>
            <a:off x="4782312" y="2414016"/>
            <a:ext cx="749808" cy="475488"/>
          </a:xfrm>
          <a:prstGeom prst="rect">
            <a:avLst/>
          </a:prstGeom>
          <a:solidFill>
            <a:srgbClr val="9B5DE5"/>
          </a:solidFill>
          <a:ln w="12700">
            <a:solidFill>
              <a:srgbClr val="9B5DE5"/>
            </a:solidFill>
            <a:prstDash val="solid"/>
          </a:ln>
        </p:spPr>
      </p:sp>
      <p:sp>
        <p:nvSpPr>
          <p:cNvPr id="31" name="Text 29"/>
          <p:cNvSpPr/>
          <p:nvPr/>
        </p:nvSpPr>
        <p:spPr>
          <a:xfrm>
            <a:off x="4782312" y="2414016"/>
            <a:ext cx="749808" cy="475488"/>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4732</a:t>
            </a:r>
            <a:endParaRPr lang="en-US" sz="1300" dirty="0"/>
          </a:p>
        </p:txBody>
      </p:sp>
      <p:sp>
        <p:nvSpPr>
          <p:cNvPr id="32" name="Text 30"/>
          <p:cNvSpPr/>
          <p:nvPr/>
        </p:nvSpPr>
        <p:spPr>
          <a:xfrm>
            <a:off x="5641848" y="2377440"/>
            <a:ext cx="3063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User Added to Group</a:t>
            </a:r>
            <a:endParaRPr lang="en-US" sz="1200" dirty="0"/>
          </a:p>
        </p:txBody>
      </p:sp>
      <p:sp>
        <p:nvSpPr>
          <p:cNvPr id="33" name="Text 31"/>
          <p:cNvSpPr/>
          <p:nvPr/>
        </p:nvSpPr>
        <p:spPr>
          <a:xfrm>
            <a:off x="5641848" y="2642616"/>
            <a:ext cx="3063240" cy="320040"/>
          </a:xfrm>
          <a:prstGeom prst="rect">
            <a:avLst/>
          </a:prstGeom>
          <a:noFill/>
          <a:ln/>
        </p:spPr>
        <p:txBody>
          <a:bodyPr wrap="square" rtlCol="0" anchor="ctr"/>
          <a:lstStyle/>
          <a:p>
            <a:pPr marL="0" indent="0">
              <a:buNone/>
            </a:pPr>
            <a:r>
              <a:rPr lang="en-US" sz="1000" dirty="0">
                <a:solidFill>
                  <a:srgbClr val="8BB8D4"/>
                </a:solidFill>
                <a:latin typeface="Calibri" pitchFamily="34" charset="0"/>
                <a:ea typeface="Calibri" pitchFamily="34" charset="-122"/>
                <a:cs typeface="Calibri" pitchFamily="34" charset="-120"/>
              </a:rPr>
              <a:t>Account was added to a security group — attacker escalating privileges by joining Admins group.</a:t>
            </a:r>
            <a:endParaRPr lang="en-US" sz="1000" dirty="0"/>
          </a:p>
        </p:txBody>
      </p:sp>
      <p:sp>
        <p:nvSpPr>
          <p:cNvPr id="34" name="Shape 32"/>
          <p:cNvSpPr/>
          <p:nvPr/>
        </p:nvSpPr>
        <p:spPr>
          <a:xfrm>
            <a:off x="320040" y="3072384"/>
            <a:ext cx="8503920" cy="667512"/>
          </a:xfrm>
          <a:prstGeom prst="rect">
            <a:avLst/>
          </a:prstGeom>
          <a:solidFill>
            <a:srgbClr val="1A0A0A"/>
          </a:solidFill>
          <a:ln w="12700">
            <a:solidFill>
              <a:srgbClr val="E63946"/>
            </a:solidFill>
            <a:prstDash val="solid"/>
          </a:ln>
          <a:effectLst>
            <a:outerShdw blurRad="101600" dist="38100" dir="8100000" algn="bl" rotWithShape="0">
              <a:srgbClr val="000000">
                <a:alpha val="30000"/>
              </a:srgbClr>
            </a:outerShdw>
          </a:effectLst>
        </p:spPr>
      </p:sp>
      <p:sp>
        <p:nvSpPr>
          <p:cNvPr id="35" name="Shape 33"/>
          <p:cNvSpPr/>
          <p:nvPr/>
        </p:nvSpPr>
        <p:spPr>
          <a:xfrm>
            <a:off x="393192" y="3163824"/>
            <a:ext cx="749808" cy="475488"/>
          </a:xfrm>
          <a:prstGeom prst="rect">
            <a:avLst/>
          </a:prstGeom>
          <a:solidFill>
            <a:srgbClr val="E63946"/>
          </a:solidFill>
          <a:ln w="12700">
            <a:solidFill>
              <a:srgbClr val="E63946"/>
            </a:solidFill>
            <a:prstDash val="solid"/>
          </a:ln>
        </p:spPr>
      </p:sp>
      <p:sp>
        <p:nvSpPr>
          <p:cNvPr id="36" name="Text 34"/>
          <p:cNvSpPr/>
          <p:nvPr/>
        </p:nvSpPr>
        <p:spPr>
          <a:xfrm>
            <a:off x="393192" y="3163824"/>
            <a:ext cx="749808"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1102</a:t>
            </a:r>
            <a:endParaRPr lang="en-US" sz="1300" dirty="0"/>
          </a:p>
        </p:txBody>
      </p:sp>
      <p:sp>
        <p:nvSpPr>
          <p:cNvPr id="37" name="Text 35"/>
          <p:cNvSpPr/>
          <p:nvPr/>
        </p:nvSpPr>
        <p:spPr>
          <a:xfrm>
            <a:off x="1252728" y="3127248"/>
            <a:ext cx="740664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Security Log Cleared</a:t>
            </a:r>
            <a:endParaRPr lang="en-US" sz="1200" dirty="0"/>
          </a:p>
        </p:txBody>
      </p:sp>
      <p:sp>
        <p:nvSpPr>
          <p:cNvPr id="38" name="Text 36"/>
          <p:cNvSpPr/>
          <p:nvPr/>
        </p:nvSpPr>
        <p:spPr>
          <a:xfrm>
            <a:off x="1252728" y="3392424"/>
            <a:ext cx="7406640" cy="320040"/>
          </a:xfrm>
          <a:prstGeom prst="rect">
            <a:avLst/>
          </a:prstGeom>
          <a:noFill/>
          <a:ln/>
        </p:spPr>
        <p:txBody>
          <a:bodyPr wrap="square" rtlCol="0" anchor="ctr"/>
          <a:lstStyle/>
          <a:p>
            <a:pPr marL="0" indent="0">
              <a:buNone/>
            </a:pPr>
            <a:r>
              <a:rPr lang="en-US" sz="1000" dirty="0">
                <a:solidFill>
                  <a:srgbClr val="E8F4FD"/>
                </a:solidFill>
                <a:latin typeface="Calibri" pitchFamily="34" charset="0"/>
                <a:ea typeface="Calibri" pitchFamily="34" charset="-122"/>
                <a:cs typeface="Calibri" pitchFamily="34" charset="-120"/>
              </a:rPr>
              <a:t>The Security audit log was wiped. This IS anti-forensics. A finding in itself.</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Understanding Logon Types</a:t>
            </a:r>
            <a:endParaRPr lang="en-US" sz="2600" dirty="0"/>
          </a:p>
        </p:txBody>
      </p:sp>
      <p:sp>
        <p:nvSpPr>
          <p:cNvPr id="4" name="Text 2"/>
          <p:cNvSpPr/>
          <p:nvPr/>
        </p:nvSpPr>
        <p:spPr>
          <a:xfrm>
            <a:off x="365760" y="713232"/>
            <a:ext cx="8412480" cy="411480"/>
          </a:xfrm>
          <a:prstGeom prst="rect">
            <a:avLst/>
          </a:prstGeom>
          <a:noFill/>
          <a:ln/>
        </p:spPr>
        <p:txBody>
          <a:bodyPr wrap="square" rtlCol="0" anchor="ctr"/>
          <a:lstStyle/>
          <a:p>
            <a:pPr marL="0" indent="0">
              <a:buNone/>
            </a:pPr>
            <a:r>
              <a:rPr lang="en-US" sz="1250" i="1" dirty="0">
                <a:solidFill>
                  <a:srgbClr val="E8F4FD"/>
                </a:solidFill>
                <a:latin typeface="Calibri" pitchFamily="34" charset="0"/>
                <a:ea typeface="Calibri" pitchFamily="34" charset="-122"/>
                <a:cs typeface="Calibri" pitchFamily="34" charset="-120"/>
              </a:rPr>
              <a:t>The logon type changes what an event MEANS. The same Event ID 4624 can be totally routine — or highly suspicious — depending on this field.</a:t>
            </a:r>
            <a:endParaRPr lang="en-US" sz="1250" dirty="0"/>
          </a:p>
        </p:txBody>
      </p:sp>
      <p:sp>
        <p:nvSpPr>
          <p:cNvPr id="5" name="Shape 3"/>
          <p:cNvSpPr/>
          <p:nvPr/>
        </p:nvSpPr>
        <p:spPr>
          <a:xfrm>
            <a:off x="320040" y="1207008"/>
            <a:ext cx="850392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6" name="Shape 4"/>
          <p:cNvSpPr/>
          <p:nvPr/>
        </p:nvSpPr>
        <p:spPr>
          <a:xfrm>
            <a:off x="393192" y="1298448"/>
            <a:ext cx="566928" cy="475488"/>
          </a:xfrm>
          <a:prstGeom prst="rect">
            <a:avLst/>
          </a:prstGeom>
          <a:solidFill>
            <a:srgbClr val="0077B6"/>
          </a:solidFill>
          <a:ln w="12700">
            <a:solidFill>
              <a:srgbClr val="0077B6"/>
            </a:solidFill>
            <a:prstDash val="solid"/>
          </a:ln>
        </p:spPr>
      </p:sp>
      <p:sp>
        <p:nvSpPr>
          <p:cNvPr id="7" name="Text 5"/>
          <p:cNvSpPr/>
          <p:nvPr/>
        </p:nvSpPr>
        <p:spPr>
          <a:xfrm>
            <a:off x="393192" y="1298448"/>
            <a:ext cx="566928" cy="47548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Type 2</a:t>
            </a:r>
            <a:endParaRPr lang="en-US" sz="950" dirty="0"/>
          </a:p>
        </p:txBody>
      </p:sp>
      <p:sp>
        <p:nvSpPr>
          <p:cNvPr id="8" name="Text 6"/>
          <p:cNvSpPr/>
          <p:nvPr/>
        </p:nvSpPr>
        <p:spPr>
          <a:xfrm>
            <a:off x="1078992" y="1280160"/>
            <a:ext cx="53035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Interactive</a:t>
            </a:r>
            <a:endParaRPr lang="en-US" sz="1300" dirty="0"/>
          </a:p>
        </p:txBody>
      </p:sp>
      <p:sp>
        <p:nvSpPr>
          <p:cNvPr id="9" name="Text 7"/>
          <p:cNvSpPr/>
          <p:nvPr/>
        </p:nvSpPr>
        <p:spPr>
          <a:xfrm>
            <a:off x="1078992" y="1554480"/>
            <a:ext cx="5943600" cy="256032"/>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User physically at the keyboard — typing username &amp; password at the console</a:t>
            </a:r>
            <a:endParaRPr lang="en-US" sz="1100" dirty="0"/>
          </a:p>
        </p:txBody>
      </p:sp>
      <p:sp>
        <p:nvSpPr>
          <p:cNvPr id="10" name="Shape 8"/>
          <p:cNvSpPr/>
          <p:nvPr/>
        </p:nvSpPr>
        <p:spPr>
          <a:xfrm>
            <a:off x="7406640" y="1353312"/>
            <a:ext cx="1298448" cy="365760"/>
          </a:xfrm>
          <a:prstGeom prst="rect">
            <a:avLst/>
          </a:prstGeom>
          <a:solidFill>
            <a:srgbClr val="00B090"/>
          </a:solidFill>
          <a:ln w="12700">
            <a:solidFill>
              <a:srgbClr val="00B090"/>
            </a:solidFill>
            <a:prstDash val="solid"/>
          </a:ln>
        </p:spPr>
      </p:sp>
      <p:sp>
        <p:nvSpPr>
          <p:cNvPr id="11" name="Text 9"/>
          <p:cNvSpPr/>
          <p:nvPr/>
        </p:nvSpPr>
        <p:spPr>
          <a:xfrm>
            <a:off x="7406640" y="1353312"/>
            <a:ext cx="1298448" cy="365760"/>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Expected</a:t>
            </a:r>
            <a:endParaRPr lang="en-US" sz="1100" dirty="0"/>
          </a:p>
        </p:txBody>
      </p:sp>
      <p:sp>
        <p:nvSpPr>
          <p:cNvPr id="12" name="Shape 10"/>
          <p:cNvSpPr/>
          <p:nvPr/>
        </p:nvSpPr>
        <p:spPr>
          <a:xfrm>
            <a:off x="320040" y="1956816"/>
            <a:ext cx="850392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3" name="Shape 11"/>
          <p:cNvSpPr/>
          <p:nvPr/>
        </p:nvSpPr>
        <p:spPr>
          <a:xfrm>
            <a:off x="393192" y="2048256"/>
            <a:ext cx="566928" cy="475488"/>
          </a:xfrm>
          <a:prstGeom prst="rect">
            <a:avLst/>
          </a:prstGeom>
          <a:solidFill>
            <a:srgbClr val="0077B6"/>
          </a:solidFill>
          <a:ln w="12700">
            <a:solidFill>
              <a:srgbClr val="0077B6"/>
            </a:solidFill>
            <a:prstDash val="solid"/>
          </a:ln>
        </p:spPr>
      </p:sp>
      <p:sp>
        <p:nvSpPr>
          <p:cNvPr id="14" name="Text 12"/>
          <p:cNvSpPr/>
          <p:nvPr/>
        </p:nvSpPr>
        <p:spPr>
          <a:xfrm>
            <a:off x="393192" y="2048256"/>
            <a:ext cx="566928" cy="47548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Type 3</a:t>
            </a:r>
            <a:endParaRPr lang="en-US" sz="950" dirty="0"/>
          </a:p>
        </p:txBody>
      </p:sp>
      <p:sp>
        <p:nvSpPr>
          <p:cNvPr id="15" name="Text 13"/>
          <p:cNvSpPr/>
          <p:nvPr/>
        </p:nvSpPr>
        <p:spPr>
          <a:xfrm>
            <a:off x="1078992" y="2029968"/>
            <a:ext cx="53035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6" name="Text 14"/>
          <p:cNvSpPr/>
          <p:nvPr/>
        </p:nvSpPr>
        <p:spPr>
          <a:xfrm>
            <a:off x="1078992" y="2304288"/>
            <a:ext cx="5943600" cy="256032"/>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Network access — file shares, mapped drives. Common and usually expected</a:t>
            </a:r>
            <a:endParaRPr lang="en-US" sz="1100" dirty="0"/>
          </a:p>
        </p:txBody>
      </p:sp>
      <p:sp>
        <p:nvSpPr>
          <p:cNvPr id="17" name="Shape 15"/>
          <p:cNvSpPr/>
          <p:nvPr/>
        </p:nvSpPr>
        <p:spPr>
          <a:xfrm>
            <a:off x="7406640" y="2103120"/>
            <a:ext cx="1298448" cy="365760"/>
          </a:xfrm>
          <a:prstGeom prst="rect">
            <a:avLst/>
          </a:prstGeom>
          <a:solidFill>
            <a:srgbClr val="FFB703"/>
          </a:solidFill>
          <a:ln w="12700">
            <a:solidFill>
              <a:srgbClr val="FFB703"/>
            </a:solidFill>
            <a:prstDash val="solid"/>
          </a:ln>
        </p:spPr>
      </p:sp>
      <p:sp>
        <p:nvSpPr>
          <p:cNvPr id="18" name="Text 16"/>
          <p:cNvSpPr/>
          <p:nvPr/>
        </p:nvSpPr>
        <p:spPr>
          <a:xfrm>
            <a:off x="7406640" y="2103120"/>
            <a:ext cx="1298448" cy="365760"/>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Monitor</a:t>
            </a:r>
            <a:endParaRPr lang="en-US" sz="1100" dirty="0"/>
          </a:p>
        </p:txBody>
      </p:sp>
      <p:sp>
        <p:nvSpPr>
          <p:cNvPr id="19" name="Shape 17"/>
          <p:cNvSpPr/>
          <p:nvPr/>
        </p:nvSpPr>
        <p:spPr>
          <a:xfrm>
            <a:off x="320040" y="2706624"/>
            <a:ext cx="850392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20" name="Shape 18"/>
          <p:cNvSpPr/>
          <p:nvPr/>
        </p:nvSpPr>
        <p:spPr>
          <a:xfrm>
            <a:off x="393192" y="2798064"/>
            <a:ext cx="566928" cy="475488"/>
          </a:xfrm>
          <a:prstGeom prst="rect">
            <a:avLst/>
          </a:prstGeom>
          <a:solidFill>
            <a:srgbClr val="0077B6"/>
          </a:solidFill>
          <a:ln w="12700">
            <a:solidFill>
              <a:srgbClr val="0077B6"/>
            </a:solidFill>
            <a:prstDash val="solid"/>
          </a:ln>
        </p:spPr>
      </p:sp>
      <p:sp>
        <p:nvSpPr>
          <p:cNvPr id="21" name="Text 19"/>
          <p:cNvSpPr/>
          <p:nvPr/>
        </p:nvSpPr>
        <p:spPr>
          <a:xfrm>
            <a:off x="393192" y="2798064"/>
            <a:ext cx="566928" cy="47548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Type 5</a:t>
            </a:r>
            <a:endParaRPr lang="en-US" sz="950" dirty="0"/>
          </a:p>
        </p:txBody>
      </p:sp>
      <p:sp>
        <p:nvSpPr>
          <p:cNvPr id="22" name="Text 20"/>
          <p:cNvSpPr/>
          <p:nvPr/>
        </p:nvSpPr>
        <p:spPr>
          <a:xfrm>
            <a:off x="1078992" y="2779776"/>
            <a:ext cx="53035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Service</a:t>
            </a:r>
            <a:endParaRPr lang="en-US" sz="1300" dirty="0"/>
          </a:p>
        </p:txBody>
      </p:sp>
      <p:sp>
        <p:nvSpPr>
          <p:cNvPr id="23" name="Text 21"/>
          <p:cNvSpPr/>
          <p:nvPr/>
        </p:nvSpPr>
        <p:spPr>
          <a:xfrm>
            <a:off x="1078992" y="3054096"/>
            <a:ext cx="5943600" cy="256032"/>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A Windows service started under a specific account</a:t>
            </a:r>
            <a:endParaRPr lang="en-US" sz="1100" dirty="0"/>
          </a:p>
        </p:txBody>
      </p:sp>
      <p:sp>
        <p:nvSpPr>
          <p:cNvPr id="24" name="Shape 22"/>
          <p:cNvSpPr/>
          <p:nvPr/>
        </p:nvSpPr>
        <p:spPr>
          <a:xfrm>
            <a:off x="7406640" y="2852928"/>
            <a:ext cx="1298448" cy="365760"/>
          </a:xfrm>
          <a:prstGeom prst="rect">
            <a:avLst/>
          </a:prstGeom>
          <a:solidFill>
            <a:srgbClr val="00B090"/>
          </a:solidFill>
          <a:ln w="12700">
            <a:solidFill>
              <a:srgbClr val="00B090"/>
            </a:solidFill>
            <a:prstDash val="solid"/>
          </a:ln>
        </p:spPr>
      </p:sp>
      <p:sp>
        <p:nvSpPr>
          <p:cNvPr id="25" name="Text 23"/>
          <p:cNvSpPr/>
          <p:nvPr/>
        </p:nvSpPr>
        <p:spPr>
          <a:xfrm>
            <a:off x="7406640" y="2852928"/>
            <a:ext cx="1298448" cy="365760"/>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Expected</a:t>
            </a:r>
            <a:endParaRPr lang="en-US" sz="1100" dirty="0"/>
          </a:p>
        </p:txBody>
      </p:sp>
      <p:sp>
        <p:nvSpPr>
          <p:cNvPr id="26" name="Shape 24"/>
          <p:cNvSpPr/>
          <p:nvPr/>
        </p:nvSpPr>
        <p:spPr>
          <a:xfrm>
            <a:off x="320040" y="3456432"/>
            <a:ext cx="850392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27" name="Shape 25"/>
          <p:cNvSpPr/>
          <p:nvPr/>
        </p:nvSpPr>
        <p:spPr>
          <a:xfrm>
            <a:off x="393192" y="3547872"/>
            <a:ext cx="566928" cy="475488"/>
          </a:xfrm>
          <a:prstGeom prst="rect">
            <a:avLst/>
          </a:prstGeom>
          <a:solidFill>
            <a:srgbClr val="0077B6"/>
          </a:solidFill>
          <a:ln w="12700">
            <a:solidFill>
              <a:srgbClr val="0077B6"/>
            </a:solidFill>
            <a:prstDash val="solid"/>
          </a:ln>
        </p:spPr>
      </p:sp>
      <p:sp>
        <p:nvSpPr>
          <p:cNvPr id="28" name="Text 26"/>
          <p:cNvSpPr/>
          <p:nvPr/>
        </p:nvSpPr>
        <p:spPr>
          <a:xfrm>
            <a:off x="393192" y="3547872"/>
            <a:ext cx="566928" cy="47548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Type 7</a:t>
            </a:r>
            <a:endParaRPr lang="en-US" sz="950" dirty="0"/>
          </a:p>
        </p:txBody>
      </p:sp>
      <p:sp>
        <p:nvSpPr>
          <p:cNvPr id="29" name="Text 27"/>
          <p:cNvSpPr/>
          <p:nvPr/>
        </p:nvSpPr>
        <p:spPr>
          <a:xfrm>
            <a:off x="1078992" y="3529584"/>
            <a:ext cx="53035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Unlock</a:t>
            </a:r>
            <a:endParaRPr lang="en-US" sz="1300" dirty="0"/>
          </a:p>
        </p:txBody>
      </p:sp>
      <p:sp>
        <p:nvSpPr>
          <p:cNvPr id="30" name="Text 28"/>
          <p:cNvSpPr/>
          <p:nvPr/>
        </p:nvSpPr>
        <p:spPr>
          <a:xfrm>
            <a:off x="1078992" y="3803904"/>
            <a:ext cx="5943600" cy="256032"/>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User unlocked the workstation after it was locked</a:t>
            </a:r>
            <a:endParaRPr lang="en-US" sz="1100" dirty="0"/>
          </a:p>
        </p:txBody>
      </p:sp>
      <p:sp>
        <p:nvSpPr>
          <p:cNvPr id="31" name="Shape 29"/>
          <p:cNvSpPr/>
          <p:nvPr/>
        </p:nvSpPr>
        <p:spPr>
          <a:xfrm>
            <a:off x="7406640" y="3602736"/>
            <a:ext cx="1298448" cy="365760"/>
          </a:xfrm>
          <a:prstGeom prst="rect">
            <a:avLst/>
          </a:prstGeom>
          <a:solidFill>
            <a:srgbClr val="00B090"/>
          </a:solidFill>
          <a:ln w="12700">
            <a:solidFill>
              <a:srgbClr val="00B090"/>
            </a:solidFill>
            <a:prstDash val="solid"/>
          </a:ln>
        </p:spPr>
      </p:sp>
      <p:sp>
        <p:nvSpPr>
          <p:cNvPr id="32" name="Text 30"/>
          <p:cNvSpPr/>
          <p:nvPr/>
        </p:nvSpPr>
        <p:spPr>
          <a:xfrm>
            <a:off x="7406640" y="3602736"/>
            <a:ext cx="1298448" cy="365760"/>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Expected</a:t>
            </a:r>
            <a:endParaRPr lang="en-US" sz="1100" dirty="0"/>
          </a:p>
        </p:txBody>
      </p:sp>
      <p:sp>
        <p:nvSpPr>
          <p:cNvPr id="33" name="Shape 31"/>
          <p:cNvSpPr/>
          <p:nvPr/>
        </p:nvSpPr>
        <p:spPr>
          <a:xfrm>
            <a:off x="320040" y="4206240"/>
            <a:ext cx="8503920" cy="667512"/>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34" name="Shape 32"/>
          <p:cNvSpPr/>
          <p:nvPr/>
        </p:nvSpPr>
        <p:spPr>
          <a:xfrm>
            <a:off x="393192" y="4297680"/>
            <a:ext cx="566928" cy="475488"/>
          </a:xfrm>
          <a:prstGeom prst="rect">
            <a:avLst/>
          </a:prstGeom>
          <a:solidFill>
            <a:srgbClr val="0077B6"/>
          </a:solidFill>
          <a:ln w="12700">
            <a:solidFill>
              <a:srgbClr val="0077B6"/>
            </a:solidFill>
            <a:prstDash val="solid"/>
          </a:ln>
        </p:spPr>
      </p:sp>
      <p:sp>
        <p:nvSpPr>
          <p:cNvPr id="35" name="Text 33"/>
          <p:cNvSpPr/>
          <p:nvPr/>
        </p:nvSpPr>
        <p:spPr>
          <a:xfrm>
            <a:off x="393192" y="4297680"/>
            <a:ext cx="566928" cy="47548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Type 10</a:t>
            </a:r>
            <a:endParaRPr lang="en-US" sz="950" dirty="0"/>
          </a:p>
        </p:txBody>
      </p:sp>
      <p:sp>
        <p:nvSpPr>
          <p:cNvPr id="36" name="Text 34"/>
          <p:cNvSpPr/>
          <p:nvPr/>
        </p:nvSpPr>
        <p:spPr>
          <a:xfrm>
            <a:off x="1078992" y="4279392"/>
            <a:ext cx="53035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RemoteInteractive</a:t>
            </a:r>
            <a:endParaRPr lang="en-US" sz="1300" dirty="0"/>
          </a:p>
        </p:txBody>
      </p:sp>
      <p:sp>
        <p:nvSpPr>
          <p:cNvPr id="37" name="Text 35"/>
          <p:cNvSpPr/>
          <p:nvPr/>
        </p:nvSpPr>
        <p:spPr>
          <a:xfrm>
            <a:off x="1078992" y="4553712"/>
            <a:ext cx="5943600" cy="256032"/>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Remote Desktop (RDP) login. If from an unknown IP at 3am — RED FLAG</a:t>
            </a:r>
            <a:endParaRPr lang="en-US" sz="1100" dirty="0"/>
          </a:p>
        </p:txBody>
      </p:sp>
      <p:sp>
        <p:nvSpPr>
          <p:cNvPr id="38" name="Shape 36"/>
          <p:cNvSpPr/>
          <p:nvPr/>
        </p:nvSpPr>
        <p:spPr>
          <a:xfrm>
            <a:off x="7406640" y="4352544"/>
            <a:ext cx="1298448" cy="365760"/>
          </a:xfrm>
          <a:prstGeom prst="rect">
            <a:avLst/>
          </a:prstGeom>
          <a:solidFill>
            <a:srgbClr val="E63946"/>
          </a:solidFill>
          <a:ln w="12700">
            <a:solidFill>
              <a:srgbClr val="E63946"/>
            </a:solidFill>
            <a:prstDash val="solid"/>
          </a:ln>
        </p:spPr>
      </p:sp>
      <p:sp>
        <p:nvSpPr>
          <p:cNvPr id="39" name="Text 37"/>
          <p:cNvSpPr/>
          <p:nvPr/>
        </p:nvSpPr>
        <p:spPr>
          <a:xfrm>
            <a:off x="7406640" y="4352544"/>
            <a:ext cx="1298448" cy="365760"/>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Investigate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63946"/>
          </a:solidFill>
          <a:ln w="12700">
            <a:solidFill>
              <a:srgbClr val="E63946"/>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Recognising a Brute Force Attack in Event Logs</a:t>
            </a:r>
            <a:endParaRPr lang="en-US" sz="2400" dirty="0"/>
          </a:p>
        </p:txBody>
      </p:sp>
      <p:sp>
        <p:nvSpPr>
          <p:cNvPr id="4" name="Shape 2"/>
          <p:cNvSpPr/>
          <p:nvPr/>
        </p:nvSpPr>
        <p:spPr>
          <a:xfrm>
            <a:off x="320040" y="777240"/>
            <a:ext cx="8503920" cy="21945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5" name="Text 3"/>
          <p:cNvSpPr/>
          <p:nvPr/>
        </p:nvSpPr>
        <p:spPr>
          <a:xfrm>
            <a:off x="502920" y="868680"/>
            <a:ext cx="8229600" cy="347472"/>
          </a:xfrm>
          <a:prstGeom prst="rect">
            <a:avLst/>
          </a:prstGeom>
          <a:noFill/>
          <a:ln/>
        </p:spPr>
        <p:txBody>
          <a:bodyPr wrap="square" rtlCol="0" anchor="ctr"/>
          <a:lstStyle/>
          <a:p>
            <a:pPr marL="0" indent="0">
              <a:buNone/>
            </a:pPr>
            <a:r>
              <a:rPr lang="en-US" sz="1400" b="1" dirty="0">
                <a:solidFill>
                  <a:srgbClr val="FFB703"/>
                </a:solidFill>
                <a:latin typeface="Calibri" pitchFamily="34" charset="0"/>
                <a:ea typeface="Calibri" pitchFamily="34" charset="-122"/>
                <a:cs typeface="Calibri" pitchFamily="34" charset="-120"/>
              </a:rPr>
              <a:t>The Signature Pattern</a:t>
            </a:r>
            <a:endParaRPr lang="en-US" sz="1400" dirty="0"/>
          </a:p>
        </p:txBody>
      </p:sp>
      <p:sp>
        <p:nvSpPr>
          <p:cNvPr id="6" name="Shape 4"/>
          <p:cNvSpPr/>
          <p:nvPr/>
        </p:nvSpPr>
        <p:spPr>
          <a:xfrm>
            <a:off x="411480" y="1298448"/>
            <a:ext cx="1261872" cy="658368"/>
          </a:xfrm>
          <a:prstGeom prst="rect">
            <a:avLst/>
          </a:prstGeom>
          <a:solidFill>
            <a:srgbClr val="3D0000"/>
          </a:solidFill>
          <a:ln w="12700">
            <a:solidFill>
              <a:srgbClr val="E63946"/>
            </a:solidFill>
            <a:prstDash val="solid"/>
          </a:ln>
          <a:effectLst>
            <a:outerShdw blurRad="101600" dist="38100" dir="8100000" algn="bl" rotWithShape="0">
              <a:srgbClr val="000000">
                <a:alpha val="30000"/>
              </a:srgbClr>
            </a:outerShdw>
          </a:effectLst>
        </p:spPr>
      </p:sp>
      <p:sp>
        <p:nvSpPr>
          <p:cNvPr id="7" name="Text 5"/>
          <p:cNvSpPr/>
          <p:nvPr/>
        </p:nvSpPr>
        <p:spPr>
          <a:xfrm>
            <a:off x="411480" y="1298448"/>
            <a:ext cx="1261872" cy="658368"/>
          </a:xfrm>
          <a:prstGeom prst="rect">
            <a:avLst/>
          </a:prstGeom>
          <a:noFill/>
          <a:ln/>
        </p:spPr>
        <p:txBody>
          <a:bodyPr wrap="square" rtlCol="0" anchor="ctr"/>
          <a:lstStyle/>
          <a:p>
            <a:pPr marL="0" indent="0" algn="ctr">
              <a:buNone/>
            </a:pPr>
            <a:r>
              <a:rPr lang="en-US" sz="900" b="1" dirty="0">
                <a:solidFill>
                  <a:srgbClr val="E63946"/>
                </a:solidFill>
                <a:latin typeface="Calibri" pitchFamily="34" charset="0"/>
                <a:ea typeface="Calibri" pitchFamily="34" charset="-122"/>
                <a:cs typeface="Calibri" pitchFamily="34" charset="-120"/>
              </a:rPr>
              <a:t>02:47:13</a:t>
            </a:r>
            <a:endParaRPr lang="en-US" sz="900" dirty="0"/>
          </a:p>
          <a:p>
            <a:pPr marL="0" indent="0" algn="ctr">
              <a:buNone/>
            </a:pPr>
            <a:r>
              <a:rPr lang="en-US" sz="900" b="1" dirty="0">
                <a:solidFill>
                  <a:srgbClr val="E63946"/>
                </a:solidFill>
                <a:latin typeface="Calibri" pitchFamily="34" charset="0"/>
                <a:ea typeface="Calibri" pitchFamily="34" charset="-122"/>
                <a:cs typeface="Calibri" pitchFamily="34" charset="-120"/>
              </a:rPr>
              <a:t>4625 FAIL</a:t>
            </a:r>
            <a:endParaRPr lang="en-US" sz="900" dirty="0"/>
          </a:p>
        </p:txBody>
      </p:sp>
      <p:sp>
        <p:nvSpPr>
          <p:cNvPr id="8" name="Shape 6"/>
          <p:cNvSpPr/>
          <p:nvPr/>
        </p:nvSpPr>
        <p:spPr>
          <a:xfrm>
            <a:off x="1673352" y="1627632"/>
            <a:ext cx="109728" cy="0"/>
          </a:xfrm>
          <a:prstGeom prst="line">
            <a:avLst/>
          </a:prstGeom>
          <a:noFill/>
          <a:ln w="19050">
            <a:solidFill>
              <a:srgbClr val="8BB8D4"/>
            </a:solidFill>
            <a:prstDash val="solid"/>
          </a:ln>
        </p:spPr>
      </p:sp>
      <p:sp>
        <p:nvSpPr>
          <p:cNvPr id="9" name="Shape 7"/>
          <p:cNvSpPr/>
          <p:nvPr/>
        </p:nvSpPr>
        <p:spPr>
          <a:xfrm>
            <a:off x="1783080" y="1298448"/>
            <a:ext cx="1261872" cy="658368"/>
          </a:xfrm>
          <a:prstGeom prst="rect">
            <a:avLst/>
          </a:prstGeom>
          <a:solidFill>
            <a:srgbClr val="3D0000"/>
          </a:solidFill>
          <a:ln w="12700">
            <a:solidFill>
              <a:srgbClr val="E63946"/>
            </a:solidFill>
            <a:prstDash val="solid"/>
          </a:ln>
          <a:effectLst>
            <a:outerShdw blurRad="101600" dist="38100" dir="8100000" algn="bl" rotWithShape="0">
              <a:srgbClr val="000000">
                <a:alpha val="30000"/>
              </a:srgbClr>
            </a:outerShdw>
          </a:effectLst>
        </p:spPr>
      </p:sp>
      <p:sp>
        <p:nvSpPr>
          <p:cNvPr id="10" name="Text 8"/>
          <p:cNvSpPr/>
          <p:nvPr/>
        </p:nvSpPr>
        <p:spPr>
          <a:xfrm>
            <a:off x="1783080" y="1298448"/>
            <a:ext cx="1261872" cy="658368"/>
          </a:xfrm>
          <a:prstGeom prst="rect">
            <a:avLst/>
          </a:prstGeom>
          <a:noFill/>
          <a:ln/>
        </p:spPr>
        <p:txBody>
          <a:bodyPr wrap="square" rtlCol="0" anchor="ctr"/>
          <a:lstStyle/>
          <a:p>
            <a:pPr marL="0" indent="0" algn="ctr">
              <a:buNone/>
            </a:pPr>
            <a:r>
              <a:rPr lang="en-US" sz="900" b="1" dirty="0">
                <a:solidFill>
                  <a:srgbClr val="E63946"/>
                </a:solidFill>
                <a:latin typeface="Calibri" pitchFamily="34" charset="0"/>
                <a:ea typeface="Calibri" pitchFamily="34" charset="-122"/>
                <a:cs typeface="Calibri" pitchFamily="34" charset="-120"/>
              </a:rPr>
              <a:t>02:47:15</a:t>
            </a:r>
            <a:endParaRPr lang="en-US" sz="900" dirty="0"/>
          </a:p>
          <a:p>
            <a:pPr marL="0" indent="0" algn="ctr">
              <a:buNone/>
            </a:pPr>
            <a:r>
              <a:rPr lang="en-US" sz="900" b="1" dirty="0">
                <a:solidFill>
                  <a:srgbClr val="E63946"/>
                </a:solidFill>
                <a:latin typeface="Calibri" pitchFamily="34" charset="0"/>
                <a:ea typeface="Calibri" pitchFamily="34" charset="-122"/>
                <a:cs typeface="Calibri" pitchFamily="34" charset="-120"/>
              </a:rPr>
              <a:t>4625 FAIL</a:t>
            </a:r>
            <a:endParaRPr lang="en-US" sz="900" dirty="0"/>
          </a:p>
        </p:txBody>
      </p:sp>
      <p:sp>
        <p:nvSpPr>
          <p:cNvPr id="11" name="Shape 9"/>
          <p:cNvSpPr/>
          <p:nvPr/>
        </p:nvSpPr>
        <p:spPr>
          <a:xfrm>
            <a:off x="3044952" y="1627632"/>
            <a:ext cx="109728" cy="0"/>
          </a:xfrm>
          <a:prstGeom prst="line">
            <a:avLst/>
          </a:prstGeom>
          <a:noFill/>
          <a:ln w="19050">
            <a:solidFill>
              <a:srgbClr val="8BB8D4"/>
            </a:solidFill>
            <a:prstDash val="solid"/>
          </a:ln>
        </p:spPr>
      </p:sp>
      <p:sp>
        <p:nvSpPr>
          <p:cNvPr id="12" name="Shape 10"/>
          <p:cNvSpPr/>
          <p:nvPr/>
        </p:nvSpPr>
        <p:spPr>
          <a:xfrm>
            <a:off x="3154680" y="1298448"/>
            <a:ext cx="1261872" cy="658368"/>
          </a:xfrm>
          <a:prstGeom prst="rect">
            <a:avLst/>
          </a:prstGeom>
          <a:solidFill>
            <a:srgbClr val="3D0000"/>
          </a:solidFill>
          <a:ln w="12700">
            <a:solidFill>
              <a:srgbClr val="E63946"/>
            </a:solidFill>
            <a:prstDash val="solid"/>
          </a:ln>
          <a:effectLst>
            <a:outerShdw blurRad="101600" dist="38100" dir="8100000" algn="bl" rotWithShape="0">
              <a:srgbClr val="000000">
                <a:alpha val="30000"/>
              </a:srgbClr>
            </a:outerShdw>
          </a:effectLst>
        </p:spPr>
      </p:sp>
      <p:sp>
        <p:nvSpPr>
          <p:cNvPr id="13" name="Text 11"/>
          <p:cNvSpPr/>
          <p:nvPr/>
        </p:nvSpPr>
        <p:spPr>
          <a:xfrm>
            <a:off x="3154680" y="1298448"/>
            <a:ext cx="1261872" cy="658368"/>
          </a:xfrm>
          <a:prstGeom prst="rect">
            <a:avLst/>
          </a:prstGeom>
          <a:noFill/>
          <a:ln/>
        </p:spPr>
        <p:txBody>
          <a:bodyPr wrap="square" rtlCol="0" anchor="ctr"/>
          <a:lstStyle/>
          <a:p>
            <a:pPr marL="0" indent="0" algn="ctr">
              <a:buNone/>
            </a:pPr>
            <a:r>
              <a:rPr lang="en-US" sz="900" b="1" dirty="0">
                <a:solidFill>
                  <a:srgbClr val="E63946"/>
                </a:solidFill>
                <a:latin typeface="Calibri" pitchFamily="34" charset="0"/>
                <a:ea typeface="Calibri" pitchFamily="34" charset="-122"/>
                <a:cs typeface="Calibri" pitchFamily="34" charset="-120"/>
              </a:rPr>
              <a:t>02:47:17</a:t>
            </a:r>
            <a:endParaRPr lang="en-US" sz="900" dirty="0"/>
          </a:p>
          <a:p>
            <a:pPr marL="0" indent="0" algn="ctr">
              <a:buNone/>
            </a:pPr>
            <a:r>
              <a:rPr lang="en-US" sz="900" b="1" dirty="0">
                <a:solidFill>
                  <a:srgbClr val="E63946"/>
                </a:solidFill>
                <a:latin typeface="Calibri" pitchFamily="34" charset="0"/>
                <a:ea typeface="Calibri" pitchFamily="34" charset="-122"/>
                <a:cs typeface="Calibri" pitchFamily="34" charset="-120"/>
              </a:rPr>
              <a:t>4625 FAIL</a:t>
            </a:r>
            <a:endParaRPr lang="en-US" sz="900" dirty="0"/>
          </a:p>
        </p:txBody>
      </p:sp>
      <p:sp>
        <p:nvSpPr>
          <p:cNvPr id="14" name="Shape 12"/>
          <p:cNvSpPr/>
          <p:nvPr/>
        </p:nvSpPr>
        <p:spPr>
          <a:xfrm>
            <a:off x="4416552" y="1627632"/>
            <a:ext cx="109728" cy="0"/>
          </a:xfrm>
          <a:prstGeom prst="line">
            <a:avLst/>
          </a:prstGeom>
          <a:noFill/>
          <a:ln w="19050">
            <a:solidFill>
              <a:srgbClr val="8BB8D4"/>
            </a:solidFill>
            <a:prstDash val="solid"/>
          </a:ln>
        </p:spPr>
      </p:sp>
      <p:sp>
        <p:nvSpPr>
          <p:cNvPr id="15" name="Shape 13"/>
          <p:cNvSpPr/>
          <p:nvPr/>
        </p:nvSpPr>
        <p:spPr>
          <a:xfrm>
            <a:off x="4526280" y="1298448"/>
            <a:ext cx="1261872" cy="658368"/>
          </a:xfrm>
          <a:prstGeom prst="rect">
            <a:avLst/>
          </a:prstGeom>
          <a:solidFill>
            <a:srgbClr val="3D0000"/>
          </a:solidFill>
          <a:ln w="12700">
            <a:solidFill>
              <a:srgbClr val="E63946"/>
            </a:solidFill>
            <a:prstDash val="solid"/>
          </a:ln>
          <a:effectLst>
            <a:outerShdw blurRad="101600" dist="38100" dir="8100000" algn="bl" rotWithShape="0">
              <a:srgbClr val="000000">
                <a:alpha val="30000"/>
              </a:srgbClr>
            </a:outerShdw>
          </a:effectLst>
        </p:spPr>
      </p:sp>
      <p:sp>
        <p:nvSpPr>
          <p:cNvPr id="16" name="Text 14"/>
          <p:cNvSpPr/>
          <p:nvPr/>
        </p:nvSpPr>
        <p:spPr>
          <a:xfrm>
            <a:off x="4526280" y="1298448"/>
            <a:ext cx="1261872" cy="658368"/>
          </a:xfrm>
          <a:prstGeom prst="rect">
            <a:avLst/>
          </a:prstGeom>
          <a:noFill/>
          <a:ln/>
        </p:spPr>
        <p:txBody>
          <a:bodyPr wrap="square" rtlCol="0" anchor="ctr"/>
          <a:lstStyle/>
          <a:p>
            <a:pPr marL="0" indent="0" algn="ctr">
              <a:buNone/>
            </a:pPr>
            <a:r>
              <a:rPr lang="en-US" sz="900" b="1" dirty="0">
                <a:solidFill>
                  <a:srgbClr val="E63946"/>
                </a:solidFill>
                <a:latin typeface="Calibri" pitchFamily="34" charset="0"/>
                <a:ea typeface="Calibri" pitchFamily="34" charset="-122"/>
                <a:cs typeface="Calibri" pitchFamily="34" charset="-120"/>
              </a:rPr>
              <a:t>02:47:19</a:t>
            </a:r>
            <a:endParaRPr lang="en-US" sz="900" dirty="0"/>
          </a:p>
          <a:p>
            <a:pPr marL="0" indent="0" algn="ctr">
              <a:buNone/>
            </a:pPr>
            <a:r>
              <a:rPr lang="en-US" sz="900" b="1" dirty="0">
                <a:solidFill>
                  <a:srgbClr val="E63946"/>
                </a:solidFill>
                <a:latin typeface="Calibri" pitchFamily="34" charset="0"/>
                <a:ea typeface="Calibri" pitchFamily="34" charset="-122"/>
                <a:cs typeface="Calibri" pitchFamily="34" charset="-120"/>
              </a:rPr>
              <a:t>4625 FAIL</a:t>
            </a:r>
            <a:endParaRPr lang="en-US" sz="900" dirty="0"/>
          </a:p>
        </p:txBody>
      </p:sp>
      <p:sp>
        <p:nvSpPr>
          <p:cNvPr id="17" name="Shape 15"/>
          <p:cNvSpPr/>
          <p:nvPr/>
        </p:nvSpPr>
        <p:spPr>
          <a:xfrm>
            <a:off x="5788152" y="1627632"/>
            <a:ext cx="109728" cy="0"/>
          </a:xfrm>
          <a:prstGeom prst="line">
            <a:avLst/>
          </a:prstGeom>
          <a:noFill/>
          <a:ln w="19050">
            <a:solidFill>
              <a:srgbClr val="8BB8D4"/>
            </a:solidFill>
            <a:prstDash val="solid"/>
          </a:ln>
        </p:spPr>
      </p:sp>
      <p:sp>
        <p:nvSpPr>
          <p:cNvPr id="18" name="Shape 16"/>
          <p:cNvSpPr/>
          <p:nvPr/>
        </p:nvSpPr>
        <p:spPr>
          <a:xfrm>
            <a:off x="5897880" y="1298448"/>
            <a:ext cx="1261872" cy="658368"/>
          </a:xfrm>
          <a:prstGeom prst="rect">
            <a:avLst/>
          </a:prstGeom>
          <a:solidFill>
            <a:srgbClr val="3D0000"/>
          </a:solidFill>
          <a:ln w="12700">
            <a:solidFill>
              <a:srgbClr val="E63946"/>
            </a:solidFill>
            <a:prstDash val="solid"/>
          </a:ln>
          <a:effectLst>
            <a:outerShdw blurRad="101600" dist="38100" dir="8100000" algn="bl" rotWithShape="0">
              <a:srgbClr val="000000">
                <a:alpha val="30000"/>
              </a:srgbClr>
            </a:outerShdw>
          </a:effectLst>
        </p:spPr>
      </p:sp>
      <p:sp>
        <p:nvSpPr>
          <p:cNvPr id="19" name="Text 17"/>
          <p:cNvSpPr/>
          <p:nvPr/>
        </p:nvSpPr>
        <p:spPr>
          <a:xfrm>
            <a:off x="5897880" y="1298448"/>
            <a:ext cx="1261872" cy="658368"/>
          </a:xfrm>
          <a:prstGeom prst="rect">
            <a:avLst/>
          </a:prstGeom>
          <a:noFill/>
          <a:ln/>
        </p:spPr>
        <p:txBody>
          <a:bodyPr wrap="square" rtlCol="0" anchor="ctr"/>
          <a:lstStyle/>
          <a:p>
            <a:pPr marL="0" indent="0" algn="ctr">
              <a:buNone/>
            </a:pPr>
            <a:r>
              <a:rPr lang="en-US" sz="900" b="1" dirty="0">
                <a:solidFill>
                  <a:srgbClr val="E63946"/>
                </a:solidFill>
                <a:latin typeface="Calibri" pitchFamily="34" charset="0"/>
                <a:ea typeface="Calibri" pitchFamily="34" charset="-122"/>
                <a:cs typeface="Calibri" pitchFamily="34" charset="-120"/>
              </a:rPr>
              <a:t>02:47:21</a:t>
            </a:r>
            <a:endParaRPr lang="en-US" sz="900" dirty="0"/>
          </a:p>
          <a:p>
            <a:pPr marL="0" indent="0" algn="ctr">
              <a:buNone/>
            </a:pPr>
            <a:r>
              <a:rPr lang="en-US" sz="900" b="1" dirty="0">
                <a:solidFill>
                  <a:srgbClr val="E63946"/>
                </a:solidFill>
                <a:latin typeface="Calibri" pitchFamily="34" charset="0"/>
                <a:ea typeface="Calibri" pitchFamily="34" charset="-122"/>
                <a:cs typeface="Calibri" pitchFamily="34" charset="-120"/>
              </a:rPr>
              <a:t>4625 FAIL</a:t>
            </a:r>
            <a:endParaRPr lang="en-US" sz="900" dirty="0"/>
          </a:p>
        </p:txBody>
      </p:sp>
      <p:sp>
        <p:nvSpPr>
          <p:cNvPr id="20" name="Shape 18"/>
          <p:cNvSpPr/>
          <p:nvPr/>
        </p:nvSpPr>
        <p:spPr>
          <a:xfrm>
            <a:off x="7360920" y="1298448"/>
            <a:ext cx="1417320" cy="658368"/>
          </a:xfrm>
          <a:prstGeom prst="rect">
            <a:avLst/>
          </a:prstGeom>
          <a:solidFill>
            <a:srgbClr val="003D15"/>
          </a:solidFill>
          <a:ln w="12700">
            <a:solidFill>
              <a:srgbClr val="00FF88"/>
            </a:solidFill>
            <a:prstDash val="solid"/>
          </a:ln>
          <a:effectLst>
            <a:outerShdw blurRad="101600" dist="38100" dir="8100000" algn="bl" rotWithShape="0">
              <a:srgbClr val="000000">
                <a:alpha val="30000"/>
              </a:srgbClr>
            </a:outerShdw>
          </a:effectLst>
        </p:spPr>
      </p:sp>
      <p:sp>
        <p:nvSpPr>
          <p:cNvPr id="21" name="Text 19"/>
          <p:cNvSpPr/>
          <p:nvPr/>
        </p:nvSpPr>
        <p:spPr>
          <a:xfrm>
            <a:off x="7360920" y="1298448"/>
            <a:ext cx="1417320" cy="658368"/>
          </a:xfrm>
          <a:prstGeom prst="rect">
            <a:avLst/>
          </a:prstGeom>
          <a:noFill/>
          <a:ln/>
        </p:spPr>
        <p:txBody>
          <a:bodyPr wrap="square" rtlCol="0" anchor="ctr"/>
          <a:lstStyle/>
          <a:p>
            <a:pPr marL="0" indent="0" algn="ctr">
              <a:buNone/>
            </a:pPr>
            <a:r>
              <a:rPr lang="en-US" sz="900" b="1" dirty="0">
                <a:solidFill>
                  <a:srgbClr val="00FF88"/>
                </a:solidFill>
                <a:latin typeface="Calibri" pitchFamily="34" charset="0"/>
                <a:ea typeface="Calibri" pitchFamily="34" charset="-122"/>
                <a:cs typeface="Calibri" pitchFamily="34" charset="-120"/>
              </a:rPr>
              <a:t>02:47:31</a:t>
            </a:r>
            <a:endParaRPr lang="en-US" sz="900" dirty="0"/>
          </a:p>
          <a:p>
            <a:pPr marL="0" indent="0" algn="ctr">
              <a:buNone/>
            </a:pPr>
            <a:r>
              <a:rPr lang="en-US" sz="900" b="1" dirty="0">
                <a:solidFill>
                  <a:srgbClr val="00FF88"/>
                </a:solidFill>
                <a:latin typeface="Calibri" pitchFamily="34" charset="0"/>
                <a:ea typeface="Calibri" pitchFamily="34" charset="-122"/>
                <a:cs typeface="Calibri" pitchFamily="34" charset="-120"/>
              </a:rPr>
              <a:t>4624 SUCCESS</a:t>
            </a:r>
            <a:endParaRPr lang="en-US" sz="900" dirty="0"/>
          </a:p>
        </p:txBody>
      </p:sp>
      <p:sp>
        <p:nvSpPr>
          <p:cNvPr id="22" name="Text 20"/>
          <p:cNvSpPr/>
          <p:nvPr/>
        </p:nvSpPr>
        <p:spPr>
          <a:xfrm>
            <a:off x="502920" y="2029968"/>
            <a:ext cx="8229600" cy="347472"/>
          </a:xfrm>
          <a:prstGeom prst="rect">
            <a:avLst/>
          </a:prstGeom>
          <a:noFill/>
          <a:ln/>
        </p:spPr>
        <p:txBody>
          <a:bodyPr wrap="square" rtlCol="0" anchor="ctr"/>
          <a:lstStyle/>
          <a:p>
            <a:pPr marL="0" indent="0">
              <a:buNone/>
            </a:pPr>
            <a:r>
              <a:rPr lang="en-US" sz="1150" i="1" dirty="0">
                <a:solidFill>
                  <a:srgbClr val="FFB703"/>
                </a:solidFill>
                <a:latin typeface="Calibri" pitchFamily="34" charset="0"/>
                <a:ea typeface="Calibri" pitchFamily="34" charset="-122"/>
                <a:cs typeface="Calibri" pitchFamily="34" charset="-120"/>
              </a:rPr>
              <a:t>Same source IP  •  Same target account  •  Short time window  →  Attack succeeded</a:t>
            </a:r>
            <a:endParaRPr lang="en-US" sz="1150" dirty="0"/>
          </a:p>
        </p:txBody>
      </p:sp>
      <p:sp>
        <p:nvSpPr>
          <p:cNvPr id="23" name="Shape 21"/>
          <p:cNvSpPr/>
          <p:nvPr/>
        </p:nvSpPr>
        <p:spPr>
          <a:xfrm>
            <a:off x="320040" y="3063240"/>
            <a:ext cx="8503920" cy="201168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24" name="Text 22"/>
          <p:cNvSpPr/>
          <p:nvPr/>
        </p:nvSpPr>
        <p:spPr>
          <a:xfrm>
            <a:off x="502920" y="3154680"/>
            <a:ext cx="8138160" cy="36576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What You Must Document When You Find This Pattern</a:t>
            </a:r>
            <a:endParaRPr lang="en-US" sz="1300" dirty="0"/>
          </a:p>
        </p:txBody>
      </p:sp>
      <p:sp>
        <p:nvSpPr>
          <p:cNvPr id="25" name="Text 23"/>
          <p:cNvSpPr/>
          <p:nvPr/>
        </p:nvSpPr>
        <p:spPr>
          <a:xfrm>
            <a:off x="502920" y="3566160"/>
            <a:ext cx="8138160" cy="1371600"/>
          </a:xfrm>
          <a:prstGeom prst="rect">
            <a:avLst/>
          </a:prstGeom>
          <a:noFill/>
          <a:ln/>
        </p:spPr>
        <p:txBody>
          <a:bodyPr wrap="square" rtlCol="0" anchor="ctr"/>
          <a:lstStyle/>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Number of failed attempts (4625 events)  •  Time range from first to last attempt</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Source IP address  •  Target username  •  Failure reason code from each 4625</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Whether a 4624 from the same source followed — did the attack succeed?</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What happened after — any 4672 events? Any account changes? Any suspicious program execution?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pic>
        <p:nvPicPr>
          <p:cNvPr id="3" name="Image 0" descr="preencoded.png"/>
          <p:cNvPicPr>
            <a:picLocks noChangeAspect="1"/>
          </p:cNvPicPr>
          <p:nvPr/>
        </p:nvPicPr>
        <p:blipFill>
          <a:blip r:embed="rId3"/>
          <a:stretch>
            <a:fillRect/>
          </a:stretch>
        </p:blipFill>
        <p:spPr>
          <a:xfrm>
            <a:off x="365760" y="182880"/>
            <a:ext cx="640080" cy="640080"/>
          </a:xfrm>
          <a:prstGeom prst="rect">
            <a:avLst/>
          </a:prstGeom>
        </p:spPr>
      </p:pic>
      <p:sp>
        <p:nvSpPr>
          <p:cNvPr id="4" name="Text 1"/>
          <p:cNvSpPr/>
          <p:nvPr/>
        </p:nvSpPr>
        <p:spPr>
          <a:xfrm>
            <a:off x="1143000" y="182880"/>
            <a:ext cx="768096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Tool: </a:t>
            </a:r>
            <a:r>
              <a:rPr lang="en-US" sz="2400" b="1" dirty="0" err="1">
                <a:solidFill>
                  <a:srgbClr val="FFFFFF"/>
                </a:solidFill>
                <a:latin typeface="Calibri" pitchFamily="34" charset="0"/>
                <a:ea typeface="Calibri" pitchFamily="34" charset="-122"/>
                <a:cs typeface="Calibri" pitchFamily="34" charset="-120"/>
              </a:rPr>
              <a:t>EvtxECmd</a:t>
            </a:r>
            <a:r>
              <a:rPr lang="en-US" sz="2400" b="1" dirty="0">
                <a:solidFill>
                  <a:srgbClr val="FFFFFF"/>
                </a:solidFill>
                <a:latin typeface="Calibri" pitchFamily="34" charset="0"/>
                <a:ea typeface="Calibri" pitchFamily="34" charset="-122"/>
                <a:cs typeface="Calibri" pitchFamily="34" charset="-120"/>
              </a:rPr>
              <a:t> or Event Viewer— Parsing Event Logs at Scale</a:t>
            </a:r>
            <a:endParaRPr lang="en-US" sz="2400" dirty="0"/>
          </a:p>
        </p:txBody>
      </p:sp>
      <p:sp>
        <p:nvSpPr>
          <p:cNvPr id="5" name="Text 2"/>
          <p:cNvSpPr/>
          <p:nvPr/>
        </p:nvSpPr>
        <p:spPr>
          <a:xfrm>
            <a:off x="365760" y="914400"/>
            <a:ext cx="8412480" cy="411480"/>
          </a:xfrm>
          <a:prstGeom prst="rect">
            <a:avLst/>
          </a:prstGeom>
          <a:noFill/>
          <a:ln/>
        </p:spPr>
        <p:txBody>
          <a:bodyPr wrap="square" rtlCol="0" anchor="ctr"/>
          <a:lstStyle/>
          <a:p>
            <a:pPr marL="0" indent="0">
              <a:buNone/>
            </a:pPr>
            <a:r>
              <a:rPr lang="en-US" sz="1250" i="1" dirty="0">
                <a:solidFill>
                  <a:srgbClr val="E8F4FD"/>
                </a:solidFill>
                <a:latin typeface="Calibri" pitchFamily="34" charset="0"/>
                <a:ea typeface="Calibri" pitchFamily="34" charset="-122"/>
                <a:cs typeface="Calibri" pitchFamily="34" charset="-120"/>
              </a:rPr>
              <a:t>Event Viewer is fine for browsing manually. But when you have thousands of events, you need </a:t>
            </a:r>
            <a:r>
              <a:rPr lang="en-US" sz="1250" i="1" dirty="0" err="1">
                <a:solidFill>
                  <a:srgbClr val="E8F4FD"/>
                </a:solidFill>
                <a:latin typeface="Calibri" pitchFamily="34" charset="0"/>
                <a:ea typeface="Calibri" pitchFamily="34" charset="-122"/>
                <a:cs typeface="Calibri" pitchFamily="34" charset="-120"/>
              </a:rPr>
              <a:t>EvtxECmd</a:t>
            </a:r>
            <a:r>
              <a:rPr lang="en-US" sz="1250" i="1" dirty="0">
                <a:solidFill>
                  <a:srgbClr val="E8F4FD"/>
                </a:solidFill>
                <a:latin typeface="Calibri" pitchFamily="34" charset="0"/>
                <a:ea typeface="Calibri" pitchFamily="34" charset="-122"/>
                <a:cs typeface="Calibri" pitchFamily="34" charset="-120"/>
              </a:rPr>
              <a:t> from Eric Zimmermann's EZ Tools.</a:t>
            </a:r>
            <a:endParaRPr lang="en-US" sz="1250" dirty="0"/>
          </a:p>
        </p:txBody>
      </p:sp>
      <p:sp>
        <p:nvSpPr>
          <p:cNvPr id="6" name="Shape 3"/>
          <p:cNvSpPr/>
          <p:nvPr/>
        </p:nvSpPr>
        <p:spPr>
          <a:xfrm>
            <a:off x="320040" y="1396922"/>
            <a:ext cx="4023360" cy="329184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txBody>
          <a:bodyPr/>
          <a:lstStyle/>
          <a:p>
            <a:endParaRPr lang="en-PK" dirty="0"/>
          </a:p>
        </p:txBody>
      </p:sp>
      <p:sp>
        <p:nvSpPr>
          <p:cNvPr id="7" name="Text 4"/>
          <p:cNvSpPr/>
          <p:nvPr/>
        </p:nvSpPr>
        <p:spPr>
          <a:xfrm>
            <a:off x="502920" y="1508760"/>
            <a:ext cx="3657600" cy="365760"/>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What </a:t>
            </a:r>
            <a:r>
              <a:rPr lang="en-US" sz="1400" b="1" dirty="0" err="1">
                <a:solidFill>
                  <a:srgbClr val="00B4D8"/>
                </a:solidFill>
                <a:latin typeface="Calibri" pitchFamily="34" charset="0"/>
                <a:ea typeface="Calibri" pitchFamily="34" charset="-122"/>
                <a:cs typeface="Calibri" pitchFamily="34" charset="-120"/>
              </a:rPr>
              <a:t>EvtxECmd</a:t>
            </a:r>
            <a:r>
              <a:rPr lang="en-US" sz="1400" b="1" dirty="0">
                <a:solidFill>
                  <a:srgbClr val="00B4D8"/>
                </a:solidFill>
                <a:latin typeface="Calibri" pitchFamily="34" charset="0"/>
                <a:ea typeface="Calibri" pitchFamily="34" charset="-122"/>
                <a:cs typeface="Calibri" pitchFamily="34" charset="-120"/>
              </a:rPr>
              <a:t> and Windows event log Does</a:t>
            </a:r>
            <a:endParaRPr lang="en-US" sz="1400" dirty="0"/>
          </a:p>
        </p:txBody>
      </p:sp>
      <p:sp>
        <p:nvSpPr>
          <p:cNvPr id="8" name="Text 5"/>
          <p:cNvSpPr/>
          <p:nvPr/>
        </p:nvSpPr>
        <p:spPr>
          <a:xfrm>
            <a:off x="502920" y="1920240"/>
            <a:ext cx="3657600" cy="2560320"/>
          </a:xfrm>
          <a:prstGeom prst="rect">
            <a:avLst/>
          </a:prstGeom>
          <a:noFill/>
          <a:ln/>
        </p:spPr>
        <p:txBody>
          <a:bodyPr wrap="square" rtlCol="0" anchor="ctr"/>
          <a:lstStyle/>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Reads the binary EVTX format and converts it into structured CSV output</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Each row in the CSV = one event with all fields separated out cleanly</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You can then open the CSV in Excel or any spreadsheet tool</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Filter by Event ID, sort by timestamp, search for specific usernames or IPs</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Process thousands of events in seconds instead of clicking through Event Viewer one by one</a:t>
            </a:r>
            <a:endParaRPr lang="en-US" sz="1200" dirty="0"/>
          </a:p>
        </p:txBody>
      </p:sp>
      <p:sp>
        <p:nvSpPr>
          <p:cNvPr id="9" name="Shape 6"/>
          <p:cNvSpPr/>
          <p:nvPr/>
        </p:nvSpPr>
        <p:spPr>
          <a:xfrm>
            <a:off x="4572000" y="1389888"/>
            <a:ext cx="4251960" cy="329184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0" name="Text 7"/>
          <p:cNvSpPr/>
          <p:nvPr/>
        </p:nvSpPr>
        <p:spPr>
          <a:xfrm>
            <a:off x="4754880" y="1508760"/>
            <a:ext cx="3886200" cy="365760"/>
          </a:xfrm>
          <a:prstGeom prst="rect">
            <a:avLst/>
          </a:prstGeom>
          <a:noFill/>
          <a:ln/>
        </p:spPr>
        <p:txBody>
          <a:bodyPr wrap="square" rtlCol="0" anchor="ctr"/>
          <a:lstStyle/>
          <a:p>
            <a:pPr marL="0" indent="0">
              <a:buNone/>
            </a:pPr>
            <a:r>
              <a:rPr lang="en-US" sz="1400" b="1" dirty="0">
                <a:solidFill>
                  <a:srgbClr val="48CAE4"/>
                </a:solidFill>
                <a:latin typeface="Calibri" pitchFamily="34" charset="0"/>
                <a:ea typeface="Calibri" pitchFamily="34" charset="-122"/>
                <a:cs typeface="Calibri" pitchFamily="34" charset="-120"/>
              </a:rPr>
              <a:t>What Information You Extract</a:t>
            </a:r>
            <a:endParaRPr lang="en-US" sz="1400" dirty="0"/>
          </a:p>
        </p:txBody>
      </p:sp>
      <p:sp>
        <p:nvSpPr>
          <p:cNvPr id="11" name="Text 8"/>
          <p:cNvSpPr/>
          <p:nvPr/>
        </p:nvSpPr>
        <p:spPr>
          <a:xfrm>
            <a:off x="4754880" y="1920240"/>
            <a:ext cx="1371600" cy="292608"/>
          </a:xfrm>
          <a:prstGeom prst="rect">
            <a:avLst/>
          </a:prstGeom>
          <a:noFill/>
          <a:ln/>
        </p:spPr>
        <p:txBody>
          <a:bodyPr wrap="square" rtlCol="0" anchor="ctr"/>
          <a:lstStyle/>
          <a:p>
            <a:pPr marL="0" indent="0">
              <a:buNone/>
            </a:pPr>
            <a:r>
              <a:rPr lang="en-US" sz="1100" b="1" dirty="0">
                <a:solidFill>
                  <a:srgbClr val="48CAE4"/>
                </a:solidFill>
                <a:latin typeface="Calibri" pitchFamily="34" charset="0"/>
                <a:ea typeface="Calibri" pitchFamily="34" charset="-122"/>
                <a:cs typeface="Calibri" pitchFamily="34" charset="-120"/>
              </a:rPr>
              <a:t>Timestamp: </a:t>
            </a:r>
            <a:endParaRPr lang="en-US" sz="1100" dirty="0"/>
          </a:p>
        </p:txBody>
      </p:sp>
      <p:sp>
        <p:nvSpPr>
          <p:cNvPr id="12" name="Text 9"/>
          <p:cNvSpPr/>
          <p:nvPr/>
        </p:nvSpPr>
        <p:spPr>
          <a:xfrm>
            <a:off x="6108192" y="1920240"/>
            <a:ext cx="2560320" cy="292608"/>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When exactly the event occurred</a:t>
            </a:r>
            <a:endParaRPr lang="en-US" sz="1100" dirty="0"/>
          </a:p>
        </p:txBody>
      </p:sp>
      <p:sp>
        <p:nvSpPr>
          <p:cNvPr id="13" name="Text 10"/>
          <p:cNvSpPr/>
          <p:nvPr/>
        </p:nvSpPr>
        <p:spPr>
          <a:xfrm>
            <a:off x="4754880" y="2267712"/>
            <a:ext cx="1371600" cy="292608"/>
          </a:xfrm>
          <a:prstGeom prst="rect">
            <a:avLst/>
          </a:prstGeom>
          <a:noFill/>
          <a:ln/>
        </p:spPr>
        <p:txBody>
          <a:bodyPr wrap="square" rtlCol="0" anchor="ctr"/>
          <a:lstStyle/>
          <a:p>
            <a:pPr marL="0" indent="0">
              <a:buNone/>
            </a:pPr>
            <a:r>
              <a:rPr lang="en-US" sz="1100" b="1" dirty="0">
                <a:solidFill>
                  <a:srgbClr val="48CAE4"/>
                </a:solidFill>
                <a:latin typeface="Calibri" pitchFamily="34" charset="0"/>
                <a:ea typeface="Calibri" pitchFamily="34" charset="-122"/>
                <a:cs typeface="Calibri" pitchFamily="34" charset="-120"/>
              </a:rPr>
              <a:t>Event ID: </a:t>
            </a:r>
            <a:endParaRPr lang="en-US" sz="1100" dirty="0"/>
          </a:p>
        </p:txBody>
      </p:sp>
      <p:sp>
        <p:nvSpPr>
          <p:cNvPr id="14" name="Text 11"/>
          <p:cNvSpPr/>
          <p:nvPr/>
        </p:nvSpPr>
        <p:spPr>
          <a:xfrm>
            <a:off x="6108192" y="2267712"/>
            <a:ext cx="2560320" cy="292608"/>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What type of action was recorded</a:t>
            </a:r>
            <a:endParaRPr lang="en-US" sz="1100" dirty="0"/>
          </a:p>
        </p:txBody>
      </p:sp>
      <p:sp>
        <p:nvSpPr>
          <p:cNvPr id="15" name="Text 12"/>
          <p:cNvSpPr/>
          <p:nvPr/>
        </p:nvSpPr>
        <p:spPr>
          <a:xfrm>
            <a:off x="4754880" y="2615184"/>
            <a:ext cx="1371600" cy="292608"/>
          </a:xfrm>
          <a:prstGeom prst="rect">
            <a:avLst/>
          </a:prstGeom>
          <a:noFill/>
          <a:ln/>
        </p:spPr>
        <p:txBody>
          <a:bodyPr wrap="square" rtlCol="0" anchor="ctr"/>
          <a:lstStyle/>
          <a:p>
            <a:pPr marL="0" indent="0">
              <a:buNone/>
            </a:pPr>
            <a:r>
              <a:rPr lang="en-US" sz="1100" b="1" dirty="0">
                <a:solidFill>
                  <a:srgbClr val="48CAE4"/>
                </a:solidFill>
                <a:latin typeface="Calibri" pitchFamily="34" charset="0"/>
                <a:ea typeface="Calibri" pitchFamily="34" charset="-122"/>
                <a:cs typeface="Calibri" pitchFamily="34" charset="-120"/>
              </a:rPr>
              <a:t>Account Name: </a:t>
            </a:r>
            <a:endParaRPr lang="en-US" sz="1100" dirty="0"/>
          </a:p>
        </p:txBody>
      </p:sp>
      <p:sp>
        <p:nvSpPr>
          <p:cNvPr id="16" name="Text 13"/>
          <p:cNvSpPr/>
          <p:nvPr/>
        </p:nvSpPr>
        <p:spPr>
          <a:xfrm>
            <a:off x="6108192" y="2615184"/>
            <a:ext cx="2560320" cy="292608"/>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Which user account was involved</a:t>
            </a:r>
            <a:endParaRPr lang="en-US" sz="1100" dirty="0"/>
          </a:p>
        </p:txBody>
      </p:sp>
      <p:sp>
        <p:nvSpPr>
          <p:cNvPr id="17" name="Text 14"/>
          <p:cNvSpPr/>
          <p:nvPr/>
        </p:nvSpPr>
        <p:spPr>
          <a:xfrm>
            <a:off x="4754880" y="2962656"/>
            <a:ext cx="1371600" cy="292608"/>
          </a:xfrm>
          <a:prstGeom prst="rect">
            <a:avLst/>
          </a:prstGeom>
          <a:noFill/>
          <a:ln/>
        </p:spPr>
        <p:txBody>
          <a:bodyPr wrap="square" rtlCol="0" anchor="ctr"/>
          <a:lstStyle/>
          <a:p>
            <a:pPr marL="0" indent="0">
              <a:buNone/>
            </a:pPr>
            <a:r>
              <a:rPr lang="en-US" sz="1100" b="1" dirty="0">
                <a:solidFill>
                  <a:srgbClr val="48CAE4"/>
                </a:solidFill>
                <a:latin typeface="Calibri" pitchFamily="34" charset="0"/>
                <a:ea typeface="Calibri" pitchFamily="34" charset="-122"/>
                <a:cs typeface="Calibri" pitchFamily="34" charset="-120"/>
              </a:rPr>
              <a:t>Logon Type: </a:t>
            </a:r>
            <a:endParaRPr lang="en-US" sz="1100" dirty="0"/>
          </a:p>
        </p:txBody>
      </p:sp>
      <p:sp>
        <p:nvSpPr>
          <p:cNvPr id="18" name="Text 15"/>
          <p:cNvSpPr/>
          <p:nvPr/>
        </p:nvSpPr>
        <p:spPr>
          <a:xfrm>
            <a:off x="6108192" y="2962656"/>
            <a:ext cx="2560320" cy="292608"/>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How they logged in (physical, network, RDP)</a:t>
            </a:r>
            <a:endParaRPr lang="en-US" sz="1100" dirty="0"/>
          </a:p>
        </p:txBody>
      </p:sp>
      <p:sp>
        <p:nvSpPr>
          <p:cNvPr id="19" name="Text 16"/>
          <p:cNvSpPr/>
          <p:nvPr/>
        </p:nvSpPr>
        <p:spPr>
          <a:xfrm>
            <a:off x="4754880" y="3310128"/>
            <a:ext cx="1371600" cy="292608"/>
          </a:xfrm>
          <a:prstGeom prst="rect">
            <a:avLst/>
          </a:prstGeom>
          <a:noFill/>
          <a:ln/>
        </p:spPr>
        <p:txBody>
          <a:bodyPr wrap="square" rtlCol="0" anchor="ctr"/>
          <a:lstStyle/>
          <a:p>
            <a:pPr marL="0" indent="0">
              <a:buNone/>
            </a:pPr>
            <a:r>
              <a:rPr lang="en-US" sz="1100" b="1" dirty="0">
                <a:solidFill>
                  <a:srgbClr val="48CAE4"/>
                </a:solidFill>
                <a:latin typeface="Calibri" pitchFamily="34" charset="0"/>
                <a:ea typeface="Calibri" pitchFamily="34" charset="-122"/>
                <a:cs typeface="Calibri" pitchFamily="34" charset="-120"/>
              </a:rPr>
              <a:t>Source IP: </a:t>
            </a:r>
            <a:endParaRPr lang="en-US" sz="1100" dirty="0"/>
          </a:p>
        </p:txBody>
      </p:sp>
      <p:sp>
        <p:nvSpPr>
          <p:cNvPr id="20" name="Text 17"/>
          <p:cNvSpPr/>
          <p:nvPr/>
        </p:nvSpPr>
        <p:spPr>
          <a:xfrm>
            <a:off x="6108192" y="3310128"/>
            <a:ext cx="2560320" cy="292608"/>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Where a network login came from</a:t>
            </a:r>
            <a:endParaRPr lang="en-US" sz="1100" dirty="0"/>
          </a:p>
        </p:txBody>
      </p:sp>
      <p:sp>
        <p:nvSpPr>
          <p:cNvPr id="21" name="Text 18"/>
          <p:cNvSpPr/>
          <p:nvPr/>
        </p:nvSpPr>
        <p:spPr>
          <a:xfrm>
            <a:off x="4754880" y="3657600"/>
            <a:ext cx="1371600" cy="292608"/>
          </a:xfrm>
          <a:prstGeom prst="rect">
            <a:avLst/>
          </a:prstGeom>
          <a:noFill/>
          <a:ln/>
        </p:spPr>
        <p:txBody>
          <a:bodyPr wrap="square" rtlCol="0" anchor="ctr"/>
          <a:lstStyle/>
          <a:p>
            <a:pPr marL="0" indent="0">
              <a:buNone/>
            </a:pPr>
            <a:r>
              <a:rPr lang="en-US" sz="1100" b="1" dirty="0">
                <a:solidFill>
                  <a:srgbClr val="48CAE4"/>
                </a:solidFill>
                <a:latin typeface="Calibri" pitchFamily="34" charset="0"/>
                <a:ea typeface="Calibri" pitchFamily="34" charset="-122"/>
                <a:cs typeface="Calibri" pitchFamily="34" charset="-120"/>
              </a:rPr>
              <a:t>Failure Reason: </a:t>
            </a:r>
            <a:endParaRPr lang="en-US" sz="1100" dirty="0"/>
          </a:p>
        </p:txBody>
      </p:sp>
      <p:sp>
        <p:nvSpPr>
          <p:cNvPr id="22" name="Text 19"/>
          <p:cNvSpPr/>
          <p:nvPr/>
        </p:nvSpPr>
        <p:spPr>
          <a:xfrm>
            <a:off x="6108192" y="3657600"/>
            <a:ext cx="2560320" cy="292608"/>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Why a login attempt was rejected</a:t>
            </a:r>
            <a:endParaRPr lang="en-US" sz="1100" dirty="0"/>
          </a:p>
        </p:txBody>
      </p:sp>
      <p:sp>
        <p:nvSpPr>
          <p:cNvPr id="23" name="Text 20"/>
          <p:cNvSpPr/>
          <p:nvPr/>
        </p:nvSpPr>
        <p:spPr>
          <a:xfrm>
            <a:off x="4754880" y="4005072"/>
            <a:ext cx="1371600" cy="292608"/>
          </a:xfrm>
          <a:prstGeom prst="rect">
            <a:avLst/>
          </a:prstGeom>
          <a:noFill/>
          <a:ln/>
        </p:spPr>
        <p:txBody>
          <a:bodyPr wrap="square" rtlCol="0" anchor="ctr"/>
          <a:lstStyle/>
          <a:p>
            <a:pPr marL="0" indent="0">
              <a:buNone/>
            </a:pPr>
            <a:r>
              <a:rPr lang="en-US" sz="1100" b="1" dirty="0">
                <a:solidFill>
                  <a:srgbClr val="48CAE4"/>
                </a:solidFill>
                <a:latin typeface="Calibri" pitchFamily="34" charset="0"/>
                <a:ea typeface="Calibri" pitchFamily="34" charset="-122"/>
                <a:cs typeface="Calibri" pitchFamily="34" charset="-120"/>
              </a:rPr>
              <a:t>Workstation: </a:t>
            </a:r>
            <a:endParaRPr lang="en-US" sz="1100" dirty="0"/>
          </a:p>
        </p:txBody>
      </p:sp>
      <p:sp>
        <p:nvSpPr>
          <p:cNvPr id="24" name="Text 21"/>
          <p:cNvSpPr/>
          <p:nvPr/>
        </p:nvSpPr>
        <p:spPr>
          <a:xfrm>
            <a:off x="6108192" y="4005072"/>
            <a:ext cx="2560320" cy="292608"/>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Which machine initiated the event</a:t>
            </a:r>
            <a:endParaRPr lang="en-US" sz="1100" dirty="0"/>
          </a:p>
        </p:txBody>
      </p:sp>
      <p:sp>
        <p:nvSpPr>
          <p:cNvPr id="25" name="Shape 22"/>
          <p:cNvSpPr/>
          <p:nvPr/>
        </p:nvSpPr>
        <p:spPr>
          <a:xfrm>
            <a:off x="320040" y="4736592"/>
            <a:ext cx="8503920" cy="347472"/>
          </a:xfrm>
          <a:prstGeom prst="rect">
            <a:avLst/>
          </a:prstGeom>
          <a:solidFill>
            <a:srgbClr val="0A2A40"/>
          </a:solidFill>
          <a:ln w="12700">
            <a:solidFill>
              <a:srgbClr val="0077B6"/>
            </a:solidFill>
            <a:prstDash val="solid"/>
          </a:ln>
        </p:spPr>
      </p:sp>
      <p:sp>
        <p:nvSpPr>
          <p:cNvPr id="26" name="Text 23"/>
          <p:cNvSpPr/>
          <p:nvPr/>
        </p:nvSpPr>
        <p:spPr>
          <a:xfrm>
            <a:off x="502920" y="4754880"/>
            <a:ext cx="8229600" cy="310896"/>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0" y="54864"/>
            <a:ext cx="164592" cy="5084064"/>
          </a:xfrm>
          <a:prstGeom prst="rect">
            <a:avLst/>
          </a:prstGeom>
          <a:solidFill>
            <a:srgbClr val="9B5DE5"/>
          </a:solidFill>
          <a:ln w="12700">
            <a:solidFill>
              <a:srgbClr val="9B5DE5"/>
            </a:solidFill>
            <a:prstDash val="solid"/>
          </a:ln>
        </p:spPr>
      </p:sp>
      <p:sp>
        <p:nvSpPr>
          <p:cNvPr id="4" name="Text 2"/>
          <p:cNvSpPr/>
          <p:nvPr/>
        </p:nvSpPr>
        <p:spPr>
          <a:xfrm>
            <a:off x="320040" y="137160"/>
            <a:ext cx="8503920" cy="320040"/>
          </a:xfrm>
          <a:prstGeom prst="rect">
            <a:avLst/>
          </a:prstGeom>
          <a:noFill/>
          <a:ln/>
        </p:spPr>
        <p:txBody>
          <a:bodyPr wrap="square" rtlCol="0" anchor="ctr"/>
          <a:lstStyle/>
          <a:p>
            <a:pPr marL="0" indent="0">
              <a:buNone/>
            </a:pPr>
            <a:r>
              <a:rPr lang="en-US" sz="1100" b="1" kern="0" spc="400" dirty="0">
                <a:solidFill>
                  <a:srgbClr val="9B5DE5"/>
                </a:solidFill>
                <a:latin typeface="Calibri" pitchFamily="34" charset="0"/>
                <a:ea typeface="Calibri" pitchFamily="34" charset="-122"/>
                <a:cs typeface="Calibri" pitchFamily="34" charset="-120"/>
              </a:rPr>
              <a:t>PART 2</a:t>
            </a:r>
            <a:endParaRPr lang="en-US" sz="1100" dirty="0"/>
          </a:p>
        </p:txBody>
      </p:sp>
      <p:sp>
        <p:nvSpPr>
          <p:cNvPr id="5" name="Text 3"/>
          <p:cNvSpPr/>
          <p:nvPr/>
        </p:nvSpPr>
        <p:spPr>
          <a:xfrm>
            <a:off x="320040" y="411480"/>
            <a:ext cx="850392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Prefetch File Analysis</a:t>
            </a:r>
            <a:endParaRPr lang="en-US" sz="3200" dirty="0"/>
          </a:p>
        </p:txBody>
      </p:sp>
      <p:pic>
        <p:nvPicPr>
          <p:cNvPr id="6" name="Image 0" descr="preencoded.png"/>
          <p:cNvPicPr>
            <a:picLocks noChangeAspect="1"/>
          </p:cNvPicPr>
          <p:nvPr/>
        </p:nvPicPr>
        <p:blipFill>
          <a:blip r:embed="rId3"/>
          <a:stretch>
            <a:fillRect/>
          </a:stretch>
        </p:blipFill>
        <p:spPr>
          <a:xfrm>
            <a:off x="7589520" y="365760"/>
            <a:ext cx="1005840" cy="1005840"/>
          </a:xfrm>
          <a:prstGeom prst="rect">
            <a:avLst/>
          </a:prstGeom>
        </p:spPr>
      </p:pic>
      <p:sp>
        <p:nvSpPr>
          <p:cNvPr id="7" name="Text 4"/>
          <p:cNvSpPr/>
          <p:nvPr/>
        </p:nvSpPr>
        <p:spPr>
          <a:xfrm>
            <a:off x="320040" y="1234440"/>
            <a:ext cx="6858000" cy="384048"/>
          </a:xfrm>
          <a:prstGeom prst="rect">
            <a:avLst/>
          </a:prstGeom>
          <a:noFill/>
          <a:ln/>
        </p:spPr>
        <p:txBody>
          <a:bodyPr wrap="square" rtlCol="0" anchor="ctr"/>
          <a:lstStyle/>
          <a:p>
            <a:pPr marL="0" indent="0">
              <a:buNone/>
            </a:pPr>
            <a:r>
              <a:rPr lang="en-US" sz="1600" b="1" dirty="0">
                <a:solidFill>
                  <a:srgbClr val="C77DFF"/>
                </a:solidFill>
                <a:latin typeface="Calibri" pitchFamily="34" charset="0"/>
                <a:ea typeface="Calibri" pitchFamily="34" charset="-122"/>
                <a:cs typeface="Calibri" pitchFamily="34" charset="-120"/>
              </a:rPr>
              <a:t>What is a Prefetch File?</a:t>
            </a:r>
            <a:endParaRPr lang="en-US" sz="1600" dirty="0"/>
          </a:p>
        </p:txBody>
      </p:sp>
      <p:sp>
        <p:nvSpPr>
          <p:cNvPr id="8" name="Text 5"/>
          <p:cNvSpPr/>
          <p:nvPr/>
        </p:nvSpPr>
        <p:spPr>
          <a:xfrm>
            <a:off x="320040" y="1664208"/>
            <a:ext cx="5303520" cy="1691640"/>
          </a:xfrm>
          <a:prstGeom prst="rect">
            <a:avLst/>
          </a:prstGeom>
          <a:noFill/>
          <a:ln/>
        </p:spPr>
        <p:txBody>
          <a:bodyPr wrap="square" rtlCol="0" anchor="ctr"/>
          <a:lstStyle/>
          <a:p>
            <a:pPr marL="0" indent="0">
              <a:buNone/>
            </a:pPr>
            <a:r>
              <a:rPr lang="en-US" sz="1250" dirty="0">
                <a:solidFill>
                  <a:srgbClr val="E8F4FD"/>
                </a:solidFill>
                <a:latin typeface="Calibri" pitchFamily="34" charset="0"/>
                <a:ea typeface="Calibri" pitchFamily="34" charset="-122"/>
                <a:cs typeface="Calibri" pitchFamily="34" charset="-120"/>
              </a:rPr>
              <a:t>Windows has a performance feature called Prefetch. When a program runs for the first time, Windows records information about it in a small file saved in C:\Windows\Prefetch. The purpose is to make the program start faster next time.</a:t>
            </a:r>
            <a:endParaRPr lang="en-US" sz="1250" dirty="0"/>
          </a:p>
          <a:p>
            <a:pPr marL="0" indent="0">
              <a:buNone/>
            </a:pPr>
            <a:endParaRPr lang="en-US" sz="1250" dirty="0"/>
          </a:p>
          <a:p>
            <a:pPr marL="0" indent="0">
              <a:buNone/>
            </a:pPr>
            <a:r>
              <a:rPr lang="en-US" sz="1250" dirty="0">
                <a:solidFill>
                  <a:srgbClr val="E8F4FD"/>
                </a:solidFill>
                <a:latin typeface="Calibri" pitchFamily="34" charset="0"/>
                <a:ea typeface="Calibri" pitchFamily="34" charset="-122"/>
                <a:cs typeface="Calibri" pitchFamily="34" charset="-120"/>
              </a:rPr>
              <a:t>For investigators, this is an unintentional gift. It means Windows keeps a detailed execution history of every program that has run — even if that program was later deleted.</a:t>
            </a:r>
            <a:endParaRPr lang="en-US" sz="1250" dirty="0"/>
          </a:p>
        </p:txBody>
      </p:sp>
      <p:sp>
        <p:nvSpPr>
          <p:cNvPr id="9" name="Shape 6"/>
          <p:cNvSpPr/>
          <p:nvPr/>
        </p:nvSpPr>
        <p:spPr>
          <a:xfrm>
            <a:off x="5943600" y="1234440"/>
            <a:ext cx="2880360" cy="214884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0" name="Text 7"/>
          <p:cNvSpPr/>
          <p:nvPr/>
        </p:nvSpPr>
        <p:spPr>
          <a:xfrm>
            <a:off x="6126480" y="1353312"/>
            <a:ext cx="2560320" cy="347472"/>
          </a:xfrm>
          <a:prstGeom prst="rect">
            <a:avLst/>
          </a:prstGeom>
          <a:noFill/>
          <a:ln/>
        </p:spPr>
        <p:txBody>
          <a:bodyPr wrap="square" rtlCol="0" anchor="ctr"/>
          <a:lstStyle/>
          <a:p>
            <a:pPr marL="0" indent="0">
              <a:buNone/>
            </a:pPr>
            <a:r>
              <a:rPr lang="en-US" sz="1300" b="1" dirty="0">
                <a:solidFill>
                  <a:srgbClr val="C77DFF"/>
                </a:solidFill>
                <a:latin typeface="Calibri" pitchFamily="34" charset="0"/>
                <a:ea typeface="Calibri" pitchFamily="34" charset="-122"/>
                <a:cs typeface="Calibri" pitchFamily="34" charset="-120"/>
              </a:rPr>
              <a:t>Location &amp; Format</a:t>
            </a:r>
            <a:endParaRPr lang="en-US" sz="1300" dirty="0"/>
          </a:p>
        </p:txBody>
      </p:sp>
      <p:sp>
        <p:nvSpPr>
          <p:cNvPr id="11" name="Text 8"/>
          <p:cNvSpPr/>
          <p:nvPr/>
        </p:nvSpPr>
        <p:spPr>
          <a:xfrm>
            <a:off x="6126480" y="1737360"/>
            <a:ext cx="2560320" cy="1554480"/>
          </a:xfrm>
          <a:prstGeom prst="rect">
            <a:avLst/>
          </a:prstGeom>
          <a:noFill/>
          <a:ln/>
        </p:spPr>
        <p:txBody>
          <a:bodyPr wrap="square" rtlCol="0" anchor="ctr"/>
          <a:lstStyle/>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Path: C:\Windows\Prefetch</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Extension: .pf</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Format: APPNAME-HASH.pf</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Desktop Windows only</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Up to 128 files kept</a:t>
            </a:r>
            <a:endParaRPr lang="en-US" sz="1100" dirty="0"/>
          </a:p>
        </p:txBody>
      </p:sp>
      <p:sp>
        <p:nvSpPr>
          <p:cNvPr id="12" name="Shape 9"/>
          <p:cNvSpPr/>
          <p:nvPr/>
        </p:nvSpPr>
        <p:spPr>
          <a:xfrm>
            <a:off x="320040" y="3456432"/>
            <a:ext cx="8503920" cy="1627632"/>
          </a:xfrm>
          <a:prstGeom prst="rect">
            <a:avLst/>
          </a:prstGeom>
          <a:solidFill>
            <a:srgbClr val="162032"/>
          </a:solidFill>
          <a:ln w="12700">
            <a:solidFill>
              <a:srgbClr val="9B5DE5"/>
            </a:solidFill>
            <a:prstDash val="solid"/>
          </a:ln>
          <a:effectLst>
            <a:outerShdw blurRad="101600" dist="38100" dir="8100000" algn="bl" rotWithShape="0">
              <a:srgbClr val="000000">
                <a:alpha val="30000"/>
              </a:srgbClr>
            </a:outerShdw>
          </a:effectLst>
        </p:spPr>
      </p:sp>
      <p:sp>
        <p:nvSpPr>
          <p:cNvPr id="13" name="Text 10"/>
          <p:cNvSpPr/>
          <p:nvPr/>
        </p:nvSpPr>
        <p:spPr>
          <a:xfrm>
            <a:off x="502920" y="3566160"/>
            <a:ext cx="8138160" cy="365760"/>
          </a:xfrm>
          <a:prstGeom prst="rect">
            <a:avLst/>
          </a:prstGeom>
          <a:noFill/>
          <a:ln/>
        </p:spPr>
        <p:txBody>
          <a:bodyPr wrap="square" rtlCol="0" anchor="ctr"/>
          <a:lstStyle/>
          <a:p>
            <a:pPr marL="0" indent="0">
              <a:buNone/>
            </a:pPr>
            <a:r>
              <a:rPr lang="en-US" sz="1300" b="1" dirty="0">
                <a:solidFill>
                  <a:srgbClr val="C77DFF"/>
                </a:solidFill>
                <a:latin typeface="Calibri" pitchFamily="34" charset="0"/>
                <a:ea typeface="Calibri" pitchFamily="34" charset="-122"/>
                <a:cs typeface="Calibri" pitchFamily="34" charset="-120"/>
              </a:rPr>
              <a:t>The Naming Convention — Why It Matters</a:t>
            </a:r>
            <a:endParaRPr lang="en-US" sz="1300" dirty="0"/>
          </a:p>
        </p:txBody>
      </p:sp>
      <p:sp>
        <p:nvSpPr>
          <p:cNvPr id="14" name="Text 11"/>
          <p:cNvSpPr/>
          <p:nvPr/>
        </p:nvSpPr>
        <p:spPr>
          <a:xfrm>
            <a:off x="502920" y="3968496"/>
            <a:ext cx="8138160" cy="1051560"/>
          </a:xfrm>
          <a:prstGeom prst="rect">
            <a:avLst/>
          </a:prstGeom>
          <a:noFill/>
          <a:ln/>
        </p:spPr>
        <p:txBody>
          <a:bodyPr wrap="square" rtlCol="0" anchor="ctr"/>
          <a:lstStyle/>
          <a:p>
            <a:pPr marL="0" indent="0">
              <a:buNone/>
            </a:pPr>
            <a:r>
              <a:rPr lang="en-US" sz="1200" dirty="0">
                <a:solidFill>
                  <a:srgbClr val="E8F4FD"/>
                </a:solidFill>
                <a:latin typeface="Calibri" pitchFamily="34" charset="0"/>
                <a:ea typeface="Calibri" pitchFamily="34" charset="-122"/>
                <a:cs typeface="Calibri" pitchFamily="34" charset="-120"/>
              </a:rPr>
              <a:t>Each prefetch file is named: EXECUTABLE_NAME – HASH.pf</a:t>
            </a:r>
            <a:endParaRPr lang="en-US" sz="1200" dirty="0"/>
          </a:p>
          <a:p>
            <a:pPr marL="0" indent="0">
              <a:buNone/>
            </a:pPr>
            <a:endParaRPr lang="en-US" sz="1200" dirty="0"/>
          </a:p>
          <a:p>
            <a:pPr marL="0" indent="0">
              <a:buNone/>
            </a:pPr>
            <a:r>
              <a:rPr lang="en-US" sz="1200" dirty="0">
                <a:solidFill>
                  <a:srgbClr val="E8F4FD"/>
                </a:solidFill>
                <a:latin typeface="Calibri" pitchFamily="34" charset="0"/>
                <a:ea typeface="Calibri" pitchFamily="34" charset="-122"/>
                <a:cs typeface="Calibri" pitchFamily="34" charset="-120"/>
              </a:rPr>
              <a:t>The HASH is calculated from the full path the executable was run from. This means if the same program name is run from two different folders, you get two different prefetch files. This tells you exactly WHERE the program was launched from.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943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 Does a Prefetch File Record?</a:t>
            </a:r>
            <a:endParaRPr lang="en-US" sz="2600" dirty="0"/>
          </a:p>
        </p:txBody>
      </p:sp>
      <p:sp>
        <p:nvSpPr>
          <p:cNvPr id="4" name="Shape 2"/>
          <p:cNvSpPr/>
          <p:nvPr/>
        </p:nvSpPr>
        <p:spPr>
          <a:xfrm>
            <a:off x="320040" y="868680"/>
            <a:ext cx="4114800" cy="1298448"/>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5" name="Image 0" descr="preencoded.png"/>
          <p:cNvPicPr>
            <a:picLocks noChangeAspect="1"/>
          </p:cNvPicPr>
          <p:nvPr/>
        </p:nvPicPr>
        <p:blipFill>
          <a:blip r:embed="rId3"/>
          <a:stretch>
            <a:fillRect/>
          </a:stretch>
        </p:blipFill>
        <p:spPr>
          <a:xfrm>
            <a:off x="457200" y="978408"/>
            <a:ext cx="502920" cy="502920"/>
          </a:xfrm>
          <a:prstGeom prst="rect">
            <a:avLst/>
          </a:prstGeom>
        </p:spPr>
      </p:pic>
      <p:sp>
        <p:nvSpPr>
          <p:cNvPr id="6" name="Text 3"/>
          <p:cNvSpPr/>
          <p:nvPr/>
        </p:nvSpPr>
        <p:spPr>
          <a:xfrm>
            <a:off x="1097280" y="978408"/>
            <a:ext cx="3200400" cy="365760"/>
          </a:xfrm>
          <a:prstGeom prst="rect">
            <a:avLst/>
          </a:prstGeom>
          <a:noFill/>
          <a:ln/>
        </p:spPr>
        <p:txBody>
          <a:bodyPr wrap="square" rtlCol="0" anchor="ctr"/>
          <a:lstStyle/>
          <a:p>
            <a:pPr marL="0" indent="0">
              <a:buNone/>
            </a:pPr>
            <a:r>
              <a:rPr lang="en-US" sz="1300" b="1" dirty="0">
                <a:solidFill>
                  <a:srgbClr val="C77DFF"/>
                </a:solidFill>
                <a:latin typeface="Calibri" pitchFamily="34" charset="0"/>
                <a:ea typeface="Calibri" pitchFamily="34" charset="-122"/>
                <a:cs typeface="Calibri" pitchFamily="34" charset="-120"/>
              </a:rPr>
              <a:t>Executable Name</a:t>
            </a:r>
            <a:endParaRPr lang="en-US" sz="1300" dirty="0"/>
          </a:p>
        </p:txBody>
      </p:sp>
      <p:sp>
        <p:nvSpPr>
          <p:cNvPr id="7" name="Text 4"/>
          <p:cNvSpPr/>
          <p:nvPr/>
        </p:nvSpPr>
        <p:spPr>
          <a:xfrm>
            <a:off x="1097280" y="1344168"/>
            <a:ext cx="3200400" cy="731520"/>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The name of the program that ran — e.g. MIMIKATZ.EXE, CMD.EXE, POWERSHELL.EXE</a:t>
            </a:r>
            <a:endParaRPr lang="en-US" sz="1150" dirty="0"/>
          </a:p>
        </p:txBody>
      </p:sp>
      <p:sp>
        <p:nvSpPr>
          <p:cNvPr id="8" name="Shape 5"/>
          <p:cNvSpPr/>
          <p:nvPr/>
        </p:nvSpPr>
        <p:spPr>
          <a:xfrm>
            <a:off x="4709160" y="868680"/>
            <a:ext cx="4114800" cy="1298448"/>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9" name="Image 1" descr="preencoded.png"/>
          <p:cNvPicPr>
            <a:picLocks noChangeAspect="1"/>
          </p:cNvPicPr>
          <p:nvPr/>
        </p:nvPicPr>
        <p:blipFill>
          <a:blip r:embed="rId4"/>
          <a:stretch>
            <a:fillRect/>
          </a:stretch>
        </p:blipFill>
        <p:spPr>
          <a:xfrm>
            <a:off x="4846320" y="978408"/>
            <a:ext cx="502920" cy="502920"/>
          </a:xfrm>
          <a:prstGeom prst="rect">
            <a:avLst/>
          </a:prstGeom>
        </p:spPr>
      </p:pic>
      <p:sp>
        <p:nvSpPr>
          <p:cNvPr id="10" name="Text 6"/>
          <p:cNvSpPr/>
          <p:nvPr/>
        </p:nvSpPr>
        <p:spPr>
          <a:xfrm>
            <a:off x="5486400" y="978408"/>
            <a:ext cx="3200400" cy="36576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Full Execution Path</a:t>
            </a:r>
            <a:endParaRPr lang="en-US" sz="1300" dirty="0"/>
          </a:p>
        </p:txBody>
      </p:sp>
      <p:sp>
        <p:nvSpPr>
          <p:cNvPr id="11" name="Text 7"/>
          <p:cNvSpPr/>
          <p:nvPr/>
        </p:nvSpPr>
        <p:spPr>
          <a:xfrm>
            <a:off x="5486400" y="1344168"/>
            <a:ext cx="3200400" cy="731520"/>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The exact folder path the program ran from. C:\Temp vs C:\Windows\System32 means very different things.</a:t>
            </a:r>
            <a:endParaRPr lang="en-US" sz="1150" dirty="0"/>
          </a:p>
        </p:txBody>
      </p:sp>
      <p:sp>
        <p:nvSpPr>
          <p:cNvPr id="12" name="Shape 8"/>
          <p:cNvSpPr/>
          <p:nvPr/>
        </p:nvSpPr>
        <p:spPr>
          <a:xfrm>
            <a:off x="320040" y="2295144"/>
            <a:ext cx="4114800" cy="1298448"/>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13" name="Image 2" descr="preencoded.png"/>
          <p:cNvPicPr>
            <a:picLocks noChangeAspect="1"/>
          </p:cNvPicPr>
          <p:nvPr/>
        </p:nvPicPr>
        <p:blipFill>
          <a:blip r:embed="rId5"/>
          <a:stretch>
            <a:fillRect/>
          </a:stretch>
        </p:blipFill>
        <p:spPr>
          <a:xfrm>
            <a:off x="457200" y="2404872"/>
            <a:ext cx="502920" cy="502920"/>
          </a:xfrm>
          <a:prstGeom prst="rect">
            <a:avLst/>
          </a:prstGeom>
        </p:spPr>
      </p:pic>
      <p:sp>
        <p:nvSpPr>
          <p:cNvPr id="14" name="Text 9"/>
          <p:cNvSpPr/>
          <p:nvPr/>
        </p:nvSpPr>
        <p:spPr>
          <a:xfrm>
            <a:off x="1097280" y="2404872"/>
            <a:ext cx="3200400" cy="365760"/>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Run Count</a:t>
            </a:r>
            <a:endParaRPr lang="en-US" sz="1300" dirty="0"/>
          </a:p>
        </p:txBody>
      </p:sp>
      <p:sp>
        <p:nvSpPr>
          <p:cNvPr id="15" name="Text 10"/>
          <p:cNvSpPr/>
          <p:nvPr/>
        </p:nvSpPr>
        <p:spPr>
          <a:xfrm>
            <a:off x="1097280" y="2770632"/>
            <a:ext cx="3200400" cy="731520"/>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How many times the program has run total. A count of 1 on a suspicious tool often means a one-off attacker use.</a:t>
            </a:r>
            <a:endParaRPr lang="en-US" sz="1150" dirty="0"/>
          </a:p>
        </p:txBody>
      </p:sp>
      <p:sp>
        <p:nvSpPr>
          <p:cNvPr id="16" name="Shape 11"/>
          <p:cNvSpPr/>
          <p:nvPr/>
        </p:nvSpPr>
        <p:spPr>
          <a:xfrm>
            <a:off x="4709160" y="2295144"/>
            <a:ext cx="4114800" cy="1298448"/>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17" name="Image 3" descr="preencoded.png"/>
          <p:cNvPicPr>
            <a:picLocks noChangeAspect="1"/>
          </p:cNvPicPr>
          <p:nvPr/>
        </p:nvPicPr>
        <p:blipFill>
          <a:blip r:embed="rId6"/>
          <a:stretch>
            <a:fillRect/>
          </a:stretch>
        </p:blipFill>
        <p:spPr>
          <a:xfrm>
            <a:off x="4846320" y="2404872"/>
            <a:ext cx="502920" cy="502920"/>
          </a:xfrm>
          <a:prstGeom prst="rect">
            <a:avLst/>
          </a:prstGeom>
        </p:spPr>
      </p:pic>
      <p:sp>
        <p:nvSpPr>
          <p:cNvPr id="18" name="Text 12"/>
          <p:cNvSpPr/>
          <p:nvPr/>
        </p:nvSpPr>
        <p:spPr>
          <a:xfrm>
            <a:off x="5486400" y="2404872"/>
            <a:ext cx="3200400" cy="365760"/>
          </a:xfrm>
          <a:prstGeom prst="rect">
            <a:avLst/>
          </a:prstGeom>
          <a:noFill/>
          <a:ln/>
        </p:spPr>
        <p:txBody>
          <a:bodyPr wrap="square" rtlCol="0" anchor="ctr"/>
          <a:lstStyle/>
          <a:p>
            <a:pPr marL="0" indent="0">
              <a:buNone/>
            </a:pPr>
            <a:r>
              <a:rPr lang="en-US" sz="1300" b="1" dirty="0">
                <a:solidFill>
                  <a:srgbClr val="48CAE4"/>
                </a:solidFill>
                <a:latin typeface="Calibri" pitchFamily="34" charset="0"/>
                <a:ea typeface="Calibri" pitchFamily="34" charset="-122"/>
                <a:cs typeface="Calibri" pitchFamily="34" charset="-120"/>
              </a:rPr>
              <a:t>Last Run Timestamp</a:t>
            </a:r>
            <a:endParaRPr lang="en-US" sz="1300" dirty="0"/>
          </a:p>
        </p:txBody>
      </p:sp>
      <p:sp>
        <p:nvSpPr>
          <p:cNvPr id="19" name="Text 13"/>
          <p:cNvSpPr/>
          <p:nvPr/>
        </p:nvSpPr>
        <p:spPr>
          <a:xfrm>
            <a:off x="5486400" y="2770632"/>
            <a:ext cx="3200400" cy="731520"/>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When the program was most recently executed. Cross-reference with logon events for correlation.</a:t>
            </a:r>
            <a:endParaRPr lang="en-US" sz="1150" dirty="0"/>
          </a:p>
        </p:txBody>
      </p:sp>
      <p:sp>
        <p:nvSpPr>
          <p:cNvPr id="20" name="Shape 14"/>
          <p:cNvSpPr/>
          <p:nvPr/>
        </p:nvSpPr>
        <p:spPr>
          <a:xfrm>
            <a:off x="320040" y="3721608"/>
            <a:ext cx="4114800" cy="1298448"/>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21" name="Image 4" descr="preencoded.png"/>
          <p:cNvPicPr>
            <a:picLocks noChangeAspect="1"/>
          </p:cNvPicPr>
          <p:nvPr/>
        </p:nvPicPr>
        <p:blipFill>
          <a:blip r:embed="rId7"/>
          <a:stretch>
            <a:fillRect/>
          </a:stretch>
        </p:blipFill>
        <p:spPr>
          <a:xfrm>
            <a:off x="457200" y="3831336"/>
            <a:ext cx="502920" cy="502920"/>
          </a:xfrm>
          <a:prstGeom prst="rect">
            <a:avLst/>
          </a:prstGeom>
        </p:spPr>
      </p:pic>
      <p:sp>
        <p:nvSpPr>
          <p:cNvPr id="22" name="Text 15"/>
          <p:cNvSpPr/>
          <p:nvPr/>
        </p:nvSpPr>
        <p:spPr>
          <a:xfrm>
            <a:off x="1097280" y="3831336"/>
            <a:ext cx="3200400" cy="365760"/>
          </a:xfrm>
          <a:prstGeom prst="rect">
            <a:avLst/>
          </a:prstGeom>
          <a:noFill/>
          <a:ln/>
        </p:spPr>
        <p:txBody>
          <a:bodyPr wrap="square" rtlCol="0" anchor="ctr"/>
          <a:lstStyle/>
          <a:p>
            <a:pPr marL="0" indent="0">
              <a:buNone/>
            </a:pPr>
            <a:r>
              <a:rPr lang="en-US" sz="1300" b="1" dirty="0">
                <a:solidFill>
                  <a:srgbClr val="9B5DE5"/>
                </a:solidFill>
                <a:latin typeface="Calibri" pitchFamily="34" charset="0"/>
                <a:ea typeface="Calibri" pitchFamily="34" charset="-122"/>
                <a:cs typeface="Calibri" pitchFamily="34" charset="-120"/>
              </a:rPr>
              <a:t>Up to 7 Previous Run Times</a:t>
            </a:r>
            <a:endParaRPr lang="en-US" sz="1300" dirty="0"/>
          </a:p>
        </p:txBody>
      </p:sp>
      <p:sp>
        <p:nvSpPr>
          <p:cNvPr id="23" name="Text 16"/>
          <p:cNvSpPr/>
          <p:nvPr/>
        </p:nvSpPr>
        <p:spPr>
          <a:xfrm>
            <a:off x="1097280" y="4197096"/>
            <a:ext cx="3200400" cy="731520"/>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Windows (v26+) stores the last 8 execution timestamps. You can build an execution frequency timeline.</a:t>
            </a:r>
            <a:endParaRPr lang="en-US" sz="1150" dirty="0"/>
          </a:p>
        </p:txBody>
      </p:sp>
      <p:sp>
        <p:nvSpPr>
          <p:cNvPr id="24" name="Shape 17"/>
          <p:cNvSpPr/>
          <p:nvPr/>
        </p:nvSpPr>
        <p:spPr>
          <a:xfrm>
            <a:off x="4709160" y="3721608"/>
            <a:ext cx="4114800" cy="1298448"/>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25" name="Image 5" descr="preencoded.png"/>
          <p:cNvPicPr>
            <a:picLocks noChangeAspect="1"/>
          </p:cNvPicPr>
          <p:nvPr/>
        </p:nvPicPr>
        <p:blipFill>
          <a:blip r:embed="rId8"/>
          <a:stretch>
            <a:fillRect/>
          </a:stretch>
        </p:blipFill>
        <p:spPr>
          <a:xfrm>
            <a:off x="4846320" y="3831336"/>
            <a:ext cx="502920" cy="502920"/>
          </a:xfrm>
          <a:prstGeom prst="rect">
            <a:avLst/>
          </a:prstGeom>
        </p:spPr>
      </p:pic>
      <p:sp>
        <p:nvSpPr>
          <p:cNvPr id="26" name="Text 18"/>
          <p:cNvSpPr/>
          <p:nvPr/>
        </p:nvSpPr>
        <p:spPr>
          <a:xfrm>
            <a:off x="5486400" y="3831336"/>
            <a:ext cx="3200400" cy="365760"/>
          </a:xfrm>
          <a:prstGeom prst="rect">
            <a:avLst/>
          </a:prstGeom>
          <a:noFill/>
          <a:ln/>
        </p:spPr>
        <p:txBody>
          <a:bodyPr wrap="square" rtlCol="0" anchor="ctr"/>
          <a:lstStyle/>
          <a:p>
            <a:pPr marL="0" indent="0">
              <a:buNone/>
            </a:pPr>
            <a:r>
              <a:rPr lang="en-US" sz="1300" b="1" dirty="0">
                <a:solidFill>
                  <a:srgbClr val="00FF88"/>
                </a:solidFill>
                <a:latin typeface="Calibri" pitchFamily="34" charset="0"/>
                <a:ea typeface="Calibri" pitchFamily="34" charset="-122"/>
                <a:cs typeface="Calibri" pitchFamily="34" charset="-120"/>
              </a:rPr>
              <a:t>Files and Directories Accessed</a:t>
            </a:r>
            <a:endParaRPr lang="en-US" sz="1300" dirty="0"/>
          </a:p>
        </p:txBody>
      </p:sp>
      <p:sp>
        <p:nvSpPr>
          <p:cNvPr id="27" name="Text 19"/>
          <p:cNvSpPr/>
          <p:nvPr/>
        </p:nvSpPr>
        <p:spPr>
          <a:xfrm>
            <a:off x="5486400" y="4197096"/>
            <a:ext cx="3200400" cy="731520"/>
          </a:xfrm>
          <a:prstGeom prst="rect">
            <a:avLst/>
          </a:prstGeom>
          <a:noFill/>
          <a:ln/>
        </p:spPr>
        <p:txBody>
          <a:bodyPr wrap="square" rtlCol="0" anchor="ctr"/>
          <a:lstStyle/>
          <a:p>
            <a:pPr marL="0" indent="0">
              <a:buNone/>
            </a:pPr>
            <a:r>
              <a:rPr lang="en-US" sz="1150" dirty="0">
                <a:solidFill>
                  <a:srgbClr val="E8F4FD"/>
                </a:solidFill>
                <a:latin typeface="Calibri" pitchFamily="34" charset="0"/>
                <a:ea typeface="Calibri" pitchFamily="34" charset="-122"/>
                <a:cs typeface="Calibri" pitchFamily="34" charset="-120"/>
              </a:rPr>
              <a:t>What files and folders the program touched on its first run. Can reveal what data the attacker accessed.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63946"/>
          </a:solidFill>
          <a:ln w="12700">
            <a:solidFill>
              <a:srgbClr val="E63946"/>
            </a:solidFill>
            <a:prstDash val="solid"/>
          </a:ln>
        </p:spPr>
      </p:sp>
      <p:pic>
        <p:nvPicPr>
          <p:cNvPr id="3" name="Image 0" descr="preencoded.png"/>
          <p:cNvPicPr>
            <a:picLocks noChangeAspect="1"/>
          </p:cNvPicPr>
          <p:nvPr/>
        </p:nvPicPr>
        <p:blipFill>
          <a:blip r:embed="rId3"/>
          <a:stretch>
            <a:fillRect/>
          </a:stretch>
        </p:blipFill>
        <p:spPr>
          <a:xfrm>
            <a:off x="365760" y="137160"/>
            <a:ext cx="640080" cy="640080"/>
          </a:xfrm>
          <a:prstGeom prst="rect">
            <a:avLst/>
          </a:prstGeom>
        </p:spPr>
      </p:pic>
      <p:sp>
        <p:nvSpPr>
          <p:cNvPr id="4" name="Text 1"/>
          <p:cNvSpPr/>
          <p:nvPr/>
        </p:nvSpPr>
        <p:spPr>
          <a:xfrm>
            <a:off x="1143000" y="137160"/>
            <a:ext cx="768096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Identifying Suspicious Execution Locations</a:t>
            </a:r>
            <a:endParaRPr lang="en-US" sz="2400" dirty="0"/>
          </a:p>
        </p:txBody>
      </p:sp>
      <p:sp>
        <p:nvSpPr>
          <p:cNvPr id="5" name="Text 2"/>
          <p:cNvSpPr/>
          <p:nvPr/>
        </p:nvSpPr>
        <p:spPr>
          <a:xfrm>
            <a:off x="365760" y="841248"/>
            <a:ext cx="8412480" cy="384048"/>
          </a:xfrm>
          <a:prstGeom prst="rect">
            <a:avLst/>
          </a:prstGeom>
          <a:noFill/>
          <a:ln/>
        </p:spPr>
        <p:txBody>
          <a:bodyPr wrap="square" rtlCol="0" anchor="ctr"/>
          <a:lstStyle/>
          <a:p>
            <a:pPr marL="0" indent="0">
              <a:buNone/>
            </a:pPr>
            <a:r>
              <a:rPr lang="en-US" sz="1250" i="1" dirty="0">
                <a:solidFill>
                  <a:srgbClr val="E8F4FD"/>
                </a:solidFill>
                <a:latin typeface="Calibri" pitchFamily="34" charset="0"/>
                <a:ea typeface="Calibri" pitchFamily="34" charset="-122"/>
                <a:cs typeface="Calibri" pitchFamily="34" charset="-120"/>
              </a:rPr>
              <a:t>Where a program ran from tells you almost as much as what it was. Legitimate programs follow patterns. Malware breaks them.</a:t>
            </a:r>
            <a:endParaRPr lang="en-US" sz="1250" dirty="0"/>
          </a:p>
        </p:txBody>
      </p:sp>
      <p:sp>
        <p:nvSpPr>
          <p:cNvPr id="6" name="Shape 3"/>
          <p:cNvSpPr/>
          <p:nvPr/>
        </p:nvSpPr>
        <p:spPr>
          <a:xfrm>
            <a:off x="320040" y="1316736"/>
            <a:ext cx="8503920" cy="438912"/>
          </a:xfrm>
          <a:prstGeom prst="rect">
            <a:avLst/>
          </a:prstGeom>
          <a:solidFill>
            <a:srgbClr val="162032"/>
          </a:solidFill>
          <a:ln w="12700">
            <a:solidFill>
              <a:srgbClr val="1E3A5F"/>
            </a:solidFill>
            <a:prstDash val="solid"/>
          </a:ln>
        </p:spPr>
      </p:sp>
      <p:sp>
        <p:nvSpPr>
          <p:cNvPr id="7" name="Shape 4"/>
          <p:cNvSpPr/>
          <p:nvPr/>
        </p:nvSpPr>
        <p:spPr>
          <a:xfrm>
            <a:off x="438912" y="1444752"/>
            <a:ext cx="182880" cy="182880"/>
          </a:xfrm>
          <a:prstGeom prst="ellipse">
            <a:avLst/>
          </a:prstGeom>
          <a:solidFill>
            <a:srgbClr val="00B090"/>
          </a:solidFill>
          <a:ln w="12700">
            <a:solidFill>
              <a:srgbClr val="00B090"/>
            </a:solidFill>
            <a:prstDash val="solid"/>
          </a:ln>
        </p:spPr>
      </p:sp>
      <p:sp>
        <p:nvSpPr>
          <p:cNvPr id="8" name="Text 5"/>
          <p:cNvSpPr/>
          <p:nvPr/>
        </p:nvSpPr>
        <p:spPr>
          <a:xfrm>
            <a:off x="713232" y="1371600"/>
            <a:ext cx="3657600" cy="32004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C:\Windows\System32\</a:t>
            </a:r>
            <a:endParaRPr lang="en-US" sz="1050" dirty="0"/>
          </a:p>
        </p:txBody>
      </p:sp>
      <p:sp>
        <p:nvSpPr>
          <p:cNvPr id="9" name="Text 6"/>
          <p:cNvSpPr/>
          <p:nvPr/>
        </p:nvSpPr>
        <p:spPr>
          <a:xfrm>
            <a:off x="4480560" y="1371600"/>
            <a:ext cx="4206240" cy="320040"/>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Normal — Windows OS tools live here</a:t>
            </a:r>
            <a:endParaRPr lang="en-US" sz="1100" dirty="0"/>
          </a:p>
        </p:txBody>
      </p:sp>
      <p:sp>
        <p:nvSpPr>
          <p:cNvPr id="10" name="Shape 7"/>
          <p:cNvSpPr/>
          <p:nvPr/>
        </p:nvSpPr>
        <p:spPr>
          <a:xfrm>
            <a:off x="320040" y="1819656"/>
            <a:ext cx="8503920" cy="438912"/>
          </a:xfrm>
          <a:prstGeom prst="rect">
            <a:avLst/>
          </a:prstGeom>
          <a:solidFill>
            <a:srgbClr val="162032"/>
          </a:solidFill>
          <a:ln w="12700">
            <a:solidFill>
              <a:srgbClr val="1E3A5F"/>
            </a:solidFill>
            <a:prstDash val="solid"/>
          </a:ln>
        </p:spPr>
      </p:sp>
      <p:sp>
        <p:nvSpPr>
          <p:cNvPr id="11" name="Shape 8"/>
          <p:cNvSpPr/>
          <p:nvPr/>
        </p:nvSpPr>
        <p:spPr>
          <a:xfrm>
            <a:off x="438912" y="1947672"/>
            <a:ext cx="182880" cy="182880"/>
          </a:xfrm>
          <a:prstGeom prst="ellipse">
            <a:avLst/>
          </a:prstGeom>
          <a:solidFill>
            <a:srgbClr val="00B090"/>
          </a:solidFill>
          <a:ln w="12700">
            <a:solidFill>
              <a:srgbClr val="00B090"/>
            </a:solidFill>
            <a:prstDash val="solid"/>
          </a:ln>
        </p:spPr>
      </p:sp>
      <p:sp>
        <p:nvSpPr>
          <p:cNvPr id="12" name="Text 9"/>
          <p:cNvSpPr/>
          <p:nvPr/>
        </p:nvSpPr>
        <p:spPr>
          <a:xfrm>
            <a:off x="713232" y="1874520"/>
            <a:ext cx="3657600" cy="32004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C:\Program Files\</a:t>
            </a:r>
            <a:endParaRPr lang="en-US" sz="1050" dirty="0"/>
          </a:p>
        </p:txBody>
      </p:sp>
      <p:sp>
        <p:nvSpPr>
          <p:cNvPr id="13" name="Text 10"/>
          <p:cNvSpPr/>
          <p:nvPr/>
        </p:nvSpPr>
        <p:spPr>
          <a:xfrm>
            <a:off x="4480560" y="1874520"/>
            <a:ext cx="4206240" cy="320040"/>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Normal — installed applications</a:t>
            </a:r>
            <a:endParaRPr lang="en-US" sz="1100" dirty="0"/>
          </a:p>
        </p:txBody>
      </p:sp>
      <p:sp>
        <p:nvSpPr>
          <p:cNvPr id="14" name="Shape 11"/>
          <p:cNvSpPr/>
          <p:nvPr/>
        </p:nvSpPr>
        <p:spPr>
          <a:xfrm>
            <a:off x="320040" y="2322576"/>
            <a:ext cx="8503920" cy="438912"/>
          </a:xfrm>
          <a:prstGeom prst="rect">
            <a:avLst/>
          </a:prstGeom>
          <a:solidFill>
            <a:srgbClr val="162032"/>
          </a:solidFill>
          <a:ln w="12700">
            <a:solidFill>
              <a:srgbClr val="1E3A5F"/>
            </a:solidFill>
            <a:prstDash val="solid"/>
          </a:ln>
        </p:spPr>
      </p:sp>
      <p:sp>
        <p:nvSpPr>
          <p:cNvPr id="15" name="Shape 12"/>
          <p:cNvSpPr/>
          <p:nvPr/>
        </p:nvSpPr>
        <p:spPr>
          <a:xfrm>
            <a:off x="438912" y="2450592"/>
            <a:ext cx="182880" cy="182880"/>
          </a:xfrm>
          <a:prstGeom prst="ellipse">
            <a:avLst/>
          </a:prstGeom>
          <a:solidFill>
            <a:srgbClr val="E63946"/>
          </a:solidFill>
          <a:ln w="12700">
            <a:solidFill>
              <a:srgbClr val="E63946"/>
            </a:solidFill>
            <a:prstDash val="solid"/>
          </a:ln>
        </p:spPr>
      </p:sp>
      <p:sp>
        <p:nvSpPr>
          <p:cNvPr id="16" name="Text 13"/>
          <p:cNvSpPr/>
          <p:nvPr/>
        </p:nvSpPr>
        <p:spPr>
          <a:xfrm>
            <a:off x="713232" y="2377440"/>
            <a:ext cx="3657600" cy="32004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C:\Users\&lt;user&gt;\AppData\Local\Temp\</a:t>
            </a:r>
            <a:endParaRPr lang="en-US" sz="1050" dirty="0"/>
          </a:p>
        </p:txBody>
      </p:sp>
      <p:sp>
        <p:nvSpPr>
          <p:cNvPr id="17" name="Text 14"/>
          <p:cNvSpPr/>
          <p:nvPr/>
        </p:nvSpPr>
        <p:spPr>
          <a:xfrm>
            <a:off x="4480560" y="2377440"/>
            <a:ext cx="4206240" cy="320040"/>
          </a:xfrm>
          <a:prstGeom prst="rect">
            <a:avLst/>
          </a:prstGeom>
          <a:noFill/>
          <a:ln/>
        </p:spPr>
        <p:txBody>
          <a:bodyPr wrap="square" rtlCol="0" anchor="ctr"/>
          <a:lstStyle/>
          <a:p>
            <a:pPr marL="0" indent="0">
              <a:buNone/>
            </a:pPr>
            <a:r>
              <a:rPr lang="en-US" sz="1100" dirty="0">
                <a:solidFill>
                  <a:srgbClr val="E63946"/>
                </a:solidFill>
                <a:latin typeface="Calibri" pitchFamily="34" charset="0"/>
                <a:ea typeface="Calibri" pitchFamily="34" charset="-122"/>
                <a:cs typeface="Calibri" pitchFamily="34" charset="-120"/>
              </a:rPr>
              <a:t>SUSPICIOUS — writable without admin rights, used by malware to avoid detection</a:t>
            </a:r>
            <a:endParaRPr lang="en-US" sz="1100" dirty="0"/>
          </a:p>
        </p:txBody>
      </p:sp>
      <p:sp>
        <p:nvSpPr>
          <p:cNvPr id="18" name="Shape 15"/>
          <p:cNvSpPr/>
          <p:nvPr/>
        </p:nvSpPr>
        <p:spPr>
          <a:xfrm>
            <a:off x="320040" y="2825496"/>
            <a:ext cx="8503920" cy="438912"/>
          </a:xfrm>
          <a:prstGeom prst="rect">
            <a:avLst/>
          </a:prstGeom>
          <a:solidFill>
            <a:srgbClr val="162032"/>
          </a:solidFill>
          <a:ln w="12700">
            <a:solidFill>
              <a:srgbClr val="1E3A5F"/>
            </a:solidFill>
            <a:prstDash val="solid"/>
          </a:ln>
        </p:spPr>
      </p:sp>
      <p:sp>
        <p:nvSpPr>
          <p:cNvPr id="19" name="Shape 16"/>
          <p:cNvSpPr/>
          <p:nvPr/>
        </p:nvSpPr>
        <p:spPr>
          <a:xfrm>
            <a:off x="438912" y="2953512"/>
            <a:ext cx="182880" cy="182880"/>
          </a:xfrm>
          <a:prstGeom prst="ellipse">
            <a:avLst/>
          </a:prstGeom>
          <a:solidFill>
            <a:srgbClr val="FFB703"/>
          </a:solidFill>
          <a:ln w="12700">
            <a:solidFill>
              <a:srgbClr val="FFB703"/>
            </a:solidFill>
            <a:prstDash val="solid"/>
          </a:ln>
        </p:spPr>
      </p:sp>
      <p:sp>
        <p:nvSpPr>
          <p:cNvPr id="20" name="Text 17"/>
          <p:cNvSpPr/>
          <p:nvPr/>
        </p:nvSpPr>
        <p:spPr>
          <a:xfrm>
            <a:off x="713232" y="2880360"/>
            <a:ext cx="3657600" cy="32004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C:\Users\&lt;user&gt;\Downloads\</a:t>
            </a:r>
            <a:endParaRPr lang="en-US" sz="1050" dirty="0"/>
          </a:p>
        </p:txBody>
      </p:sp>
      <p:sp>
        <p:nvSpPr>
          <p:cNvPr id="21" name="Text 18"/>
          <p:cNvSpPr/>
          <p:nvPr/>
        </p:nvSpPr>
        <p:spPr>
          <a:xfrm>
            <a:off x="4480560" y="2880360"/>
            <a:ext cx="4206240" cy="320040"/>
          </a:xfrm>
          <a:prstGeom prst="rect">
            <a:avLst/>
          </a:prstGeom>
          <a:noFill/>
          <a:ln/>
        </p:spPr>
        <p:txBody>
          <a:bodyPr wrap="square" rtlCol="0" anchor="ctr"/>
          <a:lstStyle/>
          <a:p>
            <a:pPr marL="0" indent="0">
              <a:buNone/>
            </a:pPr>
            <a:r>
              <a:rPr lang="en-US" sz="1100" dirty="0">
                <a:solidFill>
                  <a:srgbClr val="FFB703"/>
                </a:solidFill>
                <a:latin typeface="Calibri" pitchFamily="34" charset="0"/>
                <a:ea typeface="Calibri" pitchFamily="34" charset="-122"/>
                <a:cs typeface="Calibri" pitchFamily="34" charset="-120"/>
              </a:rPr>
              <a:t>INVESTIGATE — one-off tool downloads, attacker tools often dropped here</a:t>
            </a:r>
            <a:endParaRPr lang="en-US" sz="1100" dirty="0"/>
          </a:p>
        </p:txBody>
      </p:sp>
      <p:sp>
        <p:nvSpPr>
          <p:cNvPr id="22" name="Shape 19"/>
          <p:cNvSpPr/>
          <p:nvPr/>
        </p:nvSpPr>
        <p:spPr>
          <a:xfrm>
            <a:off x="320040" y="3328416"/>
            <a:ext cx="8503920" cy="438912"/>
          </a:xfrm>
          <a:prstGeom prst="rect">
            <a:avLst/>
          </a:prstGeom>
          <a:solidFill>
            <a:srgbClr val="162032"/>
          </a:solidFill>
          <a:ln w="12700">
            <a:solidFill>
              <a:srgbClr val="1E3A5F"/>
            </a:solidFill>
            <a:prstDash val="solid"/>
          </a:ln>
        </p:spPr>
      </p:sp>
      <p:sp>
        <p:nvSpPr>
          <p:cNvPr id="23" name="Shape 20"/>
          <p:cNvSpPr/>
          <p:nvPr/>
        </p:nvSpPr>
        <p:spPr>
          <a:xfrm>
            <a:off x="438912" y="3456432"/>
            <a:ext cx="182880" cy="182880"/>
          </a:xfrm>
          <a:prstGeom prst="ellipse">
            <a:avLst/>
          </a:prstGeom>
          <a:solidFill>
            <a:srgbClr val="E63946"/>
          </a:solidFill>
          <a:ln w="12700">
            <a:solidFill>
              <a:srgbClr val="E63946"/>
            </a:solidFill>
            <a:prstDash val="solid"/>
          </a:ln>
        </p:spPr>
      </p:sp>
      <p:sp>
        <p:nvSpPr>
          <p:cNvPr id="24" name="Text 21"/>
          <p:cNvSpPr/>
          <p:nvPr/>
        </p:nvSpPr>
        <p:spPr>
          <a:xfrm>
            <a:off x="713232" y="3383280"/>
            <a:ext cx="3657600" cy="32004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D:\ or E:\ (external drive)</a:t>
            </a:r>
            <a:endParaRPr lang="en-US" sz="1050" dirty="0"/>
          </a:p>
        </p:txBody>
      </p:sp>
      <p:sp>
        <p:nvSpPr>
          <p:cNvPr id="25" name="Text 22"/>
          <p:cNvSpPr/>
          <p:nvPr/>
        </p:nvSpPr>
        <p:spPr>
          <a:xfrm>
            <a:off x="4480560" y="3383280"/>
            <a:ext cx="4206240" cy="320040"/>
          </a:xfrm>
          <a:prstGeom prst="rect">
            <a:avLst/>
          </a:prstGeom>
          <a:noFill/>
          <a:ln/>
        </p:spPr>
        <p:txBody>
          <a:bodyPr wrap="square" rtlCol="0" anchor="ctr"/>
          <a:lstStyle/>
          <a:p>
            <a:pPr marL="0" indent="0">
              <a:buNone/>
            </a:pPr>
            <a:r>
              <a:rPr lang="en-US" sz="1100" dirty="0">
                <a:solidFill>
                  <a:srgbClr val="E63946"/>
                </a:solidFill>
                <a:latin typeface="Calibri" pitchFamily="34" charset="0"/>
                <a:ea typeface="Calibri" pitchFamily="34" charset="-122"/>
                <a:cs typeface="Calibri" pitchFamily="34" charset="-120"/>
              </a:rPr>
              <a:t>SUSPICIOUS — running from USB or external drive, common for attacker toolkits</a:t>
            </a:r>
            <a:endParaRPr lang="en-US" sz="1100" dirty="0"/>
          </a:p>
        </p:txBody>
      </p:sp>
      <p:sp>
        <p:nvSpPr>
          <p:cNvPr id="26" name="Shape 23"/>
          <p:cNvSpPr/>
          <p:nvPr/>
        </p:nvSpPr>
        <p:spPr>
          <a:xfrm>
            <a:off x="320040" y="3831336"/>
            <a:ext cx="8503920" cy="438912"/>
          </a:xfrm>
          <a:prstGeom prst="rect">
            <a:avLst/>
          </a:prstGeom>
          <a:solidFill>
            <a:srgbClr val="162032"/>
          </a:solidFill>
          <a:ln w="12700">
            <a:solidFill>
              <a:srgbClr val="1E3A5F"/>
            </a:solidFill>
            <a:prstDash val="solid"/>
          </a:ln>
        </p:spPr>
      </p:sp>
      <p:sp>
        <p:nvSpPr>
          <p:cNvPr id="27" name="Shape 24"/>
          <p:cNvSpPr/>
          <p:nvPr/>
        </p:nvSpPr>
        <p:spPr>
          <a:xfrm>
            <a:off x="438912" y="3959352"/>
            <a:ext cx="182880" cy="182880"/>
          </a:xfrm>
          <a:prstGeom prst="ellipse">
            <a:avLst/>
          </a:prstGeom>
          <a:solidFill>
            <a:srgbClr val="FFB703"/>
          </a:solidFill>
          <a:ln w="12700">
            <a:solidFill>
              <a:srgbClr val="FFB703"/>
            </a:solidFill>
            <a:prstDash val="solid"/>
          </a:ln>
        </p:spPr>
      </p:sp>
      <p:sp>
        <p:nvSpPr>
          <p:cNvPr id="28" name="Text 25"/>
          <p:cNvSpPr/>
          <p:nvPr/>
        </p:nvSpPr>
        <p:spPr>
          <a:xfrm>
            <a:off x="713232" y="3886200"/>
            <a:ext cx="3657600" cy="32004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C:\Users\&lt;user&gt;\AppData\Roaming\</a:t>
            </a:r>
            <a:endParaRPr lang="en-US" sz="1050" dirty="0"/>
          </a:p>
        </p:txBody>
      </p:sp>
      <p:sp>
        <p:nvSpPr>
          <p:cNvPr id="29" name="Text 26"/>
          <p:cNvSpPr/>
          <p:nvPr/>
        </p:nvSpPr>
        <p:spPr>
          <a:xfrm>
            <a:off x="4480560" y="3886200"/>
            <a:ext cx="4206240" cy="320040"/>
          </a:xfrm>
          <a:prstGeom prst="rect">
            <a:avLst/>
          </a:prstGeom>
          <a:noFill/>
          <a:ln/>
        </p:spPr>
        <p:txBody>
          <a:bodyPr wrap="square" rtlCol="0" anchor="ctr"/>
          <a:lstStyle/>
          <a:p>
            <a:pPr marL="0" indent="0">
              <a:buNone/>
            </a:pPr>
            <a:r>
              <a:rPr lang="en-US" sz="1100" dirty="0">
                <a:solidFill>
                  <a:srgbClr val="FFB703"/>
                </a:solidFill>
                <a:latin typeface="Calibri" pitchFamily="34" charset="0"/>
                <a:ea typeface="Calibri" pitchFamily="34" charset="-122"/>
                <a:cs typeface="Calibri" pitchFamily="34" charset="-120"/>
              </a:rPr>
              <a:t>INVESTIGATE — some legit apps, but also common persistence location</a:t>
            </a:r>
            <a:endParaRPr lang="en-US" sz="1100" dirty="0"/>
          </a:p>
        </p:txBody>
      </p:sp>
      <p:sp>
        <p:nvSpPr>
          <p:cNvPr id="30" name="Shape 27"/>
          <p:cNvSpPr/>
          <p:nvPr/>
        </p:nvSpPr>
        <p:spPr>
          <a:xfrm>
            <a:off x="320040" y="4334256"/>
            <a:ext cx="8503920" cy="438912"/>
          </a:xfrm>
          <a:prstGeom prst="rect">
            <a:avLst/>
          </a:prstGeom>
          <a:solidFill>
            <a:srgbClr val="162032"/>
          </a:solidFill>
          <a:ln w="12700">
            <a:solidFill>
              <a:srgbClr val="1E3A5F"/>
            </a:solidFill>
            <a:prstDash val="solid"/>
          </a:ln>
        </p:spPr>
      </p:sp>
      <p:sp>
        <p:nvSpPr>
          <p:cNvPr id="31" name="Shape 28"/>
          <p:cNvSpPr/>
          <p:nvPr/>
        </p:nvSpPr>
        <p:spPr>
          <a:xfrm>
            <a:off x="438912" y="4462272"/>
            <a:ext cx="182880" cy="182880"/>
          </a:xfrm>
          <a:prstGeom prst="ellipse">
            <a:avLst/>
          </a:prstGeom>
          <a:solidFill>
            <a:srgbClr val="E63946"/>
          </a:solidFill>
          <a:ln w="12700">
            <a:solidFill>
              <a:srgbClr val="E63946"/>
            </a:solidFill>
            <a:prstDash val="solid"/>
          </a:ln>
        </p:spPr>
      </p:sp>
      <p:sp>
        <p:nvSpPr>
          <p:cNvPr id="32" name="Text 29"/>
          <p:cNvSpPr/>
          <p:nvPr/>
        </p:nvSpPr>
        <p:spPr>
          <a:xfrm>
            <a:off x="713232" y="4389120"/>
            <a:ext cx="3657600" cy="32004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C:\Windows\Temp\</a:t>
            </a:r>
            <a:endParaRPr lang="en-US" sz="1050" dirty="0"/>
          </a:p>
        </p:txBody>
      </p:sp>
      <p:sp>
        <p:nvSpPr>
          <p:cNvPr id="33" name="Text 30"/>
          <p:cNvSpPr/>
          <p:nvPr/>
        </p:nvSpPr>
        <p:spPr>
          <a:xfrm>
            <a:off x="4480560" y="4389120"/>
            <a:ext cx="4206240" cy="320040"/>
          </a:xfrm>
          <a:prstGeom prst="rect">
            <a:avLst/>
          </a:prstGeom>
          <a:noFill/>
          <a:ln/>
        </p:spPr>
        <p:txBody>
          <a:bodyPr wrap="square" rtlCol="0" anchor="ctr"/>
          <a:lstStyle/>
          <a:p>
            <a:pPr marL="0" indent="0">
              <a:buNone/>
            </a:pPr>
            <a:r>
              <a:rPr lang="en-US" sz="1100" dirty="0">
                <a:solidFill>
                  <a:srgbClr val="E63946"/>
                </a:solidFill>
                <a:latin typeface="Calibri" pitchFamily="34" charset="0"/>
                <a:ea typeface="Calibri" pitchFamily="34" charset="-122"/>
                <a:cs typeface="Calibri" pitchFamily="34" charset="-120"/>
              </a:rPr>
              <a:t>SUSPICIOUS — temporary system folder, often abused for staging malware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pic>
        <p:nvPicPr>
          <p:cNvPr id="3" name="Image 0" descr="preencoded.png"/>
          <p:cNvPicPr>
            <a:picLocks noChangeAspect="1"/>
          </p:cNvPicPr>
          <p:nvPr/>
        </p:nvPicPr>
        <p:blipFill>
          <a:blip r:embed="rId3"/>
          <a:stretch>
            <a:fillRect/>
          </a:stretch>
        </p:blipFill>
        <p:spPr>
          <a:xfrm>
            <a:off x="365760" y="164592"/>
            <a:ext cx="640080" cy="640080"/>
          </a:xfrm>
          <a:prstGeom prst="rect">
            <a:avLst/>
          </a:prstGeom>
        </p:spPr>
      </p:pic>
      <p:sp>
        <p:nvSpPr>
          <p:cNvPr id="4" name="Text 1"/>
          <p:cNvSpPr/>
          <p:nvPr/>
        </p:nvSpPr>
        <p:spPr>
          <a:xfrm>
            <a:off x="1143000" y="164592"/>
            <a:ext cx="768096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Tool: PECmd — Parsing Prefetch Files</a:t>
            </a:r>
            <a:endParaRPr lang="en-US" sz="2400" dirty="0"/>
          </a:p>
        </p:txBody>
      </p:sp>
      <p:sp>
        <p:nvSpPr>
          <p:cNvPr id="5" name="Shape 2"/>
          <p:cNvSpPr/>
          <p:nvPr/>
        </p:nvSpPr>
        <p:spPr>
          <a:xfrm>
            <a:off x="320040" y="960120"/>
            <a:ext cx="4023360" cy="411480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6" name="Text 3"/>
          <p:cNvSpPr/>
          <p:nvPr/>
        </p:nvSpPr>
        <p:spPr>
          <a:xfrm>
            <a:off x="502920" y="1078992"/>
            <a:ext cx="3657600" cy="365760"/>
          </a:xfrm>
          <a:prstGeom prst="rect">
            <a:avLst/>
          </a:prstGeom>
          <a:noFill/>
          <a:ln/>
        </p:spPr>
        <p:txBody>
          <a:bodyPr wrap="square" rtlCol="0" anchor="ctr"/>
          <a:lstStyle/>
          <a:p>
            <a:pPr marL="0" indent="0">
              <a:buNone/>
            </a:pPr>
            <a:r>
              <a:rPr lang="en-US" sz="1400" b="1" dirty="0">
                <a:solidFill>
                  <a:srgbClr val="C77DFF"/>
                </a:solidFill>
                <a:latin typeface="Calibri" pitchFamily="34" charset="0"/>
                <a:ea typeface="Calibri" pitchFamily="34" charset="-122"/>
                <a:cs typeface="Calibri" pitchFamily="34" charset="-120"/>
              </a:rPr>
              <a:t>How to Use PECmd</a:t>
            </a:r>
            <a:endParaRPr lang="en-US" sz="1400" dirty="0"/>
          </a:p>
        </p:txBody>
      </p:sp>
      <p:sp>
        <p:nvSpPr>
          <p:cNvPr id="7" name="Text 4"/>
          <p:cNvSpPr/>
          <p:nvPr/>
        </p:nvSpPr>
        <p:spPr>
          <a:xfrm>
            <a:off x="502920" y="1508760"/>
            <a:ext cx="3657600" cy="3383280"/>
          </a:xfrm>
          <a:prstGeom prst="rect">
            <a:avLst/>
          </a:prstGeom>
          <a:noFill/>
          <a:ln/>
        </p:spPr>
        <p:txBody>
          <a:bodyPr wrap="square" rtlCol="0" anchor="ctr"/>
          <a:lstStyle/>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1. Copy the entire C:\Windows\Prefetch directory to your working folder first. Never work on the originals.</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2. Run PECmd with the CSV output option against the copied folder</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3. You get one CSV file with every prefetch entry as a row</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4. Open in spreadsheet — sort, filter, and investigate from there</a:t>
            </a:r>
            <a:endParaRPr lang="en-US" sz="1200" dirty="0"/>
          </a:p>
        </p:txBody>
      </p:sp>
      <p:sp>
        <p:nvSpPr>
          <p:cNvPr id="8" name="Shape 5"/>
          <p:cNvSpPr/>
          <p:nvPr/>
        </p:nvSpPr>
        <p:spPr>
          <a:xfrm>
            <a:off x="4572000" y="960120"/>
            <a:ext cx="4251960" cy="411480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9" name="Text 6"/>
          <p:cNvSpPr/>
          <p:nvPr/>
        </p:nvSpPr>
        <p:spPr>
          <a:xfrm>
            <a:off x="4754880" y="1078992"/>
            <a:ext cx="3886200" cy="365760"/>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Analysis Workflow</a:t>
            </a:r>
            <a:endParaRPr lang="en-US" sz="1400" dirty="0"/>
          </a:p>
        </p:txBody>
      </p:sp>
      <p:sp>
        <p:nvSpPr>
          <p:cNvPr id="10" name="Text 7"/>
          <p:cNvSpPr/>
          <p:nvPr/>
        </p:nvSpPr>
        <p:spPr>
          <a:xfrm>
            <a:off x="4754880" y="1508760"/>
            <a:ext cx="3886200" cy="3383280"/>
          </a:xfrm>
          <a:prstGeom prst="rect">
            <a:avLst/>
          </a:prstGeom>
          <a:noFill/>
          <a:ln/>
        </p:spPr>
        <p:txBody>
          <a:bodyPr wrap="square" rtlCol="0" anchor="ctr"/>
          <a:lstStyle/>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Sort by Run Count — find the top 20 most-run programs. Build a baseline of normal.</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Filter for suspicious paths — look for Temp, Downloads, random directory names</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Sort by Last Run Timestamp — build a timeline of recent execution activity</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Look for clusters — multiple suspicious tools run within minutes of each other suggests an attack session</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Cross-reference with event logs — if an RDP login happened at 03:00, what programs ran at 03:01?</a:t>
            </a:r>
            <a:endParaRPr lang="en-US" sz="1200" dirty="0"/>
          </a:p>
        </p:txBody>
      </p:sp>
      <p:sp>
        <p:nvSpPr>
          <p:cNvPr id="11" name="Shape 8"/>
          <p:cNvSpPr/>
          <p:nvPr/>
        </p:nvSpPr>
        <p:spPr>
          <a:xfrm>
            <a:off x="320040" y="5138928"/>
            <a:ext cx="8503920" cy="347472"/>
          </a:xfrm>
          <a:prstGeom prst="rect">
            <a:avLst/>
          </a:prstGeom>
          <a:solidFill>
            <a:srgbClr val="0A1A30"/>
          </a:solidFill>
          <a:ln w="12700">
            <a:solidFill>
              <a:srgbClr val="9B5DE5"/>
            </a:solidFill>
            <a:prstDash val="solid"/>
          </a:ln>
        </p:spPr>
      </p:sp>
      <p:sp>
        <p:nvSpPr>
          <p:cNvPr id="12" name="Text 9"/>
          <p:cNvSpPr/>
          <p:nvPr/>
        </p:nvSpPr>
        <p:spPr>
          <a:xfrm>
            <a:off x="502920" y="5157216"/>
            <a:ext cx="8229600" cy="310896"/>
          </a:xfrm>
          <a:prstGeom prst="rect">
            <a:avLst/>
          </a:prstGeom>
          <a:noFill/>
          <a:ln/>
        </p:spPr>
        <p:txBody>
          <a:bodyPr wrap="square" rtlCol="0" anchor="ctr"/>
          <a:lstStyle/>
          <a:p>
            <a:pPr marL="0" indent="0">
              <a:buNone/>
            </a:pPr>
            <a:r>
              <a:rPr lang="en-US" sz="1100" b="1" dirty="0">
                <a:solidFill>
                  <a:srgbClr val="C77DFF"/>
                </a:solidFill>
                <a:latin typeface="Calibri" pitchFamily="34" charset="0"/>
                <a:ea typeface="Calibri" pitchFamily="34" charset="-122"/>
                <a:cs typeface="Calibri" pitchFamily="34" charset="-120"/>
              </a:rPr>
              <a:t>LIVE DEMO: Parsing prefetch files with PECmd and identifying suspicious execution paths in the CSV output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0" y="54864"/>
            <a:ext cx="164592" cy="5084064"/>
          </a:xfrm>
          <a:prstGeom prst="rect">
            <a:avLst/>
          </a:prstGeom>
          <a:solidFill>
            <a:srgbClr val="FFB703"/>
          </a:solidFill>
          <a:ln w="12700">
            <a:solidFill>
              <a:srgbClr val="FFB703"/>
            </a:solidFill>
            <a:prstDash val="solid"/>
          </a:ln>
        </p:spPr>
      </p:sp>
      <p:sp>
        <p:nvSpPr>
          <p:cNvPr id="4" name="Text 2"/>
          <p:cNvSpPr/>
          <p:nvPr/>
        </p:nvSpPr>
        <p:spPr>
          <a:xfrm>
            <a:off x="320040" y="137160"/>
            <a:ext cx="8503920" cy="320040"/>
          </a:xfrm>
          <a:prstGeom prst="rect">
            <a:avLst/>
          </a:prstGeom>
          <a:noFill/>
          <a:ln/>
        </p:spPr>
        <p:txBody>
          <a:bodyPr wrap="square" rtlCol="0" anchor="ctr"/>
          <a:lstStyle/>
          <a:p>
            <a:pPr marL="0" indent="0">
              <a:buNone/>
            </a:pPr>
            <a:r>
              <a:rPr lang="en-US" sz="1100" b="1" kern="0" spc="400" dirty="0">
                <a:solidFill>
                  <a:srgbClr val="FFB703"/>
                </a:solidFill>
                <a:latin typeface="Calibri" pitchFamily="34" charset="0"/>
                <a:ea typeface="Calibri" pitchFamily="34" charset="-122"/>
                <a:cs typeface="Calibri" pitchFamily="34" charset="-120"/>
              </a:rPr>
              <a:t>PART 3</a:t>
            </a:r>
            <a:endParaRPr lang="en-US" sz="1100" dirty="0"/>
          </a:p>
        </p:txBody>
      </p:sp>
      <p:sp>
        <p:nvSpPr>
          <p:cNvPr id="5" name="Text 3"/>
          <p:cNvSpPr/>
          <p:nvPr/>
        </p:nvSpPr>
        <p:spPr>
          <a:xfrm>
            <a:off x="320040" y="41148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Cache, Thumbcache &amp; Deleted File Recovery</a:t>
            </a:r>
            <a:endParaRPr lang="en-US" sz="2600" dirty="0"/>
          </a:p>
        </p:txBody>
      </p:sp>
      <p:pic>
        <p:nvPicPr>
          <p:cNvPr id="6" name="Image 0" descr="preencoded.png"/>
          <p:cNvPicPr>
            <a:picLocks noChangeAspect="1"/>
          </p:cNvPicPr>
          <p:nvPr/>
        </p:nvPicPr>
        <p:blipFill>
          <a:blip r:embed="rId3"/>
          <a:stretch>
            <a:fillRect/>
          </a:stretch>
        </p:blipFill>
        <p:spPr>
          <a:xfrm>
            <a:off x="7589520" y="365760"/>
            <a:ext cx="1005840" cy="1005840"/>
          </a:xfrm>
          <a:prstGeom prst="rect">
            <a:avLst/>
          </a:prstGeom>
        </p:spPr>
      </p:pic>
      <p:sp>
        <p:nvSpPr>
          <p:cNvPr id="7" name="Text 4"/>
          <p:cNvSpPr/>
          <p:nvPr/>
        </p:nvSpPr>
        <p:spPr>
          <a:xfrm>
            <a:off x="320040" y="1188720"/>
            <a:ext cx="7772400" cy="384048"/>
          </a:xfrm>
          <a:prstGeom prst="rect">
            <a:avLst/>
          </a:prstGeom>
          <a:noFill/>
          <a:ln/>
        </p:spPr>
        <p:txBody>
          <a:bodyPr wrap="square" rtlCol="0" anchor="ctr"/>
          <a:lstStyle/>
          <a:p>
            <a:pPr marL="0" indent="0">
              <a:buNone/>
            </a:pPr>
            <a:r>
              <a:rPr lang="en-US" sz="1500" b="1" dirty="0">
                <a:solidFill>
                  <a:srgbClr val="FFB703"/>
                </a:solidFill>
                <a:latin typeface="Calibri" pitchFamily="34" charset="0"/>
                <a:ea typeface="Calibri" pitchFamily="34" charset="-122"/>
                <a:cs typeface="Calibri" pitchFamily="34" charset="-120"/>
              </a:rPr>
              <a:t>The Evidence That Outlives the Original File</a:t>
            </a:r>
            <a:endParaRPr lang="en-US" sz="1500" dirty="0"/>
          </a:p>
        </p:txBody>
      </p:sp>
      <p:sp>
        <p:nvSpPr>
          <p:cNvPr id="8" name="Shape 5"/>
          <p:cNvSpPr/>
          <p:nvPr/>
        </p:nvSpPr>
        <p:spPr>
          <a:xfrm>
            <a:off x="320040" y="1664208"/>
            <a:ext cx="8503920" cy="10515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9" name="Image 1" descr="preencoded.png"/>
          <p:cNvPicPr>
            <a:picLocks noChangeAspect="1"/>
          </p:cNvPicPr>
          <p:nvPr/>
        </p:nvPicPr>
        <p:blipFill>
          <a:blip r:embed="rId4"/>
          <a:stretch>
            <a:fillRect/>
          </a:stretch>
        </p:blipFill>
        <p:spPr>
          <a:xfrm>
            <a:off x="457200" y="1938528"/>
            <a:ext cx="457200" cy="457200"/>
          </a:xfrm>
          <a:prstGeom prst="rect">
            <a:avLst/>
          </a:prstGeom>
        </p:spPr>
      </p:pic>
      <p:sp>
        <p:nvSpPr>
          <p:cNvPr id="10" name="Text 6"/>
          <p:cNvSpPr/>
          <p:nvPr/>
        </p:nvSpPr>
        <p:spPr>
          <a:xfrm>
            <a:off x="1051560" y="1737360"/>
            <a:ext cx="7589520" cy="320040"/>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Thumbcache</a:t>
            </a:r>
            <a:endParaRPr lang="en-US" sz="1400" dirty="0"/>
          </a:p>
        </p:txBody>
      </p:sp>
      <p:sp>
        <p:nvSpPr>
          <p:cNvPr id="11" name="Text 7"/>
          <p:cNvSpPr/>
          <p:nvPr/>
        </p:nvSpPr>
        <p:spPr>
          <a:xfrm>
            <a:off x="1051560" y="2048256"/>
            <a:ext cx="7589520" cy="54864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When a user opens a folder with images, Windows generates thumbnail previews and stores them in separate database files in the user profile. These thumbnails persist even after the original images are deleted. Proof of what the user viewed.</a:t>
            </a:r>
            <a:endParaRPr lang="en-US" sz="1100" dirty="0"/>
          </a:p>
        </p:txBody>
      </p:sp>
      <p:sp>
        <p:nvSpPr>
          <p:cNvPr id="12" name="Shape 8"/>
          <p:cNvSpPr/>
          <p:nvPr/>
        </p:nvSpPr>
        <p:spPr>
          <a:xfrm>
            <a:off x="320040" y="2816352"/>
            <a:ext cx="8503920" cy="10515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13" name="Image 2" descr="preencoded.png"/>
          <p:cNvPicPr>
            <a:picLocks noChangeAspect="1"/>
          </p:cNvPicPr>
          <p:nvPr/>
        </p:nvPicPr>
        <p:blipFill>
          <a:blip r:embed="rId5"/>
          <a:stretch>
            <a:fillRect/>
          </a:stretch>
        </p:blipFill>
        <p:spPr>
          <a:xfrm>
            <a:off x="457200" y="3090672"/>
            <a:ext cx="457200" cy="457200"/>
          </a:xfrm>
          <a:prstGeom prst="rect">
            <a:avLst/>
          </a:prstGeom>
        </p:spPr>
      </p:pic>
      <p:sp>
        <p:nvSpPr>
          <p:cNvPr id="14" name="Text 9"/>
          <p:cNvSpPr/>
          <p:nvPr/>
        </p:nvSpPr>
        <p:spPr>
          <a:xfrm>
            <a:off x="1051560" y="2889504"/>
            <a:ext cx="7589520" cy="320040"/>
          </a:xfrm>
          <a:prstGeom prst="rect">
            <a:avLst/>
          </a:prstGeom>
          <a:noFill/>
          <a:ln/>
        </p:spPr>
        <p:txBody>
          <a:bodyPr wrap="square" rtlCol="0" anchor="ctr"/>
          <a:lstStyle/>
          <a:p>
            <a:pPr marL="0" indent="0">
              <a:buNone/>
            </a:pPr>
            <a:r>
              <a:rPr lang="en-US" sz="1400" b="1" dirty="0">
                <a:solidFill>
                  <a:srgbClr val="48CAE4"/>
                </a:solidFill>
                <a:latin typeface="Calibri" pitchFamily="34" charset="0"/>
                <a:ea typeface="Calibri" pitchFamily="34" charset="-122"/>
                <a:cs typeface="Calibri" pitchFamily="34" charset="-120"/>
              </a:rPr>
              <a:t>Browser Cache</a:t>
            </a:r>
            <a:endParaRPr lang="en-US" sz="1400" dirty="0"/>
          </a:p>
        </p:txBody>
      </p:sp>
      <p:sp>
        <p:nvSpPr>
          <p:cNvPr id="15" name="Text 10"/>
          <p:cNvSpPr/>
          <p:nvPr/>
        </p:nvSpPr>
        <p:spPr>
          <a:xfrm>
            <a:off x="1051560" y="3200400"/>
            <a:ext cx="7589520" cy="54864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Browsers store local copies of web content (images, pages, metadata) to speed up repeated visits. A detailed record of what web content the user accessed, with timestamps.</a:t>
            </a:r>
            <a:endParaRPr lang="en-US" sz="1100" dirty="0"/>
          </a:p>
        </p:txBody>
      </p:sp>
      <p:sp>
        <p:nvSpPr>
          <p:cNvPr id="16" name="Shape 11"/>
          <p:cNvSpPr/>
          <p:nvPr/>
        </p:nvSpPr>
        <p:spPr>
          <a:xfrm>
            <a:off x="320040" y="3968496"/>
            <a:ext cx="8503920" cy="10515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pic>
        <p:nvPicPr>
          <p:cNvPr id="17" name="Image 3" descr="preencoded.png"/>
          <p:cNvPicPr>
            <a:picLocks noChangeAspect="1"/>
          </p:cNvPicPr>
          <p:nvPr/>
        </p:nvPicPr>
        <p:blipFill>
          <a:blip r:embed="rId6"/>
          <a:stretch>
            <a:fillRect/>
          </a:stretch>
        </p:blipFill>
        <p:spPr>
          <a:xfrm>
            <a:off x="457200" y="4242816"/>
            <a:ext cx="457200" cy="457200"/>
          </a:xfrm>
          <a:prstGeom prst="rect">
            <a:avLst/>
          </a:prstGeom>
        </p:spPr>
      </p:pic>
      <p:sp>
        <p:nvSpPr>
          <p:cNvPr id="18" name="Text 12"/>
          <p:cNvSpPr/>
          <p:nvPr/>
        </p:nvSpPr>
        <p:spPr>
          <a:xfrm>
            <a:off x="1051560" y="4041648"/>
            <a:ext cx="7589520" cy="320040"/>
          </a:xfrm>
          <a:prstGeom prst="rect">
            <a:avLst/>
          </a:prstGeom>
          <a:noFill/>
          <a:ln/>
        </p:spPr>
        <p:txBody>
          <a:bodyPr wrap="square" rtlCol="0" anchor="ctr"/>
          <a:lstStyle/>
          <a:p>
            <a:pPr marL="0" indent="0">
              <a:buNone/>
            </a:pPr>
            <a:r>
              <a:rPr lang="en-US" sz="1400" b="1" dirty="0">
                <a:solidFill>
                  <a:srgbClr val="FFB703"/>
                </a:solidFill>
                <a:latin typeface="Calibri" pitchFamily="34" charset="0"/>
                <a:ea typeface="Calibri" pitchFamily="34" charset="-122"/>
                <a:cs typeface="Calibri" pitchFamily="34" charset="-120"/>
              </a:rPr>
              <a:t>Recycle Bin &amp; Unallocated Space</a:t>
            </a:r>
            <a:endParaRPr lang="en-US" sz="1400" dirty="0"/>
          </a:p>
        </p:txBody>
      </p:sp>
      <p:sp>
        <p:nvSpPr>
          <p:cNvPr id="19" name="Text 13"/>
          <p:cNvSpPr/>
          <p:nvPr/>
        </p:nvSpPr>
        <p:spPr>
          <a:xfrm>
            <a:off x="1051560" y="4352544"/>
            <a:ext cx="7589520" cy="54864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Deleted files sit in the Recycle Bin until emptied. After emptying, file data remains on disk until overwritten. Files can be recovered long after deletion. The $I file preserves the original path and deletion timestamp.</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Why Deleted Evidence Survives</a:t>
            </a:r>
            <a:endParaRPr lang="en-US" sz="2800" dirty="0"/>
          </a:p>
        </p:txBody>
      </p:sp>
      <p:sp>
        <p:nvSpPr>
          <p:cNvPr id="4" name="Text 2"/>
          <p:cNvSpPr/>
          <p:nvPr/>
        </p:nvSpPr>
        <p:spPr>
          <a:xfrm>
            <a:off x="365760" y="749808"/>
            <a:ext cx="8412480" cy="384048"/>
          </a:xfrm>
          <a:prstGeom prst="rect">
            <a:avLst/>
          </a:prstGeom>
          <a:noFill/>
          <a:ln/>
        </p:spPr>
        <p:txBody>
          <a:bodyPr wrap="square" rtlCol="0" anchor="ctr"/>
          <a:lstStyle/>
          <a:p>
            <a:pPr marL="0" indent="0">
              <a:buNone/>
            </a:pPr>
            <a:r>
              <a:rPr lang="en-US" sz="1300" i="1" dirty="0">
                <a:solidFill>
                  <a:srgbClr val="E8F4FD"/>
                </a:solidFill>
                <a:latin typeface="Calibri" pitchFamily="34" charset="0"/>
                <a:ea typeface="Calibri" pitchFamily="34" charset="-122"/>
                <a:cs typeface="Calibri" pitchFamily="34" charset="-120"/>
              </a:rPr>
              <a:t>Users think deleting a file destroys it. It does not. Understanding why is core to forensic investigation.</a:t>
            </a:r>
            <a:endParaRPr lang="en-US" sz="1300" dirty="0"/>
          </a:p>
        </p:txBody>
      </p:sp>
      <p:sp>
        <p:nvSpPr>
          <p:cNvPr id="5" name="Shape 3"/>
          <p:cNvSpPr/>
          <p:nvPr/>
        </p:nvSpPr>
        <p:spPr>
          <a:xfrm>
            <a:off x="320040" y="1207008"/>
            <a:ext cx="8503920" cy="182880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6" name="Text 4"/>
          <p:cNvSpPr/>
          <p:nvPr/>
        </p:nvSpPr>
        <p:spPr>
          <a:xfrm>
            <a:off x="502920" y="1316736"/>
            <a:ext cx="8138160" cy="36576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What Actually Happens When You Delete a File</a:t>
            </a:r>
            <a:endParaRPr lang="en-US" sz="1300" dirty="0"/>
          </a:p>
        </p:txBody>
      </p:sp>
      <p:sp>
        <p:nvSpPr>
          <p:cNvPr id="7" name="Shape 5"/>
          <p:cNvSpPr/>
          <p:nvPr/>
        </p:nvSpPr>
        <p:spPr>
          <a:xfrm>
            <a:off x="502920" y="1719072"/>
            <a:ext cx="1234440" cy="713232"/>
          </a:xfrm>
          <a:prstGeom prst="rect">
            <a:avLst/>
          </a:prstGeom>
          <a:solidFill>
            <a:srgbClr val="162040"/>
          </a:solidFill>
          <a:ln w="12700">
            <a:solidFill>
              <a:srgbClr val="0077B6"/>
            </a:solidFill>
            <a:prstDash val="solid"/>
          </a:ln>
        </p:spPr>
      </p:sp>
      <p:sp>
        <p:nvSpPr>
          <p:cNvPr id="8" name="Text 6"/>
          <p:cNvSpPr/>
          <p:nvPr/>
        </p:nvSpPr>
        <p:spPr>
          <a:xfrm>
            <a:off x="502920" y="1719072"/>
            <a:ext cx="1234440" cy="713232"/>
          </a:xfrm>
          <a:prstGeom prst="rect">
            <a:avLst/>
          </a:prstGeom>
          <a:noFill/>
          <a:ln/>
        </p:spPr>
        <p:txBody>
          <a:bodyPr wrap="square" rtlCol="0" anchor="ctr"/>
          <a:lstStyle/>
          <a:p>
            <a:pPr marL="0" indent="0" algn="ctr">
              <a:buNone/>
            </a:pPr>
            <a:r>
              <a:rPr lang="en-US" sz="950" b="1" dirty="0">
                <a:solidFill>
                  <a:srgbClr val="0077B6"/>
                </a:solidFill>
                <a:latin typeface="Calibri" pitchFamily="34" charset="0"/>
                <a:ea typeface="Calibri" pitchFamily="34" charset="-122"/>
                <a:cs typeface="Calibri" pitchFamily="34" charset="-120"/>
              </a:rPr>
              <a:t>Delete file</a:t>
            </a:r>
            <a:endParaRPr lang="en-US" sz="950" dirty="0"/>
          </a:p>
        </p:txBody>
      </p:sp>
      <p:sp>
        <p:nvSpPr>
          <p:cNvPr id="9" name="Shape 7"/>
          <p:cNvSpPr/>
          <p:nvPr/>
        </p:nvSpPr>
        <p:spPr>
          <a:xfrm>
            <a:off x="1737360" y="2075688"/>
            <a:ext cx="155448" cy="0"/>
          </a:xfrm>
          <a:prstGeom prst="line">
            <a:avLst/>
          </a:prstGeom>
          <a:noFill/>
          <a:ln w="19050">
            <a:solidFill>
              <a:srgbClr val="8BB8D4"/>
            </a:solidFill>
            <a:prstDash val="solid"/>
          </a:ln>
        </p:spPr>
      </p:sp>
      <p:sp>
        <p:nvSpPr>
          <p:cNvPr id="10" name="Shape 8"/>
          <p:cNvSpPr/>
          <p:nvPr/>
        </p:nvSpPr>
        <p:spPr>
          <a:xfrm>
            <a:off x="1892808" y="1719072"/>
            <a:ext cx="1234440" cy="713232"/>
          </a:xfrm>
          <a:prstGeom prst="rect">
            <a:avLst/>
          </a:prstGeom>
          <a:solidFill>
            <a:srgbClr val="162040"/>
          </a:solidFill>
          <a:ln w="12700">
            <a:solidFill>
              <a:srgbClr val="0077B6"/>
            </a:solidFill>
            <a:prstDash val="solid"/>
          </a:ln>
        </p:spPr>
      </p:sp>
      <p:sp>
        <p:nvSpPr>
          <p:cNvPr id="11" name="Text 9"/>
          <p:cNvSpPr/>
          <p:nvPr/>
        </p:nvSpPr>
        <p:spPr>
          <a:xfrm>
            <a:off x="1892808" y="1719072"/>
            <a:ext cx="1234440" cy="713232"/>
          </a:xfrm>
          <a:prstGeom prst="rect">
            <a:avLst/>
          </a:prstGeom>
          <a:noFill/>
          <a:ln/>
        </p:spPr>
        <p:txBody>
          <a:bodyPr wrap="square" rtlCol="0" anchor="ctr"/>
          <a:lstStyle/>
          <a:p>
            <a:pPr marL="0" indent="0" algn="ctr">
              <a:buNone/>
            </a:pPr>
            <a:r>
              <a:rPr lang="en-US" sz="950" b="1" dirty="0">
                <a:solidFill>
                  <a:srgbClr val="0077B6"/>
                </a:solidFill>
                <a:latin typeface="Calibri" pitchFamily="34" charset="0"/>
                <a:ea typeface="Calibri" pitchFamily="34" charset="-122"/>
                <a:cs typeface="Calibri" pitchFamily="34" charset="-120"/>
              </a:rPr>
              <a:t>Moved to</a:t>
            </a:r>
            <a:endParaRPr lang="en-US" sz="950" dirty="0"/>
          </a:p>
          <a:p>
            <a:pPr marL="0" indent="0" algn="ctr">
              <a:buNone/>
            </a:pPr>
            <a:r>
              <a:rPr lang="en-US" sz="950" b="1" dirty="0">
                <a:solidFill>
                  <a:srgbClr val="0077B6"/>
                </a:solidFill>
                <a:latin typeface="Calibri" pitchFamily="34" charset="0"/>
                <a:ea typeface="Calibri" pitchFamily="34" charset="-122"/>
                <a:cs typeface="Calibri" pitchFamily="34" charset="-120"/>
              </a:rPr>
              <a:t>Recycle Bin</a:t>
            </a:r>
            <a:endParaRPr lang="en-US" sz="950" dirty="0"/>
          </a:p>
        </p:txBody>
      </p:sp>
      <p:sp>
        <p:nvSpPr>
          <p:cNvPr id="12" name="Shape 10"/>
          <p:cNvSpPr/>
          <p:nvPr/>
        </p:nvSpPr>
        <p:spPr>
          <a:xfrm>
            <a:off x="3127248" y="2075688"/>
            <a:ext cx="155448" cy="0"/>
          </a:xfrm>
          <a:prstGeom prst="line">
            <a:avLst/>
          </a:prstGeom>
          <a:noFill/>
          <a:ln w="19050">
            <a:solidFill>
              <a:srgbClr val="8BB8D4"/>
            </a:solidFill>
            <a:prstDash val="solid"/>
          </a:ln>
        </p:spPr>
      </p:sp>
      <p:sp>
        <p:nvSpPr>
          <p:cNvPr id="13" name="Shape 11"/>
          <p:cNvSpPr/>
          <p:nvPr/>
        </p:nvSpPr>
        <p:spPr>
          <a:xfrm>
            <a:off x="3282696" y="1719072"/>
            <a:ext cx="1234440" cy="713232"/>
          </a:xfrm>
          <a:prstGeom prst="rect">
            <a:avLst/>
          </a:prstGeom>
          <a:solidFill>
            <a:srgbClr val="162040"/>
          </a:solidFill>
          <a:ln w="12700">
            <a:solidFill>
              <a:srgbClr val="FFB703"/>
            </a:solidFill>
            <a:prstDash val="solid"/>
          </a:ln>
        </p:spPr>
      </p:sp>
      <p:sp>
        <p:nvSpPr>
          <p:cNvPr id="14" name="Text 12"/>
          <p:cNvSpPr/>
          <p:nvPr/>
        </p:nvSpPr>
        <p:spPr>
          <a:xfrm>
            <a:off x="3282696" y="1719072"/>
            <a:ext cx="1234440" cy="713232"/>
          </a:xfrm>
          <a:prstGeom prst="rect">
            <a:avLst/>
          </a:prstGeom>
          <a:noFill/>
          <a:ln/>
        </p:spPr>
        <p:txBody>
          <a:bodyPr wrap="square" rtlCol="0" anchor="ctr"/>
          <a:lstStyle/>
          <a:p>
            <a:pPr marL="0" indent="0" algn="ctr">
              <a:buNone/>
            </a:pPr>
            <a:r>
              <a:rPr lang="en-US" sz="950" b="1" dirty="0">
                <a:solidFill>
                  <a:srgbClr val="FFB703"/>
                </a:solidFill>
                <a:latin typeface="Calibri" pitchFamily="34" charset="0"/>
                <a:ea typeface="Calibri" pitchFamily="34" charset="-122"/>
                <a:cs typeface="Calibri" pitchFamily="34" charset="-120"/>
              </a:rPr>
              <a:t>Empty</a:t>
            </a:r>
            <a:endParaRPr lang="en-US" sz="950" dirty="0"/>
          </a:p>
          <a:p>
            <a:pPr marL="0" indent="0" algn="ctr">
              <a:buNone/>
            </a:pPr>
            <a:r>
              <a:rPr lang="en-US" sz="950" b="1" dirty="0">
                <a:solidFill>
                  <a:srgbClr val="FFB703"/>
                </a:solidFill>
                <a:latin typeface="Calibri" pitchFamily="34" charset="0"/>
                <a:ea typeface="Calibri" pitchFamily="34" charset="-122"/>
                <a:cs typeface="Calibri" pitchFamily="34" charset="-120"/>
              </a:rPr>
              <a:t>Recycle Bin</a:t>
            </a:r>
            <a:endParaRPr lang="en-US" sz="950" dirty="0"/>
          </a:p>
        </p:txBody>
      </p:sp>
      <p:sp>
        <p:nvSpPr>
          <p:cNvPr id="15" name="Shape 13"/>
          <p:cNvSpPr/>
          <p:nvPr/>
        </p:nvSpPr>
        <p:spPr>
          <a:xfrm>
            <a:off x="4517136" y="2075688"/>
            <a:ext cx="155448" cy="0"/>
          </a:xfrm>
          <a:prstGeom prst="line">
            <a:avLst/>
          </a:prstGeom>
          <a:noFill/>
          <a:ln w="19050">
            <a:solidFill>
              <a:srgbClr val="8BB8D4"/>
            </a:solidFill>
            <a:prstDash val="solid"/>
          </a:ln>
        </p:spPr>
      </p:sp>
      <p:sp>
        <p:nvSpPr>
          <p:cNvPr id="16" name="Shape 14"/>
          <p:cNvSpPr/>
          <p:nvPr/>
        </p:nvSpPr>
        <p:spPr>
          <a:xfrm>
            <a:off x="4672584" y="1719072"/>
            <a:ext cx="1234440" cy="713232"/>
          </a:xfrm>
          <a:prstGeom prst="rect">
            <a:avLst/>
          </a:prstGeom>
          <a:solidFill>
            <a:srgbClr val="162040"/>
          </a:solidFill>
          <a:ln w="12700">
            <a:solidFill>
              <a:srgbClr val="FFB703"/>
            </a:solidFill>
            <a:prstDash val="solid"/>
          </a:ln>
        </p:spPr>
      </p:sp>
      <p:sp>
        <p:nvSpPr>
          <p:cNvPr id="17" name="Text 15"/>
          <p:cNvSpPr/>
          <p:nvPr/>
        </p:nvSpPr>
        <p:spPr>
          <a:xfrm>
            <a:off x="4672584" y="1719072"/>
            <a:ext cx="1234440" cy="713232"/>
          </a:xfrm>
          <a:prstGeom prst="rect">
            <a:avLst/>
          </a:prstGeom>
          <a:noFill/>
          <a:ln/>
        </p:spPr>
        <p:txBody>
          <a:bodyPr wrap="square" rtlCol="0" anchor="ctr"/>
          <a:lstStyle/>
          <a:p>
            <a:pPr marL="0" indent="0" algn="ctr">
              <a:buNone/>
            </a:pPr>
            <a:r>
              <a:rPr lang="en-US" sz="950" b="1" dirty="0">
                <a:solidFill>
                  <a:srgbClr val="FFB703"/>
                </a:solidFill>
                <a:latin typeface="Calibri" pitchFamily="34" charset="0"/>
                <a:ea typeface="Calibri" pitchFamily="34" charset="-122"/>
                <a:cs typeface="Calibri" pitchFamily="34" charset="-120"/>
              </a:rPr>
              <a:t>Directory entry</a:t>
            </a:r>
            <a:endParaRPr lang="en-US" sz="950" dirty="0"/>
          </a:p>
          <a:p>
            <a:pPr marL="0" indent="0" algn="ctr">
              <a:buNone/>
            </a:pPr>
            <a:r>
              <a:rPr lang="en-US" sz="950" b="1" dirty="0">
                <a:solidFill>
                  <a:srgbClr val="FFB703"/>
                </a:solidFill>
                <a:latin typeface="Calibri" pitchFamily="34" charset="0"/>
                <a:ea typeface="Calibri" pitchFamily="34" charset="-122"/>
                <a:cs typeface="Calibri" pitchFamily="34" charset="-120"/>
              </a:rPr>
              <a:t>removed</a:t>
            </a:r>
            <a:endParaRPr lang="en-US" sz="950" dirty="0"/>
          </a:p>
        </p:txBody>
      </p:sp>
      <p:sp>
        <p:nvSpPr>
          <p:cNvPr id="18" name="Shape 16"/>
          <p:cNvSpPr/>
          <p:nvPr/>
        </p:nvSpPr>
        <p:spPr>
          <a:xfrm>
            <a:off x="5907024" y="2075688"/>
            <a:ext cx="155448" cy="0"/>
          </a:xfrm>
          <a:prstGeom prst="line">
            <a:avLst/>
          </a:prstGeom>
          <a:noFill/>
          <a:ln w="19050">
            <a:solidFill>
              <a:srgbClr val="8BB8D4"/>
            </a:solidFill>
            <a:prstDash val="solid"/>
          </a:ln>
        </p:spPr>
      </p:sp>
      <p:sp>
        <p:nvSpPr>
          <p:cNvPr id="19" name="Shape 17"/>
          <p:cNvSpPr/>
          <p:nvPr/>
        </p:nvSpPr>
        <p:spPr>
          <a:xfrm>
            <a:off x="6062472" y="1719072"/>
            <a:ext cx="1234440" cy="713232"/>
          </a:xfrm>
          <a:prstGeom prst="rect">
            <a:avLst/>
          </a:prstGeom>
          <a:solidFill>
            <a:srgbClr val="162040"/>
          </a:solidFill>
          <a:ln w="12700">
            <a:solidFill>
              <a:srgbClr val="E63946"/>
            </a:solidFill>
            <a:prstDash val="solid"/>
          </a:ln>
        </p:spPr>
      </p:sp>
      <p:sp>
        <p:nvSpPr>
          <p:cNvPr id="20" name="Text 18"/>
          <p:cNvSpPr/>
          <p:nvPr/>
        </p:nvSpPr>
        <p:spPr>
          <a:xfrm>
            <a:off x="6062472" y="1719072"/>
            <a:ext cx="1234440" cy="713232"/>
          </a:xfrm>
          <a:prstGeom prst="rect">
            <a:avLst/>
          </a:prstGeom>
          <a:noFill/>
          <a:ln/>
        </p:spPr>
        <p:txBody>
          <a:bodyPr wrap="square" rtlCol="0" anchor="ctr"/>
          <a:lstStyle/>
          <a:p>
            <a:pPr marL="0" indent="0" algn="ctr">
              <a:buNone/>
            </a:pPr>
            <a:r>
              <a:rPr lang="en-US" sz="950" b="1" dirty="0">
                <a:solidFill>
                  <a:srgbClr val="E63946"/>
                </a:solidFill>
                <a:latin typeface="Calibri" pitchFamily="34" charset="0"/>
                <a:ea typeface="Calibri" pitchFamily="34" charset="-122"/>
                <a:cs typeface="Calibri" pitchFamily="34" charset="-120"/>
              </a:rPr>
              <a:t>Space marked</a:t>
            </a:r>
            <a:endParaRPr lang="en-US" sz="950" dirty="0"/>
          </a:p>
          <a:p>
            <a:pPr marL="0" indent="0" algn="ctr">
              <a:buNone/>
            </a:pPr>
            <a:r>
              <a:rPr lang="en-US" sz="950" b="1" dirty="0">
                <a:solidFill>
                  <a:srgbClr val="E63946"/>
                </a:solidFill>
                <a:latin typeface="Calibri" pitchFamily="34" charset="0"/>
                <a:ea typeface="Calibri" pitchFamily="34" charset="-122"/>
                <a:cs typeface="Calibri" pitchFamily="34" charset="-120"/>
              </a:rPr>
              <a:t>as unallocated</a:t>
            </a:r>
            <a:endParaRPr lang="en-US" sz="950" dirty="0"/>
          </a:p>
        </p:txBody>
      </p:sp>
      <p:sp>
        <p:nvSpPr>
          <p:cNvPr id="21" name="Shape 19"/>
          <p:cNvSpPr/>
          <p:nvPr/>
        </p:nvSpPr>
        <p:spPr>
          <a:xfrm>
            <a:off x="7296912" y="2075688"/>
            <a:ext cx="155448" cy="0"/>
          </a:xfrm>
          <a:prstGeom prst="line">
            <a:avLst/>
          </a:prstGeom>
          <a:noFill/>
          <a:ln w="19050">
            <a:solidFill>
              <a:srgbClr val="8BB8D4"/>
            </a:solidFill>
            <a:prstDash val="solid"/>
          </a:ln>
        </p:spPr>
      </p:sp>
      <p:sp>
        <p:nvSpPr>
          <p:cNvPr id="22" name="Shape 20"/>
          <p:cNvSpPr/>
          <p:nvPr/>
        </p:nvSpPr>
        <p:spPr>
          <a:xfrm>
            <a:off x="7452360" y="1719072"/>
            <a:ext cx="1234440" cy="713232"/>
          </a:xfrm>
          <a:prstGeom prst="rect">
            <a:avLst/>
          </a:prstGeom>
          <a:solidFill>
            <a:srgbClr val="162040"/>
          </a:solidFill>
          <a:ln w="12700">
            <a:solidFill>
              <a:srgbClr val="00B090"/>
            </a:solidFill>
            <a:prstDash val="solid"/>
          </a:ln>
        </p:spPr>
      </p:sp>
      <p:sp>
        <p:nvSpPr>
          <p:cNvPr id="23" name="Text 21"/>
          <p:cNvSpPr/>
          <p:nvPr/>
        </p:nvSpPr>
        <p:spPr>
          <a:xfrm>
            <a:off x="7452360" y="1719072"/>
            <a:ext cx="1234440" cy="713232"/>
          </a:xfrm>
          <a:prstGeom prst="rect">
            <a:avLst/>
          </a:prstGeom>
          <a:noFill/>
          <a:ln/>
        </p:spPr>
        <p:txBody>
          <a:bodyPr wrap="square" rtlCol="0" anchor="ctr"/>
          <a:lstStyle/>
          <a:p>
            <a:pPr marL="0" indent="0" algn="ctr">
              <a:buNone/>
            </a:pPr>
            <a:r>
              <a:rPr lang="en-US" sz="950" b="1" dirty="0">
                <a:solidFill>
                  <a:srgbClr val="00B090"/>
                </a:solidFill>
                <a:latin typeface="Calibri" pitchFamily="34" charset="0"/>
                <a:ea typeface="Calibri" pitchFamily="34" charset="-122"/>
                <a:cs typeface="Calibri" pitchFamily="34" charset="-120"/>
              </a:rPr>
              <a:t>Data stays on</a:t>
            </a:r>
            <a:endParaRPr lang="en-US" sz="950" dirty="0"/>
          </a:p>
          <a:p>
            <a:pPr marL="0" indent="0" algn="ctr">
              <a:buNone/>
            </a:pPr>
            <a:r>
              <a:rPr lang="en-US" sz="950" b="1" dirty="0">
                <a:solidFill>
                  <a:srgbClr val="00B090"/>
                </a:solidFill>
                <a:latin typeface="Calibri" pitchFamily="34" charset="0"/>
                <a:ea typeface="Calibri" pitchFamily="34" charset="-122"/>
                <a:cs typeface="Calibri" pitchFamily="34" charset="-120"/>
              </a:rPr>
              <a:t>disk until overwritten</a:t>
            </a:r>
            <a:endParaRPr lang="en-US" sz="950" dirty="0"/>
          </a:p>
        </p:txBody>
      </p:sp>
      <p:sp>
        <p:nvSpPr>
          <p:cNvPr id="24" name="Shape 22"/>
          <p:cNvSpPr/>
          <p:nvPr/>
        </p:nvSpPr>
        <p:spPr>
          <a:xfrm>
            <a:off x="320040" y="3127248"/>
            <a:ext cx="4069080" cy="1920240"/>
          </a:xfrm>
          <a:prstGeom prst="rect">
            <a:avLst/>
          </a:prstGeom>
          <a:solidFill>
            <a:srgbClr val="162032"/>
          </a:solidFill>
          <a:ln w="12700">
            <a:solidFill>
              <a:srgbClr val="00B4D8"/>
            </a:solidFill>
            <a:prstDash val="solid"/>
          </a:ln>
          <a:effectLst>
            <a:outerShdw blurRad="101600" dist="38100" dir="8100000" algn="bl" rotWithShape="0">
              <a:srgbClr val="000000">
                <a:alpha val="30000"/>
              </a:srgbClr>
            </a:outerShdw>
          </a:effectLst>
        </p:spPr>
      </p:sp>
      <p:sp>
        <p:nvSpPr>
          <p:cNvPr id="25" name="Text 23"/>
          <p:cNvSpPr/>
          <p:nvPr/>
        </p:nvSpPr>
        <p:spPr>
          <a:xfrm>
            <a:off x="502920" y="3246120"/>
            <a:ext cx="3749040" cy="347472"/>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Thumbcache Independence</a:t>
            </a:r>
            <a:endParaRPr lang="en-US" sz="1300" dirty="0"/>
          </a:p>
        </p:txBody>
      </p:sp>
      <p:sp>
        <p:nvSpPr>
          <p:cNvPr id="26" name="Text 24"/>
          <p:cNvSpPr/>
          <p:nvPr/>
        </p:nvSpPr>
        <p:spPr>
          <a:xfrm>
            <a:off x="502920" y="3639312"/>
            <a:ext cx="3749040" cy="1298448"/>
          </a:xfrm>
          <a:prstGeom prst="rect">
            <a:avLst/>
          </a:prstGeom>
          <a:noFill/>
          <a:ln/>
        </p:spPr>
        <p:txBody>
          <a:bodyPr wrap="square" rtlCol="0" anchor="ctr"/>
          <a:lstStyle/>
          <a:p>
            <a:pPr marL="0" indent="0">
              <a:buNone/>
            </a:pPr>
            <a:r>
              <a:rPr lang="en-US" sz="1200" dirty="0">
                <a:solidFill>
                  <a:srgbClr val="E8F4FD"/>
                </a:solidFill>
                <a:latin typeface="Calibri" pitchFamily="34" charset="0"/>
                <a:ea typeface="Calibri" pitchFamily="34" charset="-122"/>
                <a:cs typeface="Calibri" pitchFamily="34" charset="-120"/>
              </a:rPr>
              <a:t>Thumbnails are stored in a separate database in the user profile — NOT in the same folder as the images. Deleting the original image does NOT delete the thumbnail. The thumbnail database grows independently and persists until manually cleared.</a:t>
            </a:r>
            <a:endParaRPr lang="en-US" sz="1200" dirty="0"/>
          </a:p>
        </p:txBody>
      </p:sp>
      <p:sp>
        <p:nvSpPr>
          <p:cNvPr id="27" name="Shape 25"/>
          <p:cNvSpPr/>
          <p:nvPr/>
        </p:nvSpPr>
        <p:spPr>
          <a:xfrm>
            <a:off x="4709160" y="3127248"/>
            <a:ext cx="4114800" cy="1920240"/>
          </a:xfrm>
          <a:prstGeom prst="rect">
            <a:avLst/>
          </a:prstGeom>
          <a:solidFill>
            <a:srgbClr val="162032"/>
          </a:solidFill>
          <a:ln w="12700">
            <a:solidFill>
              <a:srgbClr val="FFB703"/>
            </a:solidFill>
            <a:prstDash val="solid"/>
          </a:ln>
          <a:effectLst>
            <a:outerShdw blurRad="101600" dist="38100" dir="8100000" algn="bl" rotWithShape="0">
              <a:srgbClr val="000000">
                <a:alpha val="30000"/>
              </a:srgbClr>
            </a:outerShdw>
          </a:effectLst>
        </p:spPr>
      </p:sp>
      <p:sp>
        <p:nvSpPr>
          <p:cNvPr id="28" name="Text 26"/>
          <p:cNvSpPr/>
          <p:nvPr/>
        </p:nvSpPr>
        <p:spPr>
          <a:xfrm>
            <a:off x="4892040" y="3246120"/>
            <a:ext cx="3749040" cy="347472"/>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Recycle Bin: Two Files Per Deletion</a:t>
            </a:r>
            <a:endParaRPr lang="en-US" sz="1300" dirty="0"/>
          </a:p>
        </p:txBody>
      </p:sp>
      <p:sp>
        <p:nvSpPr>
          <p:cNvPr id="29" name="Text 27"/>
          <p:cNvSpPr/>
          <p:nvPr/>
        </p:nvSpPr>
        <p:spPr>
          <a:xfrm>
            <a:off x="4892040" y="3639312"/>
            <a:ext cx="3749040" cy="1298448"/>
          </a:xfrm>
          <a:prstGeom prst="rect">
            <a:avLst/>
          </a:prstGeom>
          <a:noFill/>
          <a:ln/>
        </p:spPr>
        <p:txBody>
          <a:bodyPr wrap="square" rtlCol="0" anchor="ctr"/>
          <a:lstStyle/>
          <a:p>
            <a:pPr marL="0" indent="0">
              <a:buNone/>
            </a:pPr>
            <a:r>
              <a:rPr lang="en-US" sz="1200" dirty="0">
                <a:solidFill>
                  <a:srgbClr val="E8F4FD"/>
                </a:solidFill>
                <a:latin typeface="Calibri" pitchFamily="34" charset="0"/>
                <a:ea typeface="Calibri" pitchFamily="34" charset="-122"/>
                <a:cs typeface="Calibri" pitchFamily="34" charset="-120"/>
              </a:rPr>
              <a:t>Every deleted item creates TWO files in C:\$Recycle.Bin:</a:t>
            </a:r>
            <a:endParaRPr lang="en-US" sz="1200" dirty="0"/>
          </a:p>
          <a:p>
            <a:pPr marL="0" indent="0">
              <a:buNone/>
            </a:pPr>
            <a:endParaRPr lang="en-US" sz="1200" dirty="0"/>
          </a:p>
          <a:p>
            <a:pPr marL="0" indent="0">
              <a:buNone/>
            </a:pPr>
            <a:r>
              <a:rPr lang="en-US" sz="1200" dirty="0">
                <a:solidFill>
                  <a:srgbClr val="E8F4FD"/>
                </a:solidFill>
                <a:latin typeface="Calibri" pitchFamily="34" charset="0"/>
                <a:ea typeface="Calibri" pitchFamily="34" charset="-122"/>
                <a:cs typeface="Calibri" pitchFamily="34" charset="-120"/>
              </a:rPr>
              <a:t>$I file — stores the original file path and the exact deletion timestamp</a:t>
            </a:r>
            <a:endParaRPr lang="en-US" sz="1200" dirty="0"/>
          </a:p>
          <a:p>
            <a:pPr marL="0" indent="0">
              <a:buNone/>
            </a:pPr>
            <a:endParaRPr lang="en-US" sz="1200" dirty="0"/>
          </a:p>
          <a:p>
            <a:pPr marL="0" indent="0">
              <a:buNone/>
            </a:pPr>
            <a:r>
              <a:rPr lang="en-US" sz="1200" dirty="0">
                <a:solidFill>
                  <a:srgbClr val="E8F4FD"/>
                </a:solidFill>
                <a:latin typeface="Calibri" pitchFamily="34" charset="0"/>
                <a:ea typeface="Calibri" pitchFamily="34" charset="-122"/>
                <a:cs typeface="Calibri" pitchFamily="34" charset="-120"/>
              </a:rPr>
              <a:t>$R file — contains the actual file data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pic>
        <p:nvPicPr>
          <p:cNvPr id="3" name="Image 0" descr="preencoded.png"/>
          <p:cNvPicPr>
            <a:picLocks noChangeAspect="1"/>
          </p:cNvPicPr>
          <p:nvPr/>
        </p:nvPicPr>
        <p:blipFill>
          <a:blip r:embed="rId3"/>
          <a:stretch>
            <a:fillRect/>
          </a:stretch>
        </p:blipFill>
        <p:spPr>
          <a:xfrm>
            <a:off x="365760" y="164592"/>
            <a:ext cx="640080" cy="640080"/>
          </a:xfrm>
          <a:prstGeom prst="rect">
            <a:avLst/>
          </a:prstGeom>
        </p:spPr>
      </p:pic>
      <p:sp>
        <p:nvSpPr>
          <p:cNvPr id="4" name="Text 1"/>
          <p:cNvSpPr/>
          <p:nvPr/>
        </p:nvSpPr>
        <p:spPr>
          <a:xfrm>
            <a:off x="1143000" y="164592"/>
            <a:ext cx="768096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Tools: Thumbcache Viewer, Browser Cache Tools &amp; Autopsy</a:t>
            </a:r>
            <a:endParaRPr lang="en-US" sz="2200" dirty="0"/>
          </a:p>
        </p:txBody>
      </p:sp>
      <p:sp>
        <p:nvSpPr>
          <p:cNvPr id="5" name="Shape 2"/>
          <p:cNvSpPr/>
          <p:nvPr/>
        </p:nvSpPr>
        <p:spPr>
          <a:xfrm>
            <a:off x="320040" y="960120"/>
            <a:ext cx="8503920" cy="12801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6" name="Shape 3"/>
          <p:cNvSpPr/>
          <p:nvPr/>
        </p:nvSpPr>
        <p:spPr>
          <a:xfrm>
            <a:off x="320040" y="960120"/>
            <a:ext cx="164592" cy="1280160"/>
          </a:xfrm>
          <a:prstGeom prst="rect">
            <a:avLst/>
          </a:prstGeom>
          <a:solidFill>
            <a:srgbClr val="00B4D8"/>
          </a:solidFill>
          <a:ln w="12700">
            <a:solidFill>
              <a:srgbClr val="00B4D8"/>
            </a:solidFill>
            <a:prstDash val="solid"/>
          </a:ln>
        </p:spPr>
      </p:sp>
      <p:sp>
        <p:nvSpPr>
          <p:cNvPr id="7" name="Text 4"/>
          <p:cNvSpPr/>
          <p:nvPr/>
        </p:nvSpPr>
        <p:spPr>
          <a:xfrm>
            <a:off x="621792" y="1051560"/>
            <a:ext cx="8046720" cy="347472"/>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Thumbcache Viewer</a:t>
            </a:r>
            <a:endParaRPr lang="en-US" sz="1400" dirty="0"/>
          </a:p>
        </p:txBody>
      </p:sp>
      <p:sp>
        <p:nvSpPr>
          <p:cNvPr id="8" name="Text 5"/>
          <p:cNvSpPr/>
          <p:nvPr/>
        </p:nvSpPr>
        <p:spPr>
          <a:xfrm>
            <a:off x="621792" y="1399032"/>
            <a:ext cx="8046720" cy="274320"/>
          </a:xfrm>
          <a:prstGeom prst="rect">
            <a:avLst/>
          </a:prstGeom>
          <a:noFill/>
          <a:ln/>
        </p:spPr>
        <p:txBody>
          <a:bodyPr wrap="square" rtlCol="0" anchor="ctr"/>
          <a:lstStyle/>
          <a:p>
            <a:pPr marL="0" indent="0">
              <a:buNone/>
            </a:pPr>
            <a:r>
              <a:rPr lang="en-US" sz="1100" i="1" dirty="0">
                <a:solidFill>
                  <a:srgbClr val="E8F4FD"/>
                </a:solidFill>
                <a:latin typeface="Calibri" pitchFamily="34" charset="0"/>
                <a:ea typeface="Calibri" pitchFamily="34" charset="-122"/>
                <a:cs typeface="Calibri" pitchFamily="34" charset="-120"/>
              </a:rPr>
              <a:t>Reads and exports thumbnails from Windows thumbcache database files</a:t>
            </a:r>
            <a:endParaRPr lang="en-US" sz="1100" dirty="0"/>
          </a:p>
        </p:txBody>
      </p:sp>
      <p:sp>
        <p:nvSpPr>
          <p:cNvPr id="9" name="Text 6"/>
          <p:cNvSpPr/>
          <p:nvPr/>
        </p:nvSpPr>
        <p:spPr>
          <a:xfrm>
            <a:off x="621792" y="1709928"/>
            <a:ext cx="8046720" cy="438912"/>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Output: Visual thumbnail images + metadata (database position, attached info)</a:t>
            </a:r>
            <a:endParaRPr lang="en-US" sz="1100" dirty="0"/>
          </a:p>
        </p:txBody>
      </p:sp>
      <p:sp>
        <p:nvSpPr>
          <p:cNvPr id="10" name="Shape 7"/>
          <p:cNvSpPr/>
          <p:nvPr/>
        </p:nvSpPr>
        <p:spPr>
          <a:xfrm>
            <a:off x="320040" y="2359152"/>
            <a:ext cx="8503920" cy="12801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1" name="Shape 8"/>
          <p:cNvSpPr/>
          <p:nvPr/>
        </p:nvSpPr>
        <p:spPr>
          <a:xfrm>
            <a:off x="320040" y="2359152"/>
            <a:ext cx="164592" cy="1280160"/>
          </a:xfrm>
          <a:prstGeom prst="rect">
            <a:avLst/>
          </a:prstGeom>
          <a:solidFill>
            <a:srgbClr val="48CAE4"/>
          </a:solidFill>
          <a:ln w="12700">
            <a:solidFill>
              <a:srgbClr val="48CAE4"/>
            </a:solidFill>
            <a:prstDash val="solid"/>
          </a:ln>
        </p:spPr>
      </p:sp>
      <p:sp>
        <p:nvSpPr>
          <p:cNvPr id="12" name="Text 9"/>
          <p:cNvSpPr/>
          <p:nvPr/>
        </p:nvSpPr>
        <p:spPr>
          <a:xfrm>
            <a:off x="621792" y="2450592"/>
            <a:ext cx="8046720" cy="347472"/>
          </a:xfrm>
          <a:prstGeom prst="rect">
            <a:avLst/>
          </a:prstGeom>
          <a:noFill/>
          <a:ln/>
        </p:spPr>
        <p:txBody>
          <a:bodyPr wrap="square" rtlCol="0" anchor="ctr"/>
          <a:lstStyle/>
          <a:p>
            <a:pPr marL="0" indent="0">
              <a:buNone/>
            </a:pPr>
            <a:r>
              <a:rPr lang="en-US" sz="1400" b="1" dirty="0">
                <a:solidFill>
                  <a:srgbClr val="48CAE4"/>
                </a:solidFill>
                <a:latin typeface="Calibri" pitchFamily="34" charset="0"/>
                <a:ea typeface="Calibri" pitchFamily="34" charset="-122"/>
                <a:cs typeface="Calibri" pitchFamily="34" charset="-120"/>
              </a:rPr>
              <a:t>Browser Cache Tools (Chrome, Firefox, Edge)</a:t>
            </a:r>
            <a:endParaRPr lang="en-US" sz="1400" dirty="0"/>
          </a:p>
        </p:txBody>
      </p:sp>
      <p:sp>
        <p:nvSpPr>
          <p:cNvPr id="13" name="Text 10"/>
          <p:cNvSpPr/>
          <p:nvPr/>
        </p:nvSpPr>
        <p:spPr>
          <a:xfrm>
            <a:off x="621792" y="2798064"/>
            <a:ext cx="8046720" cy="274320"/>
          </a:xfrm>
          <a:prstGeom prst="rect">
            <a:avLst/>
          </a:prstGeom>
          <a:noFill/>
          <a:ln/>
        </p:spPr>
        <p:txBody>
          <a:bodyPr wrap="square" rtlCol="0" anchor="ctr"/>
          <a:lstStyle/>
          <a:p>
            <a:pPr marL="0" indent="0">
              <a:buNone/>
            </a:pPr>
            <a:r>
              <a:rPr lang="en-US" sz="1100" i="1" dirty="0">
                <a:solidFill>
                  <a:srgbClr val="E8F4FD"/>
                </a:solidFill>
                <a:latin typeface="Calibri" pitchFamily="34" charset="0"/>
                <a:ea typeface="Calibri" pitchFamily="34" charset="-122"/>
                <a:cs typeface="Calibri" pitchFamily="34" charset="-120"/>
              </a:rPr>
              <a:t>Parse browser cache to extract URLs, images, and timestamps of web activity</a:t>
            </a:r>
            <a:endParaRPr lang="en-US" sz="1100" dirty="0"/>
          </a:p>
        </p:txBody>
      </p:sp>
      <p:sp>
        <p:nvSpPr>
          <p:cNvPr id="14" name="Text 11"/>
          <p:cNvSpPr/>
          <p:nvPr/>
        </p:nvSpPr>
        <p:spPr>
          <a:xfrm>
            <a:off x="621792" y="3108960"/>
            <a:ext cx="8046720" cy="438912"/>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Output: URL list, cached content files, access timestamps</a:t>
            </a:r>
            <a:endParaRPr lang="en-US" sz="1100" dirty="0"/>
          </a:p>
        </p:txBody>
      </p:sp>
      <p:sp>
        <p:nvSpPr>
          <p:cNvPr id="15" name="Shape 12"/>
          <p:cNvSpPr/>
          <p:nvPr/>
        </p:nvSpPr>
        <p:spPr>
          <a:xfrm>
            <a:off x="320040" y="3758184"/>
            <a:ext cx="8503920" cy="12801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6" name="Shape 13"/>
          <p:cNvSpPr/>
          <p:nvPr/>
        </p:nvSpPr>
        <p:spPr>
          <a:xfrm>
            <a:off x="320040" y="3758184"/>
            <a:ext cx="164592" cy="1280160"/>
          </a:xfrm>
          <a:prstGeom prst="rect">
            <a:avLst/>
          </a:prstGeom>
          <a:solidFill>
            <a:srgbClr val="FFB703"/>
          </a:solidFill>
          <a:ln w="12700">
            <a:solidFill>
              <a:srgbClr val="FFB703"/>
            </a:solidFill>
            <a:prstDash val="solid"/>
          </a:ln>
        </p:spPr>
      </p:sp>
      <p:sp>
        <p:nvSpPr>
          <p:cNvPr id="17" name="Text 14"/>
          <p:cNvSpPr/>
          <p:nvPr/>
        </p:nvSpPr>
        <p:spPr>
          <a:xfrm>
            <a:off x="621792" y="3849624"/>
            <a:ext cx="8046720" cy="347472"/>
          </a:xfrm>
          <a:prstGeom prst="rect">
            <a:avLst/>
          </a:prstGeom>
          <a:noFill/>
          <a:ln/>
        </p:spPr>
        <p:txBody>
          <a:bodyPr wrap="square" rtlCol="0" anchor="ctr"/>
          <a:lstStyle/>
          <a:p>
            <a:pPr marL="0" indent="0">
              <a:buNone/>
            </a:pPr>
            <a:r>
              <a:rPr lang="en-US" sz="1400" b="1" dirty="0">
                <a:solidFill>
                  <a:srgbClr val="FFB703"/>
                </a:solidFill>
                <a:latin typeface="Calibri" pitchFamily="34" charset="0"/>
                <a:ea typeface="Calibri" pitchFamily="34" charset="-122"/>
                <a:cs typeface="Calibri" pitchFamily="34" charset="-120"/>
              </a:rPr>
              <a:t>Autopsy (Open Source Forensic Platform)</a:t>
            </a:r>
            <a:endParaRPr lang="en-US" sz="1400" dirty="0"/>
          </a:p>
        </p:txBody>
      </p:sp>
      <p:sp>
        <p:nvSpPr>
          <p:cNvPr id="18" name="Text 15"/>
          <p:cNvSpPr/>
          <p:nvPr/>
        </p:nvSpPr>
        <p:spPr>
          <a:xfrm>
            <a:off x="621792" y="4197096"/>
            <a:ext cx="8046720" cy="274320"/>
          </a:xfrm>
          <a:prstGeom prst="rect">
            <a:avLst/>
          </a:prstGeom>
          <a:noFill/>
          <a:ln/>
        </p:spPr>
        <p:txBody>
          <a:bodyPr wrap="square" rtlCol="0" anchor="ctr"/>
          <a:lstStyle/>
          <a:p>
            <a:pPr marL="0" indent="0">
              <a:buNone/>
            </a:pPr>
            <a:r>
              <a:rPr lang="en-US" sz="1100" i="1" dirty="0">
                <a:solidFill>
                  <a:srgbClr val="E8F4FD"/>
                </a:solidFill>
                <a:latin typeface="Calibri" pitchFamily="34" charset="0"/>
                <a:ea typeface="Calibri" pitchFamily="34" charset="-122"/>
                <a:cs typeface="Calibri" pitchFamily="34" charset="-120"/>
              </a:rPr>
              <a:t>Scan unallocated disk space and attempt to recover deleted files by file signature</a:t>
            </a:r>
            <a:endParaRPr lang="en-US" sz="1100" dirty="0"/>
          </a:p>
        </p:txBody>
      </p:sp>
      <p:sp>
        <p:nvSpPr>
          <p:cNvPr id="19" name="Text 16"/>
          <p:cNvSpPr/>
          <p:nvPr/>
        </p:nvSpPr>
        <p:spPr>
          <a:xfrm>
            <a:off x="621792" y="4507992"/>
            <a:ext cx="8046720" cy="438912"/>
          </a:xfrm>
          <a:prstGeom prst="rect">
            <a:avLst/>
          </a:prstGeom>
          <a:noFill/>
          <a:ln/>
        </p:spPr>
        <p:txBody>
          <a:bodyPr wrap="square" rtlCol="0" anchor="ctr"/>
          <a:lstStyle/>
          <a:p>
            <a:pPr marL="0" indent="0">
              <a:buNone/>
            </a:pPr>
            <a:r>
              <a:rPr lang="en-US" sz="1100" dirty="0">
                <a:solidFill>
                  <a:srgbClr val="8BB8D4"/>
                </a:solidFill>
                <a:latin typeface="Calibri" pitchFamily="34" charset="0"/>
                <a:ea typeface="Calibri" pitchFamily="34" charset="-122"/>
                <a:cs typeface="Calibri" pitchFamily="34" charset="-120"/>
              </a:rPr>
              <a:t>Output: Recovered files + confidence level + recovery success rate</a:t>
            </a:r>
            <a:endParaRPr lang="en-US" sz="1100" dirty="0"/>
          </a:p>
        </p:txBody>
      </p:sp>
      <p:sp>
        <p:nvSpPr>
          <p:cNvPr id="20" name="Shape 17"/>
          <p:cNvSpPr/>
          <p:nvPr/>
        </p:nvSpPr>
        <p:spPr>
          <a:xfrm>
            <a:off x="320040" y="5138928"/>
            <a:ext cx="8503920" cy="347472"/>
          </a:xfrm>
          <a:prstGeom prst="rect">
            <a:avLst/>
          </a:prstGeom>
          <a:solidFill>
            <a:srgbClr val="1A1500"/>
          </a:solidFill>
          <a:ln w="12700">
            <a:solidFill>
              <a:srgbClr val="FFB703"/>
            </a:solidFill>
            <a:prstDash val="solid"/>
          </a:ln>
        </p:spPr>
      </p:sp>
      <p:sp>
        <p:nvSpPr>
          <p:cNvPr id="21" name="Text 18"/>
          <p:cNvSpPr/>
          <p:nvPr/>
        </p:nvSpPr>
        <p:spPr>
          <a:xfrm>
            <a:off x="502920" y="5157216"/>
            <a:ext cx="8229600" cy="310896"/>
          </a:xfrm>
          <a:prstGeom prst="rect">
            <a:avLst/>
          </a:prstGeom>
          <a:noFill/>
          <a:ln/>
        </p:spPr>
        <p:txBody>
          <a:bodyPr wrap="square" rtlCol="0" anchor="ctr"/>
          <a:lstStyle/>
          <a:p>
            <a:pPr marL="0" indent="0">
              <a:buNone/>
            </a:pPr>
            <a:r>
              <a:rPr lang="en-US" sz="1100" b="1" dirty="0">
                <a:solidFill>
                  <a:srgbClr val="FFB703"/>
                </a:solidFill>
                <a:latin typeface="Calibri" pitchFamily="34" charset="0"/>
                <a:ea typeface="Calibri" pitchFamily="34" charset="-122"/>
                <a:cs typeface="Calibri" pitchFamily="34" charset="-120"/>
              </a:rPr>
              <a:t>LIVE DEMO: Opening thumbcache_256.db in Thumbcache Viewer and examining recovered thumbnail images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pic>
        <p:nvPicPr>
          <p:cNvPr id="3" name="Image 0" descr="preencoded.png"/>
          <p:cNvPicPr>
            <a:picLocks noChangeAspect="1"/>
          </p:cNvPicPr>
          <p:nvPr/>
        </p:nvPicPr>
        <p:blipFill>
          <a:blip r:embed="rId3"/>
          <a:stretch>
            <a:fillRect/>
          </a:stretch>
        </p:blipFill>
        <p:spPr>
          <a:xfrm>
            <a:off x="365760" y="164592"/>
            <a:ext cx="685800" cy="685800"/>
          </a:xfrm>
          <a:prstGeom prst="rect">
            <a:avLst/>
          </a:prstGeom>
        </p:spPr>
      </p:pic>
      <p:sp>
        <p:nvSpPr>
          <p:cNvPr id="4" name="Text 1"/>
          <p:cNvSpPr/>
          <p:nvPr/>
        </p:nvSpPr>
        <p:spPr>
          <a:xfrm>
            <a:off x="1188720" y="164592"/>
            <a:ext cx="758952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Correlating Across All Three Artifact Types</a:t>
            </a:r>
            <a:endParaRPr lang="en-US" sz="2400" dirty="0"/>
          </a:p>
        </p:txBody>
      </p:sp>
      <p:sp>
        <p:nvSpPr>
          <p:cNvPr id="5" name="Text 2"/>
          <p:cNvSpPr/>
          <p:nvPr/>
        </p:nvSpPr>
        <p:spPr>
          <a:xfrm>
            <a:off x="365760" y="896112"/>
            <a:ext cx="8412480" cy="384048"/>
          </a:xfrm>
          <a:prstGeom prst="rect">
            <a:avLst/>
          </a:prstGeom>
          <a:noFill/>
          <a:ln/>
        </p:spPr>
        <p:txBody>
          <a:bodyPr wrap="square" rtlCol="0" anchor="ctr"/>
          <a:lstStyle/>
          <a:p>
            <a:pPr marL="0" indent="0">
              <a:buNone/>
            </a:pPr>
            <a:r>
              <a:rPr lang="en-US" sz="1300" i="1" dirty="0">
                <a:solidFill>
                  <a:srgbClr val="E8F4FD"/>
                </a:solidFill>
                <a:latin typeface="Calibri" pitchFamily="34" charset="0"/>
                <a:ea typeface="Calibri" pitchFamily="34" charset="-122"/>
                <a:cs typeface="Calibri" pitchFamily="34" charset="-120"/>
              </a:rPr>
              <a:t>Any single artifact can be explained away. Three artifacts telling the same story cannot.</a:t>
            </a:r>
            <a:endParaRPr lang="en-US" sz="1300" dirty="0"/>
          </a:p>
        </p:txBody>
      </p:sp>
      <p:sp>
        <p:nvSpPr>
          <p:cNvPr id="6" name="Shape 3"/>
          <p:cNvSpPr/>
          <p:nvPr/>
        </p:nvSpPr>
        <p:spPr>
          <a:xfrm>
            <a:off x="320040" y="1325880"/>
            <a:ext cx="8503920" cy="2286000"/>
          </a:xfrm>
          <a:prstGeom prst="rect">
            <a:avLst/>
          </a:prstGeom>
          <a:solidFill>
            <a:srgbClr val="0A1E12"/>
          </a:solidFill>
          <a:ln w="12700">
            <a:solidFill>
              <a:srgbClr val="00FF88"/>
            </a:solidFill>
            <a:prstDash val="solid"/>
          </a:ln>
          <a:effectLst>
            <a:outerShdw blurRad="101600" dist="38100" dir="8100000" algn="bl" rotWithShape="0">
              <a:srgbClr val="000000">
                <a:alpha val="30000"/>
              </a:srgbClr>
            </a:outerShdw>
          </a:effectLst>
        </p:spPr>
      </p:sp>
      <p:sp>
        <p:nvSpPr>
          <p:cNvPr id="7" name="Text 4"/>
          <p:cNvSpPr/>
          <p:nvPr/>
        </p:nvSpPr>
        <p:spPr>
          <a:xfrm>
            <a:off x="502920" y="1435608"/>
            <a:ext cx="8138160" cy="365760"/>
          </a:xfrm>
          <a:prstGeom prst="rect">
            <a:avLst/>
          </a:prstGeom>
          <a:noFill/>
          <a:ln/>
        </p:spPr>
        <p:txBody>
          <a:bodyPr wrap="square" rtlCol="0" anchor="ctr"/>
          <a:lstStyle/>
          <a:p>
            <a:pPr marL="0" indent="0">
              <a:buNone/>
            </a:pPr>
            <a:r>
              <a:rPr lang="en-US" sz="1300" b="1" dirty="0">
                <a:solidFill>
                  <a:srgbClr val="00FF88"/>
                </a:solidFill>
                <a:latin typeface="Calibri" pitchFamily="34" charset="0"/>
                <a:ea typeface="Calibri" pitchFamily="34" charset="-122"/>
                <a:cs typeface="Calibri" pitchFamily="34" charset="-120"/>
              </a:rPr>
              <a:t>Real Investigation Scenario</a:t>
            </a:r>
            <a:endParaRPr lang="en-US" sz="1300" dirty="0"/>
          </a:p>
        </p:txBody>
      </p:sp>
      <p:sp>
        <p:nvSpPr>
          <p:cNvPr id="8" name="Shape 5"/>
          <p:cNvSpPr/>
          <p:nvPr/>
        </p:nvSpPr>
        <p:spPr>
          <a:xfrm>
            <a:off x="502920" y="1828800"/>
            <a:ext cx="960120" cy="274320"/>
          </a:xfrm>
          <a:prstGeom prst="rect">
            <a:avLst/>
          </a:prstGeom>
          <a:solidFill>
            <a:srgbClr val="E63946"/>
          </a:solidFill>
          <a:ln w="12700">
            <a:solidFill>
              <a:srgbClr val="E63946"/>
            </a:solidFill>
            <a:prstDash val="solid"/>
          </a:ln>
        </p:spPr>
      </p:sp>
      <p:sp>
        <p:nvSpPr>
          <p:cNvPr id="9" name="Text 6"/>
          <p:cNvSpPr/>
          <p:nvPr/>
        </p:nvSpPr>
        <p:spPr>
          <a:xfrm>
            <a:off x="502920" y="1828800"/>
            <a:ext cx="960120" cy="274320"/>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Event Log</a:t>
            </a:r>
            <a:endParaRPr lang="en-US" sz="900" dirty="0"/>
          </a:p>
        </p:txBody>
      </p:sp>
      <p:sp>
        <p:nvSpPr>
          <p:cNvPr id="10" name="Text 7"/>
          <p:cNvSpPr/>
          <p:nvPr/>
        </p:nvSpPr>
        <p:spPr>
          <a:xfrm>
            <a:off x="1572768" y="1828800"/>
            <a:ext cx="7040880" cy="27432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RDP login (Type 10) from 203.0.113.55 at 03:17:22 — 47 failed 4625 events before success</a:t>
            </a:r>
            <a:endParaRPr lang="en-US" sz="1100" dirty="0"/>
          </a:p>
        </p:txBody>
      </p:sp>
      <p:sp>
        <p:nvSpPr>
          <p:cNvPr id="11" name="Shape 8"/>
          <p:cNvSpPr/>
          <p:nvPr/>
        </p:nvSpPr>
        <p:spPr>
          <a:xfrm>
            <a:off x="502920" y="2212848"/>
            <a:ext cx="960120" cy="274320"/>
          </a:xfrm>
          <a:prstGeom prst="rect">
            <a:avLst/>
          </a:prstGeom>
          <a:solidFill>
            <a:srgbClr val="C77DFF"/>
          </a:solidFill>
          <a:ln w="12700">
            <a:solidFill>
              <a:srgbClr val="C77DFF"/>
            </a:solidFill>
            <a:prstDash val="solid"/>
          </a:ln>
        </p:spPr>
      </p:sp>
      <p:sp>
        <p:nvSpPr>
          <p:cNvPr id="12" name="Text 9"/>
          <p:cNvSpPr/>
          <p:nvPr/>
        </p:nvSpPr>
        <p:spPr>
          <a:xfrm>
            <a:off x="502920" y="2212848"/>
            <a:ext cx="960120" cy="274320"/>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Prefetch</a:t>
            </a:r>
            <a:endParaRPr lang="en-US" sz="900" dirty="0"/>
          </a:p>
        </p:txBody>
      </p:sp>
      <p:sp>
        <p:nvSpPr>
          <p:cNvPr id="13" name="Text 10"/>
          <p:cNvSpPr/>
          <p:nvPr/>
        </p:nvSpPr>
        <p:spPr>
          <a:xfrm>
            <a:off x="1572768" y="2212848"/>
            <a:ext cx="7040880" cy="27432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MIMIKATZ.EXE ran at 03:19:41 from C:\Users\admin\AppData\Local\Temp\x64\</a:t>
            </a:r>
            <a:endParaRPr lang="en-US" sz="1100" dirty="0"/>
          </a:p>
        </p:txBody>
      </p:sp>
      <p:sp>
        <p:nvSpPr>
          <p:cNvPr id="14" name="Shape 11"/>
          <p:cNvSpPr/>
          <p:nvPr/>
        </p:nvSpPr>
        <p:spPr>
          <a:xfrm>
            <a:off x="502920" y="2596896"/>
            <a:ext cx="960120" cy="274320"/>
          </a:xfrm>
          <a:prstGeom prst="rect">
            <a:avLst/>
          </a:prstGeom>
          <a:solidFill>
            <a:srgbClr val="00B4D8"/>
          </a:solidFill>
          <a:ln w="12700">
            <a:solidFill>
              <a:srgbClr val="00B4D8"/>
            </a:solidFill>
            <a:prstDash val="solid"/>
          </a:ln>
        </p:spPr>
      </p:sp>
      <p:sp>
        <p:nvSpPr>
          <p:cNvPr id="15" name="Text 12"/>
          <p:cNvSpPr/>
          <p:nvPr/>
        </p:nvSpPr>
        <p:spPr>
          <a:xfrm>
            <a:off x="502920" y="2596896"/>
            <a:ext cx="960120" cy="274320"/>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Thumbcache</a:t>
            </a:r>
            <a:endParaRPr lang="en-US" sz="900" dirty="0"/>
          </a:p>
        </p:txBody>
      </p:sp>
      <p:sp>
        <p:nvSpPr>
          <p:cNvPr id="16" name="Text 13"/>
          <p:cNvSpPr/>
          <p:nvPr/>
        </p:nvSpPr>
        <p:spPr>
          <a:xfrm>
            <a:off x="1572768" y="2596896"/>
            <a:ext cx="7040880" cy="27432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Thumbnails found of files from C:\Confidential\HR_Records\ — originals deleted at 03:42</a:t>
            </a:r>
            <a:endParaRPr lang="en-US" sz="1100" dirty="0"/>
          </a:p>
        </p:txBody>
      </p:sp>
      <p:sp>
        <p:nvSpPr>
          <p:cNvPr id="17" name="Shape 14"/>
          <p:cNvSpPr/>
          <p:nvPr/>
        </p:nvSpPr>
        <p:spPr>
          <a:xfrm>
            <a:off x="502920" y="2980944"/>
            <a:ext cx="960120" cy="274320"/>
          </a:xfrm>
          <a:prstGeom prst="rect">
            <a:avLst/>
          </a:prstGeom>
          <a:solidFill>
            <a:srgbClr val="FFB703"/>
          </a:solidFill>
          <a:ln w="12700">
            <a:solidFill>
              <a:srgbClr val="FFB703"/>
            </a:solidFill>
            <a:prstDash val="solid"/>
          </a:ln>
        </p:spPr>
      </p:sp>
      <p:sp>
        <p:nvSpPr>
          <p:cNvPr id="18" name="Text 15"/>
          <p:cNvSpPr/>
          <p:nvPr/>
        </p:nvSpPr>
        <p:spPr>
          <a:xfrm>
            <a:off x="502920" y="2980944"/>
            <a:ext cx="960120" cy="274320"/>
          </a:xfrm>
          <a:prstGeom prst="rect">
            <a:avLst/>
          </a:prstGeom>
          <a:noFill/>
          <a:ln/>
        </p:spPr>
        <p:txBody>
          <a:bodyPr wrap="square"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Recycle Bin</a:t>
            </a:r>
            <a:endParaRPr lang="en-US" sz="900" dirty="0"/>
          </a:p>
        </p:txBody>
      </p:sp>
      <p:sp>
        <p:nvSpPr>
          <p:cNvPr id="19" name="Text 16"/>
          <p:cNvSpPr/>
          <p:nvPr/>
        </p:nvSpPr>
        <p:spPr>
          <a:xfrm>
            <a:off x="1572768" y="2980944"/>
            <a:ext cx="7040880" cy="27432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$I file shows HR_Records_2024.xlsx deleted at 03:42:17, original path confirms location</a:t>
            </a:r>
            <a:endParaRPr lang="en-US" sz="1100" dirty="0"/>
          </a:p>
        </p:txBody>
      </p:sp>
      <p:sp>
        <p:nvSpPr>
          <p:cNvPr id="20" name="Text 17"/>
          <p:cNvSpPr/>
          <p:nvPr/>
        </p:nvSpPr>
        <p:spPr>
          <a:xfrm>
            <a:off x="502920" y="3364992"/>
            <a:ext cx="8138160" cy="384048"/>
          </a:xfrm>
          <a:prstGeom prst="rect">
            <a:avLst/>
          </a:prstGeom>
          <a:noFill/>
          <a:ln/>
        </p:spPr>
        <p:txBody>
          <a:bodyPr wrap="square" rtlCol="0" anchor="ctr"/>
          <a:lstStyle/>
          <a:p>
            <a:pPr marL="0" indent="0">
              <a:buNone/>
            </a:pPr>
            <a:r>
              <a:rPr lang="en-US" sz="1100" b="1" i="1" dirty="0">
                <a:solidFill>
                  <a:srgbClr val="00FF88"/>
                </a:solidFill>
                <a:latin typeface="Calibri" pitchFamily="34" charset="0"/>
                <a:ea typeface="Calibri" pitchFamily="34" charset="-122"/>
                <a:cs typeface="Calibri" pitchFamily="34" charset="-120"/>
              </a:rPr>
              <a:t>Conclusion: Attacker brute-forced in via RDP, ran a credential harvesting tool, accessed HR files, and attempted to destroy evidence by deleting them.</a:t>
            </a:r>
            <a:endParaRPr lang="en-US" sz="1100" dirty="0"/>
          </a:p>
        </p:txBody>
      </p:sp>
      <p:sp>
        <p:nvSpPr>
          <p:cNvPr id="21" name="Shape 18"/>
          <p:cNvSpPr/>
          <p:nvPr/>
        </p:nvSpPr>
        <p:spPr>
          <a:xfrm>
            <a:off x="320040" y="3703320"/>
            <a:ext cx="8503920" cy="137160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22" name="Text 19"/>
          <p:cNvSpPr/>
          <p:nvPr/>
        </p:nvSpPr>
        <p:spPr>
          <a:xfrm>
            <a:off x="502920" y="3822192"/>
            <a:ext cx="8138160" cy="36576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Why This Matters for Your Reports</a:t>
            </a:r>
            <a:endParaRPr lang="en-US" sz="1300" dirty="0"/>
          </a:p>
        </p:txBody>
      </p:sp>
      <p:sp>
        <p:nvSpPr>
          <p:cNvPr id="23" name="Text 20"/>
          <p:cNvSpPr/>
          <p:nvPr/>
        </p:nvSpPr>
        <p:spPr>
          <a:xfrm>
            <a:off x="502920" y="4206240"/>
            <a:ext cx="8138160" cy="749808"/>
          </a:xfrm>
          <a:prstGeom prst="rect">
            <a:avLst/>
          </a:prstGeom>
          <a:noFill/>
          <a:ln/>
        </p:spPr>
        <p:txBody>
          <a:bodyPr wrap="square" rtlCol="0" anchor="ctr"/>
          <a:lstStyle/>
          <a:p>
            <a:pPr marL="0" indent="0">
              <a:buNone/>
            </a:pPr>
            <a:r>
              <a:rPr lang="en-US" sz="1200" dirty="0">
                <a:solidFill>
                  <a:srgbClr val="E8F4FD"/>
                </a:solidFill>
                <a:latin typeface="Calibri" pitchFamily="34" charset="0"/>
                <a:ea typeface="Calibri" pitchFamily="34" charset="-122"/>
                <a:cs typeface="Calibri" pitchFamily="34" charset="-120"/>
              </a:rPr>
              <a:t>Your three analysis reports this week should not be three separate documents that ignore each other. They should reference each other and build toward a single unified picture. When your event log findings align with your prefetch findings align with your cache findings — that is when you have a case.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pic>
        <p:nvPicPr>
          <p:cNvPr id="3" name="Image 0" descr="preencoded.png"/>
          <p:cNvPicPr>
            <a:picLocks noChangeAspect="1"/>
          </p:cNvPicPr>
          <p:nvPr/>
        </p:nvPicPr>
        <p:blipFill>
          <a:blip r:embed="rId3"/>
          <a:stretch>
            <a:fillRect/>
          </a:stretch>
        </p:blipFill>
        <p:spPr>
          <a:xfrm>
            <a:off x="365760" y="164592"/>
            <a:ext cx="731520" cy="731520"/>
          </a:xfrm>
          <a:prstGeom prst="rect">
            <a:avLst/>
          </a:prstGeom>
        </p:spPr>
      </p:pic>
      <p:sp>
        <p:nvSpPr>
          <p:cNvPr id="4" name="Text 1"/>
          <p:cNvSpPr/>
          <p:nvPr/>
        </p:nvSpPr>
        <p:spPr>
          <a:xfrm>
            <a:off x="1234440" y="164592"/>
            <a:ext cx="758952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Week 8 — Key Takeaways</a:t>
            </a:r>
            <a:endParaRPr lang="en-US" sz="2800" dirty="0"/>
          </a:p>
        </p:txBody>
      </p:sp>
      <p:sp>
        <p:nvSpPr>
          <p:cNvPr id="5" name="Shape 2"/>
          <p:cNvSpPr/>
          <p:nvPr/>
        </p:nvSpPr>
        <p:spPr>
          <a:xfrm>
            <a:off x="320040" y="987552"/>
            <a:ext cx="4114800" cy="17373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6" name="Shape 3"/>
          <p:cNvSpPr/>
          <p:nvPr/>
        </p:nvSpPr>
        <p:spPr>
          <a:xfrm>
            <a:off x="429768" y="1097280"/>
            <a:ext cx="502920" cy="502920"/>
          </a:xfrm>
          <a:prstGeom prst="rect">
            <a:avLst/>
          </a:prstGeom>
          <a:solidFill>
            <a:srgbClr val="00B4D8"/>
          </a:solidFill>
          <a:ln w="12700">
            <a:solidFill>
              <a:srgbClr val="00B4D8"/>
            </a:solidFill>
            <a:prstDash val="solid"/>
          </a:ln>
        </p:spPr>
      </p:sp>
      <p:sp>
        <p:nvSpPr>
          <p:cNvPr id="7" name="Text 4"/>
          <p:cNvSpPr/>
          <p:nvPr/>
        </p:nvSpPr>
        <p:spPr>
          <a:xfrm>
            <a:off x="429768" y="1097280"/>
            <a:ext cx="502920" cy="502920"/>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01</a:t>
            </a:r>
            <a:endParaRPr lang="en-US" sz="1600" dirty="0"/>
          </a:p>
        </p:txBody>
      </p:sp>
      <p:sp>
        <p:nvSpPr>
          <p:cNvPr id="8" name="Text 5"/>
          <p:cNvSpPr/>
          <p:nvPr/>
        </p:nvSpPr>
        <p:spPr>
          <a:xfrm>
            <a:off x="1051560" y="1097280"/>
            <a:ext cx="3246120" cy="502920"/>
          </a:xfrm>
          <a:prstGeom prst="rect">
            <a:avLst/>
          </a:prstGeom>
          <a:noFill/>
          <a:ln/>
        </p:spPr>
        <p:txBody>
          <a:bodyPr wrap="square"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Event Logs Are the Authentication Record</a:t>
            </a:r>
            <a:endParaRPr lang="en-US" sz="1200" dirty="0"/>
          </a:p>
        </p:txBody>
      </p:sp>
      <p:sp>
        <p:nvSpPr>
          <p:cNvPr id="9" name="Text 6"/>
          <p:cNvSpPr/>
          <p:nvPr/>
        </p:nvSpPr>
        <p:spPr>
          <a:xfrm>
            <a:off x="429768" y="1673352"/>
            <a:ext cx="3858768" cy="96012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4624, 4625, 4672, 4720, 4722, 4732 — these IDs appear in every authentication investigation. Know what each one records. Brute force attacks leave a distinctive pattern you can spot in minutes once you know what to look for.</a:t>
            </a:r>
            <a:endParaRPr lang="en-US" sz="1100" dirty="0"/>
          </a:p>
        </p:txBody>
      </p:sp>
      <p:sp>
        <p:nvSpPr>
          <p:cNvPr id="10" name="Shape 7"/>
          <p:cNvSpPr/>
          <p:nvPr/>
        </p:nvSpPr>
        <p:spPr>
          <a:xfrm>
            <a:off x="320040" y="2907792"/>
            <a:ext cx="4114800" cy="17373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1" name="Shape 8"/>
          <p:cNvSpPr/>
          <p:nvPr/>
        </p:nvSpPr>
        <p:spPr>
          <a:xfrm>
            <a:off x="429768" y="3017520"/>
            <a:ext cx="502920" cy="502920"/>
          </a:xfrm>
          <a:prstGeom prst="rect">
            <a:avLst/>
          </a:prstGeom>
          <a:solidFill>
            <a:srgbClr val="C77DFF"/>
          </a:solidFill>
          <a:ln w="12700">
            <a:solidFill>
              <a:srgbClr val="C77DFF"/>
            </a:solidFill>
            <a:prstDash val="solid"/>
          </a:ln>
        </p:spPr>
      </p:sp>
      <p:sp>
        <p:nvSpPr>
          <p:cNvPr id="12" name="Text 9"/>
          <p:cNvSpPr/>
          <p:nvPr/>
        </p:nvSpPr>
        <p:spPr>
          <a:xfrm>
            <a:off x="429768" y="3017520"/>
            <a:ext cx="502920" cy="502920"/>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02</a:t>
            </a:r>
            <a:endParaRPr lang="en-US" sz="1600" dirty="0"/>
          </a:p>
        </p:txBody>
      </p:sp>
      <p:sp>
        <p:nvSpPr>
          <p:cNvPr id="13" name="Text 10"/>
          <p:cNvSpPr/>
          <p:nvPr/>
        </p:nvSpPr>
        <p:spPr>
          <a:xfrm>
            <a:off x="1051560" y="3017520"/>
            <a:ext cx="3246120" cy="502920"/>
          </a:xfrm>
          <a:prstGeom prst="rect">
            <a:avLst/>
          </a:prstGeom>
          <a:noFill/>
          <a:ln/>
        </p:spPr>
        <p:txBody>
          <a:bodyPr wrap="square" rtlCol="0" anchor="ctr"/>
          <a:lstStyle/>
          <a:p>
            <a:pPr marL="0" indent="0">
              <a:buNone/>
            </a:pPr>
            <a:r>
              <a:rPr lang="en-US" sz="1200" b="1" dirty="0">
                <a:solidFill>
                  <a:srgbClr val="C77DFF"/>
                </a:solidFill>
                <a:latin typeface="Calibri" pitchFamily="34" charset="0"/>
                <a:ea typeface="Calibri" pitchFamily="34" charset="-122"/>
                <a:cs typeface="Calibri" pitchFamily="34" charset="-120"/>
              </a:rPr>
              <a:t>Prefetch Is a Persistent Execution History</a:t>
            </a:r>
            <a:endParaRPr lang="en-US" sz="1200" dirty="0"/>
          </a:p>
        </p:txBody>
      </p:sp>
      <p:sp>
        <p:nvSpPr>
          <p:cNvPr id="14" name="Text 11"/>
          <p:cNvSpPr/>
          <p:nvPr/>
        </p:nvSpPr>
        <p:spPr>
          <a:xfrm>
            <a:off x="429768" y="3593592"/>
            <a:ext cx="3858768" cy="96012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Programs leave prefetch traces even after deletion. Where a program ran from matters as much as what it was. Temp, Downloads, and random paths are red flags. PECmd + a spreadsheet makes this analysis fast.</a:t>
            </a:r>
            <a:endParaRPr lang="en-US" sz="1100" dirty="0"/>
          </a:p>
        </p:txBody>
      </p:sp>
      <p:sp>
        <p:nvSpPr>
          <p:cNvPr id="15" name="Shape 12"/>
          <p:cNvSpPr/>
          <p:nvPr/>
        </p:nvSpPr>
        <p:spPr>
          <a:xfrm>
            <a:off x="4709160" y="987552"/>
            <a:ext cx="4114800" cy="17373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16" name="Shape 13"/>
          <p:cNvSpPr/>
          <p:nvPr/>
        </p:nvSpPr>
        <p:spPr>
          <a:xfrm>
            <a:off x="4818888" y="1097280"/>
            <a:ext cx="502920" cy="502920"/>
          </a:xfrm>
          <a:prstGeom prst="rect">
            <a:avLst/>
          </a:prstGeom>
          <a:solidFill>
            <a:srgbClr val="FFB703"/>
          </a:solidFill>
          <a:ln w="12700">
            <a:solidFill>
              <a:srgbClr val="FFB703"/>
            </a:solidFill>
            <a:prstDash val="solid"/>
          </a:ln>
        </p:spPr>
      </p:sp>
      <p:sp>
        <p:nvSpPr>
          <p:cNvPr id="17" name="Text 14"/>
          <p:cNvSpPr/>
          <p:nvPr/>
        </p:nvSpPr>
        <p:spPr>
          <a:xfrm>
            <a:off x="4818888" y="1097280"/>
            <a:ext cx="502920" cy="502920"/>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03</a:t>
            </a:r>
            <a:endParaRPr lang="en-US" sz="1600" dirty="0"/>
          </a:p>
        </p:txBody>
      </p:sp>
      <p:sp>
        <p:nvSpPr>
          <p:cNvPr id="18" name="Text 15"/>
          <p:cNvSpPr/>
          <p:nvPr/>
        </p:nvSpPr>
        <p:spPr>
          <a:xfrm>
            <a:off x="5440680" y="1097280"/>
            <a:ext cx="3246120" cy="502920"/>
          </a:xfrm>
          <a:prstGeom prst="rect">
            <a:avLst/>
          </a:prstGeom>
          <a:noFill/>
          <a:ln/>
        </p:spPr>
        <p:txBody>
          <a:bodyPr wrap="square" rtlCol="0" anchor="ctr"/>
          <a:lstStyle/>
          <a:p>
            <a:pPr marL="0" indent="0">
              <a:buNone/>
            </a:pPr>
            <a:r>
              <a:rPr lang="en-US" sz="1200" b="1" dirty="0">
                <a:solidFill>
                  <a:srgbClr val="FFB703"/>
                </a:solidFill>
                <a:latin typeface="Calibri" pitchFamily="34" charset="0"/>
                <a:ea typeface="Calibri" pitchFamily="34" charset="-122"/>
                <a:cs typeface="Calibri" pitchFamily="34" charset="-120"/>
              </a:rPr>
              <a:t>Deletion Is Not Destruction</a:t>
            </a:r>
            <a:endParaRPr lang="en-US" sz="1200" dirty="0"/>
          </a:p>
        </p:txBody>
      </p:sp>
      <p:sp>
        <p:nvSpPr>
          <p:cNvPr id="19" name="Text 16"/>
          <p:cNvSpPr/>
          <p:nvPr/>
        </p:nvSpPr>
        <p:spPr>
          <a:xfrm>
            <a:off x="4818888" y="1673352"/>
            <a:ext cx="3858768" cy="96012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Thumbnails live separately from images. Browser cache logs web activity. The Recycle Bin records the original path and deletion time. Unallocated space holds data until overwritten. Users cannot easily destroy digital evidence.</a:t>
            </a:r>
            <a:endParaRPr lang="en-US" sz="1100" dirty="0"/>
          </a:p>
        </p:txBody>
      </p:sp>
      <p:sp>
        <p:nvSpPr>
          <p:cNvPr id="20" name="Shape 17"/>
          <p:cNvSpPr/>
          <p:nvPr/>
        </p:nvSpPr>
        <p:spPr>
          <a:xfrm>
            <a:off x="4709160" y="2907792"/>
            <a:ext cx="4114800" cy="1737360"/>
          </a:xfrm>
          <a:prstGeom prst="rect">
            <a:avLst/>
          </a:prstGeom>
          <a:solidFill>
            <a:srgbClr val="162032"/>
          </a:solidFill>
          <a:ln w="12700">
            <a:solidFill>
              <a:srgbClr val="1E3A5F"/>
            </a:solidFill>
            <a:prstDash val="solid"/>
          </a:ln>
          <a:effectLst>
            <a:outerShdw blurRad="101600" dist="38100" dir="8100000" algn="bl" rotWithShape="0">
              <a:srgbClr val="000000">
                <a:alpha val="30000"/>
              </a:srgbClr>
            </a:outerShdw>
          </a:effectLst>
        </p:spPr>
      </p:sp>
      <p:sp>
        <p:nvSpPr>
          <p:cNvPr id="21" name="Shape 18"/>
          <p:cNvSpPr/>
          <p:nvPr/>
        </p:nvSpPr>
        <p:spPr>
          <a:xfrm>
            <a:off x="4818888" y="3017520"/>
            <a:ext cx="502920" cy="502920"/>
          </a:xfrm>
          <a:prstGeom prst="rect">
            <a:avLst/>
          </a:prstGeom>
          <a:solidFill>
            <a:srgbClr val="00FF88"/>
          </a:solidFill>
          <a:ln w="12700">
            <a:solidFill>
              <a:srgbClr val="00FF88"/>
            </a:solidFill>
            <a:prstDash val="solid"/>
          </a:ln>
        </p:spPr>
      </p:sp>
      <p:sp>
        <p:nvSpPr>
          <p:cNvPr id="22" name="Text 19"/>
          <p:cNvSpPr/>
          <p:nvPr/>
        </p:nvSpPr>
        <p:spPr>
          <a:xfrm>
            <a:off x="4818888" y="3017520"/>
            <a:ext cx="502920" cy="502920"/>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04</a:t>
            </a:r>
            <a:endParaRPr lang="en-US" sz="1600" dirty="0"/>
          </a:p>
        </p:txBody>
      </p:sp>
      <p:sp>
        <p:nvSpPr>
          <p:cNvPr id="23" name="Text 20"/>
          <p:cNvSpPr/>
          <p:nvPr/>
        </p:nvSpPr>
        <p:spPr>
          <a:xfrm>
            <a:off x="5440680" y="3017520"/>
            <a:ext cx="3246120" cy="502920"/>
          </a:xfrm>
          <a:prstGeom prst="rect">
            <a:avLst/>
          </a:prstGeom>
          <a:noFill/>
          <a:ln/>
        </p:spPr>
        <p:txBody>
          <a:bodyPr wrap="square" rtlCol="0" anchor="ctr"/>
          <a:lstStyle/>
          <a:p>
            <a:pPr marL="0" indent="0">
              <a:buNone/>
            </a:pPr>
            <a:r>
              <a:rPr lang="en-US" sz="1200" b="1" dirty="0">
                <a:solidFill>
                  <a:srgbClr val="00FF88"/>
                </a:solidFill>
                <a:latin typeface="Calibri" pitchFamily="34" charset="0"/>
                <a:ea typeface="Calibri" pitchFamily="34" charset="-122"/>
                <a:cs typeface="Calibri" pitchFamily="34" charset="-120"/>
              </a:rPr>
              <a:t>Correlation Builds the Case</a:t>
            </a:r>
            <a:endParaRPr lang="en-US" sz="1200" dirty="0"/>
          </a:p>
        </p:txBody>
      </p:sp>
      <p:sp>
        <p:nvSpPr>
          <p:cNvPr id="24" name="Text 21"/>
          <p:cNvSpPr/>
          <p:nvPr/>
        </p:nvSpPr>
        <p:spPr>
          <a:xfrm>
            <a:off x="4818888" y="3593592"/>
            <a:ext cx="3858768" cy="960120"/>
          </a:xfrm>
          <a:prstGeom prst="rect">
            <a:avLst/>
          </a:prstGeom>
          <a:noFill/>
          <a:ln/>
        </p:spPr>
        <p:txBody>
          <a:bodyPr wrap="square" rtlCol="0" anchor="ctr"/>
          <a:lstStyle/>
          <a:p>
            <a:pPr marL="0" indent="0">
              <a:buNone/>
            </a:pPr>
            <a:r>
              <a:rPr lang="en-US" sz="1100" dirty="0">
                <a:solidFill>
                  <a:srgbClr val="E8F4FD"/>
                </a:solidFill>
                <a:latin typeface="Calibri" pitchFamily="34" charset="0"/>
                <a:ea typeface="Calibri" pitchFamily="34" charset="-122"/>
                <a:cs typeface="Calibri" pitchFamily="34" charset="-120"/>
              </a:rPr>
              <a:t>Never rely on one artifact alone. Event log + prefetch + thumbcache + Recycle Bin together tell a story that is very difficult to dispute. Your analysis reports should connect these artifacts and build toward a unified conclusion.</a:t>
            </a:r>
            <a:endParaRPr lang="en-US" sz="1100" dirty="0"/>
          </a:p>
        </p:txBody>
      </p:sp>
      <p:sp>
        <p:nvSpPr>
          <p:cNvPr id="25" name="Text 22"/>
          <p:cNvSpPr/>
          <p:nvPr/>
        </p:nvSpPr>
        <p:spPr>
          <a:xfrm>
            <a:off x="0" y="4846320"/>
            <a:ext cx="9144000" cy="274320"/>
          </a:xfrm>
          <a:prstGeom prst="rect">
            <a:avLst/>
          </a:prstGeom>
          <a:noFill/>
          <a:ln/>
        </p:spPr>
        <p:txBody>
          <a:bodyPr wrap="square" rtlCol="0" anchor="ctr"/>
          <a:lstStyle/>
          <a:p>
            <a:pPr marL="0" indent="0" algn="ctr">
              <a:buNone/>
            </a:pPr>
            <a:r>
              <a:rPr lang="en-US" sz="950" dirty="0">
                <a:solidFill>
                  <a:srgbClr val="8BB8D4"/>
                </a:solidFill>
                <a:latin typeface="Calibri" pitchFamily="34" charset="0"/>
                <a:ea typeface="Calibri" pitchFamily="34" charset="-122"/>
                <a:cs typeface="Calibri" pitchFamily="34" charset="-120"/>
              </a:rPr>
              <a:t>Cyberster Blue Team  |  Week 8  |  Phase Two — Digital Forensics and Incident Response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2438</Words>
  <Application>Microsoft Office PowerPoint</Application>
  <PresentationFormat>On-screen Show (16:9)</PresentationFormat>
  <Paragraphs>270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Cyberster Week 8 - Windows Artifact Analysis</dc:title>
  <dc:subject>PptxGenJS Presentation</dc:subject>
  <dc:creator>PptxGenJS</dc:creator>
  <cp:lastModifiedBy>Abdullah Zia</cp:lastModifiedBy>
  <cp:revision>2</cp:revision>
  <dcterms:created xsi:type="dcterms:W3CDTF">2026-04-21T06:08:47Z</dcterms:created>
  <dcterms:modified xsi:type="dcterms:W3CDTF">2026-04-21T07:30:05Z</dcterms:modified>
</cp:coreProperties>
</file>