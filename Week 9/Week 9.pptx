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622"/>
        </a:solidFill>
      </p:bgPr>
    </p:bg>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00C6AE"/>
          </a:solidFill>
          <a:ln/>
        </p:spPr>
      </p:sp>
      <p:sp>
        <p:nvSpPr>
          <p:cNvPr id="3" name="Shape 1"/>
          <p:cNvSpPr/>
          <p:nvPr/>
        </p:nvSpPr>
        <p:spPr>
          <a:xfrm>
            <a:off x="7406640" y="0"/>
            <a:ext cx="1737360" cy="5143500"/>
          </a:xfrm>
          <a:prstGeom prst="rect">
            <a:avLst/>
          </a:prstGeom>
          <a:solidFill>
            <a:srgbClr val="132030"/>
          </a:solidFill>
          <a:ln/>
        </p:spPr>
      </p:sp>
      <p:sp>
        <p:nvSpPr>
          <p:cNvPr id="4" name="Text 2"/>
          <p:cNvSpPr/>
          <p:nvPr/>
        </p:nvSpPr>
        <p:spPr>
          <a:xfrm>
            <a:off x="347472" y="347472"/>
            <a:ext cx="4572000" cy="347472"/>
          </a:xfrm>
          <a:prstGeom prst="rect">
            <a:avLst/>
          </a:prstGeom>
          <a:noFill/>
          <a:ln/>
        </p:spPr>
        <p:txBody>
          <a:bodyPr wrap="square" lIns="0" tIns="0" rIns="0" bIns="0" rtlCol="0" anchor="ctr"/>
          <a:lstStyle/>
          <a:p>
            <a:pPr algn="l" indent="0" marL="0">
              <a:buNone/>
            </a:pPr>
            <a:r>
              <a:rPr lang="en-US" sz="1100" b="1" spc="600" kern="0" dirty="0">
                <a:solidFill>
                  <a:srgbClr val="00C6AE"/>
                </a:solidFill>
                <a:latin typeface="Calibri" pitchFamily="34" charset="0"/>
                <a:ea typeface="Calibri" pitchFamily="34" charset="-122"/>
                <a:cs typeface="Calibri" pitchFamily="34" charset="-120"/>
              </a:rPr>
              <a:t>CYBERSTER</a:t>
            </a:r>
            <a:endParaRPr lang="en-US" sz="1100" dirty="0"/>
          </a:p>
        </p:txBody>
      </p:sp>
      <p:sp>
        <p:nvSpPr>
          <p:cNvPr id="5" name="Text 3"/>
          <p:cNvSpPr/>
          <p:nvPr/>
        </p:nvSpPr>
        <p:spPr>
          <a:xfrm>
            <a:off x="347472" y="658368"/>
            <a:ext cx="6400800" cy="256032"/>
          </a:xfrm>
          <a:prstGeom prst="rect">
            <a:avLst/>
          </a:prstGeom>
          <a:noFill/>
          <a:ln/>
        </p:spPr>
        <p:txBody>
          <a:bodyPr wrap="square" lIns="0" tIns="0" rIns="0" bIns="0" rtlCol="0" anchor="ctr"/>
          <a:lstStyle/>
          <a:p>
            <a:pPr algn="l" indent="0" marL="0">
              <a:buNone/>
            </a:pPr>
            <a:r>
              <a:rPr lang="en-US" sz="900" spc="300" kern="0" dirty="0">
                <a:solidFill>
                  <a:srgbClr val="6B8FAD"/>
                </a:solidFill>
                <a:latin typeface="Calibri" pitchFamily="34" charset="0"/>
                <a:ea typeface="Calibri" pitchFamily="34" charset="-122"/>
                <a:cs typeface="Calibri" pitchFamily="34" charset="-120"/>
              </a:rPr>
              <a:t>BLUE TEAM INTERNSHIP  |  PHASE TWO</a:t>
            </a:r>
            <a:endParaRPr lang="en-US" sz="900" dirty="0"/>
          </a:p>
        </p:txBody>
      </p:sp>
      <p:sp>
        <p:nvSpPr>
          <p:cNvPr id="6" name="Text 4"/>
          <p:cNvSpPr/>
          <p:nvPr/>
        </p:nvSpPr>
        <p:spPr>
          <a:xfrm>
            <a:off x="347472" y="1097280"/>
            <a:ext cx="6400800" cy="384048"/>
          </a:xfrm>
          <a:prstGeom prst="rect">
            <a:avLst/>
          </a:prstGeom>
          <a:noFill/>
          <a:ln/>
        </p:spPr>
        <p:txBody>
          <a:bodyPr wrap="square" lIns="0" tIns="0" rIns="0" bIns="0" rtlCol="0" anchor="ctr"/>
          <a:lstStyle/>
          <a:p>
            <a:pPr algn="l" indent="0" marL="0">
              <a:buNone/>
            </a:pPr>
            <a:r>
              <a:rPr lang="en-US" sz="1100" b="1" spc="500" kern="0" dirty="0">
                <a:solidFill>
                  <a:srgbClr val="F59E0B"/>
                </a:solidFill>
                <a:latin typeface="Calibri" pitchFamily="34" charset="0"/>
                <a:ea typeface="Calibri" pitchFamily="34" charset="-122"/>
                <a:cs typeface="Calibri" pitchFamily="34" charset="-120"/>
              </a:rPr>
              <a:t>MASTERCLASS</a:t>
            </a:r>
            <a:endParaRPr lang="en-US" sz="1100" dirty="0"/>
          </a:p>
        </p:txBody>
      </p:sp>
      <p:sp>
        <p:nvSpPr>
          <p:cNvPr id="7" name="Text 5"/>
          <p:cNvSpPr/>
          <p:nvPr/>
        </p:nvSpPr>
        <p:spPr>
          <a:xfrm>
            <a:off x="347472" y="1481328"/>
            <a:ext cx="6858000" cy="1828800"/>
          </a:xfrm>
          <a:prstGeom prst="rect">
            <a:avLst/>
          </a:prstGeom>
          <a:noFill/>
          <a:ln/>
        </p:spPr>
        <p:txBody>
          <a:bodyPr wrap="square" lIns="0" tIns="0" rIns="0" bIns="0" rtlCol="0" anchor="ctr"/>
          <a:lstStyle/>
          <a:p>
            <a:pPr algn="l" indent="0" marL="0">
              <a:buNone/>
            </a:pPr>
            <a:r>
              <a:rPr lang="en-US" sz="4000" b="1" dirty="0">
                <a:solidFill>
                  <a:srgbClr val="FFFFFF"/>
                </a:solidFill>
                <a:latin typeface="Calibri" pitchFamily="34" charset="0"/>
                <a:ea typeface="Calibri" pitchFamily="34" charset="-122"/>
                <a:cs typeface="Calibri" pitchFamily="34" charset="-120"/>
              </a:rPr>
              <a:t>Browser Forensics,</a:t>
            </a:r>
            <a:endParaRPr lang="en-US" sz="4000" dirty="0"/>
          </a:p>
          <a:p>
            <a:pPr algn="l" indent="0" marL="0">
              <a:buNone/>
            </a:pPr>
            <a:r>
              <a:rPr lang="en-US" sz="4000" b="1" dirty="0">
                <a:solidFill>
                  <a:srgbClr val="FFFFFF"/>
                </a:solidFill>
                <a:latin typeface="Calibri" pitchFamily="34" charset="0"/>
                <a:ea typeface="Calibri" pitchFamily="34" charset="-122"/>
                <a:cs typeface="Calibri" pitchFamily="34" charset="-120"/>
              </a:rPr>
              <a:t>LNK Files &amp;</a:t>
            </a:r>
            <a:endParaRPr lang="en-US" sz="4000" dirty="0"/>
          </a:p>
          <a:p>
            <a:pPr algn="l" indent="0" marL="0">
              <a:buNone/>
            </a:pPr>
            <a:r>
              <a:rPr lang="en-US" sz="4000" b="1" dirty="0">
                <a:solidFill>
                  <a:srgbClr val="FFFFFF"/>
                </a:solidFill>
                <a:latin typeface="Calibri" pitchFamily="34" charset="0"/>
                <a:ea typeface="Calibri" pitchFamily="34" charset="-122"/>
                <a:cs typeface="Calibri" pitchFamily="34" charset="-120"/>
              </a:rPr>
              <a:t>Artifact Integration</a:t>
            </a:r>
            <a:endParaRPr lang="en-US"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622"/>
        </a:solidFill>
      </p:bgPr>
    </p:bg>
    <p:spTree>
      <p:nvGrpSpPr>
        <p:cNvPr id="1" name=""/>
        <p:cNvGrpSpPr/>
        <p:nvPr/>
      </p:nvGrpSpPr>
      <p:grpSpPr>
        <a:xfrm>
          <a:off x="0" y="0"/>
          <a:ext cx="0" cy="0"/>
          <a:chOff x="0" y="0"/>
          <a:chExt cx="0" cy="0"/>
        </a:xfrm>
      </p:grpSpPr>
      <p:sp>
        <p:nvSpPr>
          <p:cNvPr id="2" name="Text 0"/>
          <p:cNvSpPr/>
          <p:nvPr/>
        </p:nvSpPr>
        <p:spPr>
          <a:xfrm>
            <a:off x="457200" y="237744"/>
            <a:ext cx="8229600" cy="475488"/>
          </a:xfrm>
          <a:prstGeom prst="rect">
            <a:avLst/>
          </a:prstGeom>
          <a:noFill/>
          <a:ln/>
        </p:spPr>
        <p:txBody>
          <a:bodyPr wrap="square" lIns="0" tIns="0" rIns="0" bIns="0" rtlCol="0" anchor="ctr"/>
          <a:lstStyle/>
          <a:p>
            <a:pPr algn="l" indent="0" marL="0">
              <a:buNone/>
            </a:pPr>
            <a:r>
              <a:rPr lang="en-US" sz="3000" b="1" dirty="0">
                <a:solidFill>
                  <a:srgbClr val="00C6AE"/>
                </a:solidFill>
                <a:latin typeface="Calibri" pitchFamily="34" charset="0"/>
                <a:ea typeface="Calibri" pitchFamily="34" charset="-122"/>
                <a:cs typeface="Calibri" pitchFamily="34" charset="-120"/>
              </a:rPr>
              <a:t>Masterclass Agenda</a:t>
            </a:r>
            <a:endParaRPr lang="en-US" sz="3000" dirty="0"/>
          </a:p>
        </p:txBody>
      </p:sp>
      <p:sp>
        <p:nvSpPr>
          <p:cNvPr id="3" name="Shape 1"/>
          <p:cNvSpPr/>
          <p:nvPr/>
        </p:nvSpPr>
        <p:spPr>
          <a:xfrm>
            <a:off x="457200" y="786384"/>
            <a:ext cx="8229600" cy="0"/>
          </a:xfrm>
          <a:prstGeom prst="line">
            <a:avLst/>
          </a:prstGeom>
          <a:noFill/>
          <a:ln w="12700">
            <a:solidFill>
              <a:srgbClr val="1A3350"/>
            </a:solidFill>
            <a:prstDash val="solid"/>
          </a:ln>
        </p:spPr>
      </p:sp>
      <p:sp>
        <p:nvSpPr>
          <p:cNvPr id="4" name="Shape 2"/>
          <p:cNvSpPr/>
          <p:nvPr/>
        </p:nvSpPr>
        <p:spPr>
          <a:xfrm>
            <a:off x="411480" y="1097280"/>
            <a:ext cx="2011680" cy="3474720"/>
          </a:xfrm>
          <a:prstGeom prst="rect">
            <a:avLst/>
          </a:prstGeom>
          <a:solidFill>
            <a:srgbClr val="0F1C2E"/>
          </a:solidFill>
          <a:ln/>
          <a:effectLst>
            <a:outerShdw sx="100000" sy="100000" kx="0" ky="0" algn="bl" rotWithShape="0" blurRad="101600" dist="25400" dir="8100000">
              <a:srgbClr val="000000">
                <a:alpha val="30000"/>
              </a:srgbClr>
            </a:outerShdw>
          </a:effectLst>
        </p:spPr>
      </p:sp>
      <p:sp>
        <p:nvSpPr>
          <p:cNvPr id="5" name="Shape 3"/>
          <p:cNvSpPr/>
          <p:nvPr/>
        </p:nvSpPr>
        <p:spPr>
          <a:xfrm>
            <a:off x="411480" y="1097280"/>
            <a:ext cx="2011680" cy="548640"/>
          </a:xfrm>
          <a:prstGeom prst="rect">
            <a:avLst/>
          </a:prstGeom>
          <a:solidFill>
            <a:srgbClr val="0D7ECC"/>
          </a:solidFill>
          <a:ln/>
        </p:spPr>
      </p:sp>
      <p:sp>
        <p:nvSpPr>
          <p:cNvPr id="6" name="Text 4"/>
          <p:cNvSpPr/>
          <p:nvPr/>
        </p:nvSpPr>
        <p:spPr>
          <a:xfrm>
            <a:off x="411480" y="1097280"/>
            <a:ext cx="201168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502920" y="1737360"/>
            <a:ext cx="182880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Application-Layer Evidence &amp; SQLite</a:t>
            </a:r>
            <a:endParaRPr lang="en-US" sz="1500" dirty="0"/>
          </a:p>
        </p:txBody>
      </p:sp>
      <p:sp>
        <p:nvSpPr>
          <p:cNvPr id="8" name="Text 6"/>
          <p:cNvSpPr/>
          <p:nvPr/>
        </p:nvSpPr>
        <p:spPr>
          <a:xfrm>
            <a:off x="548640" y="2468880"/>
            <a:ext cx="1737360" cy="457200"/>
          </a:xfrm>
          <a:prstGeom prst="rect">
            <a:avLst/>
          </a:prstGeom>
          <a:noFill/>
          <a:ln/>
        </p:spPr>
        <p:txBody>
          <a:bodyPr wrap="square" lIns="0" tIns="0" rIns="0" bIns="0" rtlCol="0" anchor="ctr"/>
          <a:lstStyle/>
          <a:p>
            <a:pPr algn="l" indent="0" marL="0">
              <a:buNone/>
            </a:pPr>
            <a:r>
              <a:rPr lang="en-US" sz="1100" dirty="0">
                <a:solidFill>
                  <a:srgbClr val="C9DFEF"/>
                </a:solidFill>
                <a:latin typeface="Calibri" pitchFamily="34" charset="0"/>
                <a:ea typeface="Calibri" pitchFamily="34" charset="-122"/>
                <a:cs typeface="Calibri" pitchFamily="34" charset="-120"/>
              </a:rPr>
              <a:t>• Why browser history persists</a:t>
            </a:r>
            <a:endParaRPr lang="en-US" sz="1100" dirty="0"/>
          </a:p>
        </p:txBody>
      </p:sp>
      <p:sp>
        <p:nvSpPr>
          <p:cNvPr id="9" name="Text 7"/>
          <p:cNvSpPr/>
          <p:nvPr/>
        </p:nvSpPr>
        <p:spPr>
          <a:xfrm>
            <a:off x="548640" y="2926080"/>
            <a:ext cx="1737360" cy="457200"/>
          </a:xfrm>
          <a:prstGeom prst="rect">
            <a:avLst/>
          </a:prstGeom>
          <a:noFill/>
          <a:ln/>
        </p:spPr>
        <p:txBody>
          <a:bodyPr wrap="square" lIns="0" tIns="0" rIns="0" bIns="0" rtlCol="0" anchor="ctr"/>
          <a:lstStyle/>
          <a:p>
            <a:pPr algn="l" indent="0" marL="0">
              <a:buNone/>
            </a:pPr>
            <a:r>
              <a:rPr lang="en-US" sz="1100" dirty="0">
                <a:solidFill>
                  <a:srgbClr val="C9DFEF"/>
                </a:solidFill>
                <a:latin typeface="Calibri" pitchFamily="34" charset="0"/>
                <a:ea typeface="Calibri" pitchFamily="34" charset="-122"/>
                <a:cs typeface="Calibri" pitchFamily="34" charset="-120"/>
              </a:rPr>
              <a:t>• SQLite databases vs plaintext</a:t>
            </a:r>
            <a:endParaRPr lang="en-US" sz="1100" dirty="0"/>
          </a:p>
        </p:txBody>
      </p:sp>
      <p:sp>
        <p:nvSpPr>
          <p:cNvPr id="10" name="Text 8"/>
          <p:cNvSpPr/>
          <p:nvPr/>
        </p:nvSpPr>
        <p:spPr>
          <a:xfrm>
            <a:off x="548640" y="3383280"/>
            <a:ext cx="1737360" cy="457200"/>
          </a:xfrm>
          <a:prstGeom prst="rect">
            <a:avLst/>
          </a:prstGeom>
          <a:noFill/>
          <a:ln/>
        </p:spPr>
        <p:txBody>
          <a:bodyPr wrap="square" lIns="0" tIns="0" rIns="0" bIns="0" rtlCol="0" anchor="ctr"/>
          <a:lstStyle/>
          <a:p>
            <a:pPr algn="l" indent="0" marL="0">
              <a:buNone/>
            </a:pPr>
            <a:r>
              <a:rPr lang="en-US" sz="1100" dirty="0">
                <a:solidFill>
                  <a:srgbClr val="C9DFEF"/>
                </a:solidFill>
                <a:latin typeface="Calibri" pitchFamily="34" charset="0"/>
                <a:ea typeface="Calibri" pitchFamily="34" charset="-122"/>
                <a:cs typeface="Calibri" pitchFamily="34" charset="-120"/>
              </a:rPr>
              <a:t>• Parsing web activity</a:t>
            </a:r>
            <a:endParaRPr lang="en-US" sz="1100" dirty="0"/>
          </a:p>
        </p:txBody>
      </p:sp>
      <p:sp>
        <p:nvSpPr>
          <p:cNvPr id="11" name="Shape 9"/>
          <p:cNvSpPr/>
          <p:nvPr/>
        </p:nvSpPr>
        <p:spPr>
          <a:xfrm>
            <a:off x="2560320" y="1097280"/>
            <a:ext cx="2011680" cy="3474720"/>
          </a:xfrm>
          <a:prstGeom prst="rect">
            <a:avLst/>
          </a:prstGeom>
          <a:solidFill>
            <a:srgbClr val="0F1C2E"/>
          </a:solidFill>
          <a:ln/>
          <a:effectLst>
            <a:outerShdw sx="100000" sy="100000" kx="0" ky="0" algn="bl" rotWithShape="0" blurRad="101600" dist="25400" dir="8100000">
              <a:srgbClr val="000000">
                <a:alpha val="30000"/>
              </a:srgbClr>
            </a:outerShdw>
          </a:effectLst>
        </p:spPr>
      </p:sp>
      <p:sp>
        <p:nvSpPr>
          <p:cNvPr id="12" name="Shape 10"/>
          <p:cNvSpPr/>
          <p:nvPr/>
        </p:nvSpPr>
        <p:spPr>
          <a:xfrm>
            <a:off x="2560320" y="1097280"/>
            <a:ext cx="2011680" cy="548640"/>
          </a:xfrm>
          <a:prstGeom prst="rect">
            <a:avLst/>
          </a:prstGeom>
          <a:solidFill>
            <a:srgbClr val="00C6AE"/>
          </a:solidFill>
          <a:ln/>
        </p:spPr>
      </p:sp>
      <p:sp>
        <p:nvSpPr>
          <p:cNvPr id="13" name="Text 11"/>
          <p:cNvSpPr/>
          <p:nvPr/>
        </p:nvSpPr>
        <p:spPr>
          <a:xfrm>
            <a:off x="2560320" y="1097280"/>
            <a:ext cx="201168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4" name="Text 12"/>
          <p:cNvSpPr/>
          <p:nvPr/>
        </p:nvSpPr>
        <p:spPr>
          <a:xfrm>
            <a:off x="2651760" y="1737360"/>
            <a:ext cx="182880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Browser Cache Mechanics</a:t>
            </a:r>
            <a:endParaRPr lang="en-US" sz="1500" dirty="0"/>
          </a:p>
        </p:txBody>
      </p:sp>
      <p:sp>
        <p:nvSpPr>
          <p:cNvPr id="15" name="Text 13"/>
          <p:cNvSpPr/>
          <p:nvPr/>
        </p:nvSpPr>
        <p:spPr>
          <a:xfrm>
            <a:off x="2697480" y="2468880"/>
            <a:ext cx="1737360" cy="457200"/>
          </a:xfrm>
          <a:prstGeom prst="rect">
            <a:avLst/>
          </a:prstGeom>
          <a:noFill/>
          <a:ln/>
        </p:spPr>
        <p:txBody>
          <a:bodyPr wrap="square" lIns="0" tIns="0" rIns="0" bIns="0" rtlCol="0" anchor="ctr"/>
          <a:lstStyle/>
          <a:p>
            <a:pPr algn="l" indent="0" marL="0">
              <a:buNone/>
            </a:pPr>
            <a:r>
              <a:rPr lang="en-US" sz="1100" dirty="0">
                <a:solidFill>
                  <a:srgbClr val="C9DFEF"/>
                </a:solidFill>
                <a:latin typeface="Calibri" pitchFamily="34" charset="0"/>
                <a:ea typeface="Calibri" pitchFamily="34" charset="-122"/>
                <a:cs typeface="Calibri" pitchFamily="34" charset="-120"/>
              </a:rPr>
              <a:t>• How caching works</a:t>
            </a:r>
            <a:endParaRPr lang="en-US" sz="1100" dirty="0"/>
          </a:p>
        </p:txBody>
      </p:sp>
      <p:sp>
        <p:nvSpPr>
          <p:cNvPr id="16" name="Text 14"/>
          <p:cNvSpPr/>
          <p:nvPr/>
        </p:nvSpPr>
        <p:spPr>
          <a:xfrm>
            <a:off x="2697480" y="2926080"/>
            <a:ext cx="1737360" cy="457200"/>
          </a:xfrm>
          <a:prstGeom prst="rect">
            <a:avLst/>
          </a:prstGeom>
          <a:noFill/>
          <a:ln/>
        </p:spPr>
        <p:txBody>
          <a:bodyPr wrap="square" lIns="0" tIns="0" rIns="0" bIns="0" rtlCol="0" anchor="ctr"/>
          <a:lstStyle/>
          <a:p>
            <a:pPr algn="l" indent="0" marL="0">
              <a:buNone/>
            </a:pPr>
            <a:r>
              <a:rPr lang="en-US" sz="1100" dirty="0">
                <a:solidFill>
                  <a:srgbClr val="C9DFEF"/>
                </a:solidFill>
                <a:latin typeface="Calibri" pitchFamily="34" charset="0"/>
                <a:ea typeface="Calibri" pitchFamily="34" charset="-122"/>
                <a:cs typeface="Calibri" pitchFamily="34" charset="-120"/>
              </a:rPr>
              <a:t>• Why the cache survives history deletion</a:t>
            </a:r>
            <a:endParaRPr lang="en-US" sz="1100" dirty="0"/>
          </a:p>
        </p:txBody>
      </p:sp>
      <p:sp>
        <p:nvSpPr>
          <p:cNvPr id="17" name="Text 15"/>
          <p:cNvSpPr/>
          <p:nvPr/>
        </p:nvSpPr>
        <p:spPr>
          <a:xfrm>
            <a:off x="2697480" y="3383280"/>
            <a:ext cx="1737360" cy="457200"/>
          </a:xfrm>
          <a:prstGeom prst="rect">
            <a:avLst/>
          </a:prstGeom>
          <a:noFill/>
          <a:ln/>
        </p:spPr>
        <p:txBody>
          <a:bodyPr wrap="square" lIns="0" tIns="0" rIns="0" bIns="0" rtlCol="0" anchor="ctr"/>
          <a:lstStyle/>
          <a:p>
            <a:pPr algn="l" indent="0" marL="0">
              <a:buNone/>
            </a:pPr>
            <a:r>
              <a:rPr lang="en-US" sz="1100" dirty="0">
                <a:solidFill>
                  <a:srgbClr val="C9DFEF"/>
                </a:solidFill>
                <a:latin typeface="Calibri" pitchFamily="34" charset="0"/>
                <a:ea typeface="Calibri" pitchFamily="34" charset="-122"/>
                <a:cs typeface="Calibri" pitchFamily="34" charset="-120"/>
              </a:rPr>
              <a:t>• Investigative value of cache</a:t>
            </a:r>
            <a:endParaRPr lang="en-US" sz="1100" dirty="0"/>
          </a:p>
        </p:txBody>
      </p:sp>
      <p:sp>
        <p:nvSpPr>
          <p:cNvPr id="18" name="Shape 16"/>
          <p:cNvSpPr/>
          <p:nvPr/>
        </p:nvSpPr>
        <p:spPr>
          <a:xfrm>
            <a:off x="4709160" y="1097280"/>
            <a:ext cx="2011680" cy="3474720"/>
          </a:xfrm>
          <a:prstGeom prst="rect">
            <a:avLst/>
          </a:prstGeom>
          <a:solidFill>
            <a:srgbClr val="0F1C2E"/>
          </a:solidFill>
          <a:ln/>
          <a:effectLst>
            <a:outerShdw sx="100000" sy="100000" kx="0" ky="0" algn="bl" rotWithShape="0" blurRad="101600" dist="25400" dir="8100000">
              <a:srgbClr val="000000">
                <a:alpha val="30000"/>
              </a:srgbClr>
            </a:outerShdw>
          </a:effectLst>
        </p:spPr>
      </p:sp>
      <p:sp>
        <p:nvSpPr>
          <p:cNvPr id="19" name="Shape 17"/>
          <p:cNvSpPr/>
          <p:nvPr/>
        </p:nvSpPr>
        <p:spPr>
          <a:xfrm>
            <a:off x="4709160" y="1097280"/>
            <a:ext cx="2011680" cy="548640"/>
          </a:xfrm>
          <a:prstGeom prst="rect">
            <a:avLst/>
          </a:prstGeom>
          <a:solidFill>
            <a:srgbClr val="7C3AED"/>
          </a:solidFill>
          <a:ln/>
        </p:spPr>
      </p:sp>
      <p:sp>
        <p:nvSpPr>
          <p:cNvPr id="20" name="Text 18"/>
          <p:cNvSpPr/>
          <p:nvPr/>
        </p:nvSpPr>
        <p:spPr>
          <a:xfrm>
            <a:off x="4709160" y="1097280"/>
            <a:ext cx="201168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1" name="Text 19"/>
          <p:cNvSpPr/>
          <p:nvPr/>
        </p:nvSpPr>
        <p:spPr>
          <a:xfrm>
            <a:off x="4800600" y="1737360"/>
            <a:ext cx="182880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LNK &amp; USB Tracking</a:t>
            </a:r>
            <a:endParaRPr lang="en-US" sz="1500" dirty="0"/>
          </a:p>
        </p:txBody>
      </p:sp>
      <p:sp>
        <p:nvSpPr>
          <p:cNvPr id="22" name="Text 20"/>
          <p:cNvSpPr/>
          <p:nvPr/>
        </p:nvSpPr>
        <p:spPr>
          <a:xfrm>
            <a:off x="4846320" y="2468880"/>
            <a:ext cx="1737360" cy="457200"/>
          </a:xfrm>
          <a:prstGeom prst="rect">
            <a:avLst/>
          </a:prstGeom>
          <a:noFill/>
          <a:ln/>
        </p:spPr>
        <p:txBody>
          <a:bodyPr wrap="square" lIns="0" tIns="0" rIns="0" bIns="0" rtlCol="0" anchor="ctr"/>
          <a:lstStyle/>
          <a:p>
            <a:pPr algn="l" indent="0" marL="0">
              <a:buNone/>
            </a:pPr>
            <a:r>
              <a:rPr lang="en-US" sz="1100" dirty="0">
                <a:solidFill>
                  <a:srgbClr val="C9DFEF"/>
                </a:solidFill>
                <a:latin typeface="Calibri" pitchFamily="34" charset="0"/>
                <a:ea typeface="Calibri" pitchFamily="34" charset="-122"/>
                <a:cs typeface="Calibri" pitchFamily="34" charset="-120"/>
              </a:rPr>
              <a:t>• Shell Link metadata anatomy</a:t>
            </a:r>
            <a:endParaRPr lang="en-US" sz="1100" dirty="0"/>
          </a:p>
        </p:txBody>
      </p:sp>
      <p:sp>
        <p:nvSpPr>
          <p:cNvPr id="23" name="Text 21"/>
          <p:cNvSpPr/>
          <p:nvPr/>
        </p:nvSpPr>
        <p:spPr>
          <a:xfrm>
            <a:off x="4846320" y="2926080"/>
            <a:ext cx="1737360" cy="457200"/>
          </a:xfrm>
          <a:prstGeom prst="rect">
            <a:avLst/>
          </a:prstGeom>
          <a:noFill/>
          <a:ln/>
        </p:spPr>
        <p:txBody>
          <a:bodyPr wrap="square" lIns="0" tIns="0" rIns="0" bIns="0" rtlCol="0" anchor="ctr"/>
          <a:lstStyle/>
          <a:p>
            <a:pPr algn="l" indent="0" marL="0">
              <a:buNone/>
            </a:pPr>
            <a:r>
              <a:rPr lang="en-US" sz="1100" dirty="0">
                <a:solidFill>
                  <a:srgbClr val="C9DFEF"/>
                </a:solidFill>
                <a:latin typeface="Calibri" pitchFamily="34" charset="0"/>
                <a:ea typeface="Calibri" pitchFamily="34" charset="-122"/>
                <a:cs typeface="Calibri" pitchFamily="34" charset="-120"/>
              </a:rPr>
              <a:t>• Tracking USB connections</a:t>
            </a:r>
            <a:endParaRPr lang="en-US" sz="1100" dirty="0"/>
          </a:p>
        </p:txBody>
      </p:sp>
      <p:sp>
        <p:nvSpPr>
          <p:cNvPr id="24" name="Text 22"/>
          <p:cNvSpPr/>
          <p:nvPr/>
        </p:nvSpPr>
        <p:spPr>
          <a:xfrm>
            <a:off x="4846320" y="3383280"/>
            <a:ext cx="1737360" cy="457200"/>
          </a:xfrm>
          <a:prstGeom prst="rect">
            <a:avLst/>
          </a:prstGeom>
          <a:noFill/>
          <a:ln/>
        </p:spPr>
        <p:txBody>
          <a:bodyPr wrap="square" lIns="0" tIns="0" rIns="0" bIns="0" rtlCol="0" anchor="ctr"/>
          <a:lstStyle/>
          <a:p>
            <a:pPr algn="l" indent="0" marL="0">
              <a:buNone/>
            </a:pPr>
            <a:r>
              <a:rPr lang="en-US" sz="1100" dirty="0">
                <a:solidFill>
                  <a:srgbClr val="C9DFEF"/>
                </a:solidFill>
                <a:latin typeface="Calibri" pitchFamily="34" charset="0"/>
                <a:ea typeface="Calibri" pitchFamily="34" charset="-122"/>
                <a:cs typeface="Calibri" pitchFamily="34" charset="-120"/>
              </a:rPr>
              <a:t>• Volume serial numbers</a:t>
            </a:r>
            <a:endParaRPr lang="en-US" sz="1100" dirty="0"/>
          </a:p>
        </p:txBody>
      </p:sp>
      <p:sp>
        <p:nvSpPr>
          <p:cNvPr id="25" name="Shape 23"/>
          <p:cNvSpPr/>
          <p:nvPr/>
        </p:nvSpPr>
        <p:spPr>
          <a:xfrm>
            <a:off x="6858000" y="1097280"/>
            <a:ext cx="2011680" cy="3474720"/>
          </a:xfrm>
          <a:prstGeom prst="rect">
            <a:avLst/>
          </a:prstGeom>
          <a:solidFill>
            <a:srgbClr val="0F1C2E"/>
          </a:solidFill>
          <a:ln/>
          <a:effectLst>
            <a:outerShdw sx="100000" sy="100000" kx="0" ky="0" algn="bl" rotWithShape="0" blurRad="101600" dist="25400" dir="8100000">
              <a:srgbClr val="000000">
                <a:alpha val="30000"/>
              </a:srgbClr>
            </a:outerShdw>
          </a:effectLst>
        </p:spPr>
      </p:sp>
      <p:sp>
        <p:nvSpPr>
          <p:cNvPr id="26" name="Shape 24"/>
          <p:cNvSpPr/>
          <p:nvPr/>
        </p:nvSpPr>
        <p:spPr>
          <a:xfrm>
            <a:off x="6858000" y="1097280"/>
            <a:ext cx="2011680" cy="548640"/>
          </a:xfrm>
          <a:prstGeom prst="rect">
            <a:avLst/>
          </a:prstGeom>
          <a:solidFill>
            <a:srgbClr val="F59E0B"/>
          </a:solidFill>
          <a:ln/>
        </p:spPr>
      </p:sp>
      <p:sp>
        <p:nvSpPr>
          <p:cNvPr id="27" name="Text 25"/>
          <p:cNvSpPr/>
          <p:nvPr/>
        </p:nvSpPr>
        <p:spPr>
          <a:xfrm>
            <a:off x="6858000" y="1097280"/>
            <a:ext cx="201168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8" name="Text 26"/>
          <p:cNvSpPr/>
          <p:nvPr/>
        </p:nvSpPr>
        <p:spPr>
          <a:xfrm>
            <a:off x="6949440" y="1737360"/>
            <a:ext cx="182880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The Unified Timeline</a:t>
            </a:r>
            <a:endParaRPr lang="en-US" sz="1500" dirty="0"/>
          </a:p>
        </p:txBody>
      </p:sp>
      <p:sp>
        <p:nvSpPr>
          <p:cNvPr id="29" name="Text 27"/>
          <p:cNvSpPr/>
          <p:nvPr/>
        </p:nvSpPr>
        <p:spPr>
          <a:xfrm>
            <a:off x="6995160" y="2468880"/>
            <a:ext cx="1737360" cy="457200"/>
          </a:xfrm>
          <a:prstGeom prst="rect">
            <a:avLst/>
          </a:prstGeom>
          <a:noFill/>
          <a:ln/>
        </p:spPr>
        <p:txBody>
          <a:bodyPr wrap="square" lIns="0" tIns="0" rIns="0" bIns="0" rtlCol="0" anchor="ctr"/>
          <a:lstStyle/>
          <a:p>
            <a:pPr algn="l" indent="0" marL="0">
              <a:buNone/>
            </a:pPr>
            <a:r>
              <a:rPr lang="en-US" sz="1100" dirty="0">
                <a:solidFill>
                  <a:srgbClr val="C9DFEF"/>
                </a:solidFill>
                <a:latin typeface="Calibri" pitchFamily="34" charset="0"/>
                <a:ea typeface="Calibri" pitchFamily="34" charset="-122"/>
                <a:cs typeface="Calibri" pitchFamily="34" charset="-120"/>
              </a:rPr>
              <a:t>• Merging artefacts</a:t>
            </a:r>
            <a:endParaRPr lang="en-US" sz="1100" dirty="0"/>
          </a:p>
        </p:txBody>
      </p:sp>
      <p:sp>
        <p:nvSpPr>
          <p:cNvPr id="30" name="Text 28"/>
          <p:cNvSpPr/>
          <p:nvPr/>
        </p:nvSpPr>
        <p:spPr>
          <a:xfrm>
            <a:off x="6995160" y="2926080"/>
            <a:ext cx="1737360" cy="457200"/>
          </a:xfrm>
          <a:prstGeom prst="rect">
            <a:avLst/>
          </a:prstGeom>
          <a:noFill/>
          <a:ln/>
        </p:spPr>
        <p:txBody>
          <a:bodyPr wrap="square" lIns="0" tIns="0" rIns="0" bIns="0" rtlCol="0" anchor="ctr"/>
          <a:lstStyle/>
          <a:p>
            <a:pPr algn="l" indent="0" marL="0">
              <a:buNone/>
            </a:pPr>
            <a:r>
              <a:rPr lang="en-US" sz="1100" dirty="0">
                <a:solidFill>
                  <a:srgbClr val="C9DFEF"/>
                </a:solidFill>
                <a:latin typeface="Calibri" pitchFamily="34" charset="0"/>
                <a:ea typeface="Calibri" pitchFamily="34" charset="-122"/>
                <a:cs typeface="Calibri" pitchFamily="34" charset="-120"/>
              </a:rPr>
              <a:t>• Cross-artefact correlation</a:t>
            </a:r>
            <a:endParaRPr lang="en-US" sz="1100" dirty="0"/>
          </a:p>
        </p:txBody>
      </p:sp>
      <p:sp>
        <p:nvSpPr>
          <p:cNvPr id="31" name="Text 29"/>
          <p:cNvSpPr/>
          <p:nvPr/>
        </p:nvSpPr>
        <p:spPr>
          <a:xfrm>
            <a:off x="6995160" y="3383280"/>
            <a:ext cx="1737360" cy="457200"/>
          </a:xfrm>
          <a:prstGeom prst="rect">
            <a:avLst/>
          </a:prstGeom>
          <a:noFill/>
          <a:ln/>
        </p:spPr>
        <p:txBody>
          <a:bodyPr wrap="square" lIns="0" tIns="0" rIns="0" bIns="0" rtlCol="0" anchor="ctr"/>
          <a:lstStyle/>
          <a:p>
            <a:pPr algn="l" indent="0" marL="0">
              <a:buNone/>
            </a:pPr>
            <a:r>
              <a:rPr lang="en-US" sz="1100" dirty="0">
                <a:solidFill>
                  <a:srgbClr val="C9DFEF"/>
                </a:solidFill>
                <a:latin typeface="Calibri" pitchFamily="34" charset="0"/>
                <a:ea typeface="Calibri" pitchFamily="34" charset="-122"/>
                <a:cs typeface="Calibri" pitchFamily="34" charset="-120"/>
              </a:rPr>
              <a:t>• The Timestamp Trap</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622"/>
        </a:solidFill>
      </p:bgPr>
    </p:bg>
    <p:spTree>
      <p:nvGrpSpPr>
        <p:cNvPr id="1" name=""/>
        <p:cNvGrpSpPr/>
        <p:nvPr/>
      </p:nvGrpSpPr>
      <p:grpSpPr>
        <a:xfrm>
          <a:off x="0" y="0"/>
          <a:ext cx="0" cy="0"/>
          <a:chOff x="0" y="0"/>
          <a:chExt cx="0" cy="0"/>
        </a:xfrm>
      </p:grpSpPr>
      <p:sp>
        <p:nvSpPr>
          <p:cNvPr id="2" name="Text 0"/>
          <p:cNvSpPr/>
          <p:nvPr/>
        </p:nvSpPr>
        <p:spPr>
          <a:xfrm>
            <a:off x="457200" y="237744"/>
            <a:ext cx="8229600" cy="475488"/>
          </a:xfrm>
          <a:prstGeom prst="rect">
            <a:avLst/>
          </a:prstGeom>
          <a:noFill/>
          <a:ln/>
        </p:spPr>
        <p:txBody>
          <a:bodyPr wrap="square" lIns="0" tIns="0" rIns="0" bIns="0" rtlCol="0" anchor="ctr"/>
          <a:lstStyle/>
          <a:p>
            <a:pPr algn="l" indent="0" marL="0">
              <a:buNone/>
            </a:pPr>
            <a:r>
              <a:rPr lang="en-US" sz="3000" b="1" dirty="0">
                <a:solidFill>
                  <a:srgbClr val="00C6AE"/>
                </a:solidFill>
                <a:latin typeface="Calibri" pitchFamily="34" charset="0"/>
                <a:ea typeface="Calibri" pitchFamily="34" charset="-122"/>
                <a:cs typeface="Calibri" pitchFamily="34" charset="-120"/>
              </a:rPr>
              <a:t>Browser Forensics &amp; SQLite</a:t>
            </a:r>
            <a:endParaRPr lang="en-US" sz="3000" dirty="0"/>
          </a:p>
        </p:txBody>
      </p:sp>
      <p:sp>
        <p:nvSpPr>
          <p:cNvPr id="3" name="Shape 1"/>
          <p:cNvSpPr/>
          <p:nvPr/>
        </p:nvSpPr>
        <p:spPr>
          <a:xfrm>
            <a:off x="457200" y="786384"/>
            <a:ext cx="8229600" cy="0"/>
          </a:xfrm>
          <a:prstGeom prst="line">
            <a:avLst/>
          </a:prstGeom>
          <a:noFill/>
          <a:ln w="12700">
            <a:solidFill>
              <a:srgbClr val="1A3350"/>
            </a:solidFill>
            <a:prstDash val="solid"/>
          </a:ln>
        </p:spPr>
      </p:sp>
      <p:sp>
        <p:nvSpPr>
          <p:cNvPr id="4" name="Shape 2"/>
          <p:cNvSpPr/>
          <p:nvPr/>
        </p:nvSpPr>
        <p:spPr>
          <a:xfrm>
            <a:off x="384048" y="1005840"/>
            <a:ext cx="4160520" cy="3794760"/>
          </a:xfrm>
          <a:prstGeom prst="rect">
            <a:avLst/>
          </a:prstGeom>
          <a:solidFill>
            <a:srgbClr val="0F1C2E"/>
          </a:solidFill>
          <a:ln/>
          <a:effectLst>
            <a:outerShdw sx="100000" sy="100000" kx="0" ky="0" algn="bl" rotWithShape="0" blurRad="101600" dist="25400" dir="8100000">
              <a:srgbClr val="000000">
                <a:alpha val="30000"/>
              </a:srgbClr>
            </a:outerShdw>
          </a:effectLst>
        </p:spPr>
      </p:sp>
      <p:sp>
        <p:nvSpPr>
          <p:cNvPr id="5" name="Shape 3"/>
          <p:cNvSpPr/>
          <p:nvPr/>
        </p:nvSpPr>
        <p:spPr>
          <a:xfrm>
            <a:off x="384048" y="1005840"/>
            <a:ext cx="64008" cy="3794760"/>
          </a:xfrm>
          <a:prstGeom prst="rect">
            <a:avLst/>
          </a:prstGeom>
          <a:solidFill>
            <a:srgbClr val="0D7ECC"/>
          </a:solidFill>
          <a:ln/>
        </p:spPr>
      </p:sp>
      <p:sp>
        <p:nvSpPr>
          <p:cNvPr id="6" name="Text 4"/>
          <p:cNvSpPr/>
          <p:nvPr/>
        </p:nvSpPr>
        <p:spPr>
          <a:xfrm>
            <a:off x="621792" y="1097280"/>
            <a:ext cx="3749040" cy="292608"/>
          </a:xfrm>
          <a:prstGeom prst="rect">
            <a:avLst/>
          </a:prstGeom>
          <a:noFill/>
          <a:ln/>
        </p:spPr>
        <p:txBody>
          <a:bodyPr wrap="square" lIns="0" tIns="0" rIns="0" bIns="0" rtlCol="0" anchor="ctr"/>
          <a:lstStyle/>
          <a:p>
            <a:pPr algn="l" indent="0" marL="0">
              <a:buNone/>
            </a:pPr>
            <a:r>
              <a:rPr lang="en-US" sz="1300" b="1" dirty="0">
                <a:solidFill>
                  <a:srgbClr val="0D7ECC"/>
                </a:solidFill>
                <a:latin typeface="Calibri" pitchFamily="34" charset="0"/>
                <a:ea typeface="Calibri" pitchFamily="34" charset="-122"/>
                <a:cs typeface="Calibri" pitchFamily="34" charset="-120"/>
              </a:rPr>
              <a:t>Why Browser Forensics?</a:t>
            </a:r>
            <a:endParaRPr lang="en-US" sz="1300" dirty="0"/>
          </a:p>
        </p:txBody>
      </p:sp>
      <p:sp>
        <p:nvSpPr>
          <p:cNvPr id="7" name="Text 5"/>
          <p:cNvSpPr/>
          <p:nvPr/>
        </p:nvSpPr>
        <p:spPr>
          <a:xfrm>
            <a:off x="621792" y="1353312"/>
            <a:ext cx="3749040" cy="548640"/>
          </a:xfrm>
          <a:prstGeom prst="rect">
            <a:avLst/>
          </a:prstGeom>
          <a:noFill/>
          <a:ln/>
        </p:spPr>
        <p:txBody>
          <a:bodyPr wrap="square" lIns="0" tIns="0" rIns="0" bIns="0" rtlCol="0" anchor="ctr"/>
          <a:lstStyle/>
          <a:p>
            <a:pPr algn="l" indent="0" marL="0">
              <a:buNone/>
            </a:pPr>
            <a:r>
              <a:rPr lang="en-US" sz="1150" dirty="0">
                <a:solidFill>
                  <a:srgbClr val="C9DFEF"/>
                </a:solidFill>
                <a:latin typeface="Calibri" pitchFamily="34" charset="0"/>
                <a:ea typeface="Calibri" pitchFamily="34" charset="-122"/>
                <a:cs typeface="Calibri" pitchFamily="34" charset="-120"/>
              </a:rPr>
              <a:t>Builds a minute-by-minute timeline of user intent. It proves what files were downloaded, what sites were visited, and captures session tokens/credentials.</a:t>
            </a:r>
            <a:endParaRPr lang="en-US" sz="1150" dirty="0"/>
          </a:p>
        </p:txBody>
      </p:sp>
      <p:sp>
        <p:nvSpPr>
          <p:cNvPr id="8" name="Text 6"/>
          <p:cNvSpPr/>
          <p:nvPr/>
        </p:nvSpPr>
        <p:spPr>
          <a:xfrm>
            <a:off x="621792" y="1965960"/>
            <a:ext cx="3749040" cy="292608"/>
          </a:xfrm>
          <a:prstGeom prst="rect">
            <a:avLst/>
          </a:prstGeom>
          <a:noFill/>
          <a:ln/>
        </p:spPr>
        <p:txBody>
          <a:bodyPr wrap="square" lIns="0" tIns="0" rIns="0" bIns="0" rtlCol="0" anchor="ctr"/>
          <a:lstStyle/>
          <a:p>
            <a:pPr algn="l" indent="0" marL="0">
              <a:buNone/>
            </a:pPr>
            <a:r>
              <a:rPr lang="en-US" sz="1300" b="1" dirty="0">
                <a:solidFill>
                  <a:srgbClr val="0D7ECC"/>
                </a:solidFill>
                <a:latin typeface="Calibri" pitchFamily="34" charset="0"/>
                <a:ea typeface="Calibri" pitchFamily="34" charset="-122"/>
                <a:cs typeface="Calibri" pitchFamily="34" charset="-120"/>
              </a:rPr>
              <a:t>Persists After Clearing</a:t>
            </a:r>
            <a:endParaRPr lang="en-US" sz="1300" dirty="0"/>
          </a:p>
        </p:txBody>
      </p:sp>
      <p:sp>
        <p:nvSpPr>
          <p:cNvPr id="9" name="Text 7"/>
          <p:cNvSpPr/>
          <p:nvPr/>
        </p:nvSpPr>
        <p:spPr>
          <a:xfrm>
            <a:off x="621792" y="2221992"/>
            <a:ext cx="3749040" cy="548640"/>
          </a:xfrm>
          <a:prstGeom prst="rect">
            <a:avLst/>
          </a:prstGeom>
          <a:noFill/>
          <a:ln/>
        </p:spPr>
        <p:txBody>
          <a:bodyPr wrap="square" lIns="0" tIns="0" rIns="0" bIns="0" rtlCol="0" anchor="ctr"/>
          <a:lstStyle/>
          <a:p>
            <a:pPr algn="l" indent="0" marL="0">
              <a:buNone/>
            </a:pPr>
            <a:r>
              <a:rPr lang="en-US" sz="1150" dirty="0">
                <a:solidFill>
                  <a:srgbClr val="C9DFEF"/>
                </a:solidFill>
                <a:latin typeface="Calibri" pitchFamily="34" charset="0"/>
                <a:ea typeface="Calibri" pitchFamily="34" charset="-122"/>
                <a:cs typeface="Calibri" pitchFamily="34" charset="-120"/>
              </a:rPr>
              <a:t>Clearing history via the UI marks rows as 'deleted' in the database, but does NOT instantly overwrite the data. Forensics can recover these records.</a:t>
            </a:r>
            <a:endParaRPr lang="en-US" sz="1150" dirty="0"/>
          </a:p>
        </p:txBody>
      </p:sp>
      <p:sp>
        <p:nvSpPr>
          <p:cNvPr id="10" name="Text 8"/>
          <p:cNvSpPr/>
          <p:nvPr/>
        </p:nvSpPr>
        <p:spPr>
          <a:xfrm>
            <a:off x="621792" y="2834640"/>
            <a:ext cx="3749040" cy="292608"/>
          </a:xfrm>
          <a:prstGeom prst="rect">
            <a:avLst/>
          </a:prstGeom>
          <a:noFill/>
          <a:ln/>
        </p:spPr>
        <p:txBody>
          <a:bodyPr wrap="square" lIns="0" tIns="0" rIns="0" bIns="0" rtlCol="0" anchor="ctr"/>
          <a:lstStyle/>
          <a:p>
            <a:pPr algn="l" indent="0" marL="0">
              <a:buNone/>
            </a:pPr>
            <a:r>
              <a:rPr lang="en-US" sz="1300" b="1" dirty="0">
                <a:solidFill>
                  <a:srgbClr val="0D7ECC"/>
                </a:solidFill>
                <a:latin typeface="Calibri" pitchFamily="34" charset="0"/>
                <a:ea typeface="Calibri" pitchFamily="34" charset="-122"/>
                <a:cs typeface="Calibri" pitchFamily="34" charset="-120"/>
              </a:rPr>
              <a:t>What is SQLite?</a:t>
            </a:r>
            <a:endParaRPr lang="en-US" sz="1300" dirty="0"/>
          </a:p>
        </p:txBody>
      </p:sp>
      <p:sp>
        <p:nvSpPr>
          <p:cNvPr id="11" name="Text 9"/>
          <p:cNvSpPr/>
          <p:nvPr/>
        </p:nvSpPr>
        <p:spPr>
          <a:xfrm>
            <a:off x="621792" y="3090672"/>
            <a:ext cx="3749040" cy="548640"/>
          </a:xfrm>
          <a:prstGeom prst="rect">
            <a:avLst/>
          </a:prstGeom>
          <a:noFill/>
          <a:ln/>
        </p:spPr>
        <p:txBody>
          <a:bodyPr wrap="square" lIns="0" tIns="0" rIns="0" bIns="0" rtlCol="0" anchor="ctr"/>
          <a:lstStyle/>
          <a:p>
            <a:pPr algn="l" indent="0" marL="0">
              <a:buNone/>
            </a:pPr>
            <a:r>
              <a:rPr lang="en-US" sz="1150" dirty="0">
                <a:solidFill>
                  <a:srgbClr val="C9DFEF"/>
                </a:solidFill>
                <a:latin typeface="Calibri" pitchFamily="34" charset="0"/>
                <a:ea typeface="Calibri" pitchFamily="34" charset="-122"/>
                <a:cs typeface="Calibri" pitchFamily="34" charset="-120"/>
              </a:rPr>
              <a:t>A lightweight, self-contained database stored as a single binary file. It is the backbone for browser history, cookies, and downloads.</a:t>
            </a:r>
            <a:endParaRPr lang="en-US" sz="1150" dirty="0"/>
          </a:p>
        </p:txBody>
      </p:sp>
      <p:sp>
        <p:nvSpPr>
          <p:cNvPr id="12" name="Text 10"/>
          <p:cNvSpPr/>
          <p:nvPr/>
        </p:nvSpPr>
        <p:spPr>
          <a:xfrm>
            <a:off x="621792" y="3703320"/>
            <a:ext cx="3749040" cy="292608"/>
          </a:xfrm>
          <a:prstGeom prst="rect">
            <a:avLst/>
          </a:prstGeom>
          <a:noFill/>
          <a:ln/>
        </p:spPr>
        <p:txBody>
          <a:bodyPr wrap="square" lIns="0" tIns="0" rIns="0" bIns="0" rtlCol="0" anchor="ctr"/>
          <a:lstStyle/>
          <a:p>
            <a:pPr algn="l" indent="0" marL="0">
              <a:buNone/>
            </a:pPr>
            <a:r>
              <a:rPr lang="en-US" sz="1300" b="1" dirty="0">
                <a:solidFill>
                  <a:srgbClr val="0D7ECC"/>
                </a:solidFill>
                <a:latin typeface="Calibri" pitchFamily="34" charset="0"/>
                <a:ea typeface="Calibri" pitchFamily="34" charset="-122"/>
                <a:cs typeface="Calibri" pitchFamily="34" charset="-120"/>
              </a:rPr>
              <a:t>Forensic Value of SQLite</a:t>
            </a:r>
            <a:endParaRPr lang="en-US" sz="1300" dirty="0"/>
          </a:p>
        </p:txBody>
      </p:sp>
      <p:sp>
        <p:nvSpPr>
          <p:cNvPr id="13" name="Text 11"/>
          <p:cNvSpPr/>
          <p:nvPr/>
        </p:nvSpPr>
        <p:spPr>
          <a:xfrm>
            <a:off x="621792" y="3959352"/>
            <a:ext cx="3749040" cy="548640"/>
          </a:xfrm>
          <a:prstGeom prst="rect">
            <a:avLst/>
          </a:prstGeom>
          <a:noFill/>
          <a:ln/>
        </p:spPr>
        <p:txBody>
          <a:bodyPr wrap="square" lIns="0" tIns="0" rIns="0" bIns="0" rtlCol="0" anchor="ctr"/>
          <a:lstStyle/>
          <a:p>
            <a:pPr algn="l" indent="0" marL="0">
              <a:buNone/>
            </a:pPr>
            <a:r>
              <a:rPr lang="en-US" sz="1150" dirty="0">
                <a:solidFill>
                  <a:srgbClr val="C9DFEF"/>
                </a:solidFill>
                <a:latin typeface="Calibri" pitchFamily="34" charset="0"/>
                <a:ea typeface="Calibri" pitchFamily="34" charset="-122"/>
                <a:cs typeface="Calibri" pitchFamily="34" charset="-120"/>
              </a:rPr>
              <a:t>Deleted data remains in unallocated pages. Transactions are tracked in the Write-Ahead Log (WAL) and rollback journals.</a:t>
            </a:r>
            <a:endParaRPr lang="en-US" sz="1150" dirty="0"/>
          </a:p>
        </p:txBody>
      </p:sp>
      <p:sp>
        <p:nvSpPr>
          <p:cNvPr id="14" name="Shape 12"/>
          <p:cNvSpPr/>
          <p:nvPr/>
        </p:nvSpPr>
        <p:spPr>
          <a:xfrm>
            <a:off x="4736592" y="1005840"/>
            <a:ext cx="4023360" cy="3794760"/>
          </a:xfrm>
          <a:prstGeom prst="rect">
            <a:avLst/>
          </a:prstGeom>
          <a:solidFill>
            <a:srgbClr val="080F1A"/>
          </a:solidFill>
          <a:ln/>
          <a:effectLst>
            <a:outerShdw sx="100000" sy="100000" kx="0" ky="0" algn="bl" rotWithShape="0" blurRad="101600" dist="25400" dir="8100000">
              <a:srgbClr val="000000">
                <a:alpha val="30000"/>
              </a:srgbClr>
            </a:outerShdw>
          </a:effectLst>
        </p:spPr>
      </p:sp>
      <p:sp>
        <p:nvSpPr>
          <p:cNvPr id="15" name="Text 13"/>
          <p:cNvSpPr/>
          <p:nvPr/>
        </p:nvSpPr>
        <p:spPr>
          <a:xfrm>
            <a:off x="4846320" y="1078992"/>
            <a:ext cx="3840480" cy="292608"/>
          </a:xfrm>
          <a:prstGeom prst="rect">
            <a:avLst/>
          </a:prstGeom>
          <a:noFill/>
          <a:ln/>
        </p:spPr>
        <p:txBody>
          <a:bodyPr wrap="square" lIns="0" tIns="0" rIns="0" bIns="0" rtlCol="0" anchor="ctr"/>
          <a:lstStyle/>
          <a:p>
            <a:pPr algn="l" indent="0" marL="0">
              <a:buNone/>
            </a:pPr>
            <a:r>
              <a:rPr lang="en-US" sz="1200" b="1" dirty="0">
                <a:solidFill>
                  <a:srgbClr val="00C6AE"/>
                </a:solidFill>
                <a:latin typeface="Calibri" pitchFamily="34" charset="0"/>
                <a:ea typeface="Calibri" pitchFamily="34" charset="-122"/>
                <a:cs typeface="Calibri" pitchFamily="34" charset="-120"/>
              </a:rPr>
              <a:t>SQLite Chrome History Tables</a:t>
            </a:r>
            <a:endParaRPr lang="en-US" sz="1200" dirty="0"/>
          </a:p>
        </p:txBody>
      </p:sp>
      <p:sp>
        <p:nvSpPr>
          <p:cNvPr id="16" name="Shape 14"/>
          <p:cNvSpPr/>
          <p:nvPr/>
        </p:nvSpPr>
        <p:spPr>
          <a:xfrm>
            <a:off x="4773168" y="1463040"/>
            <a:ext cx="3931920" cy="685800"/>
          </a:xfrm>
          <a:prstGeom prst="rect">
            <a:avLst/>
          </a:prstGeom>
          <a:solidFill>
            <a:srgbClr val="132030"/>
          </a:solidFill>
          <a:ln/>
        </p:spPr>
      </p:sp>
      <p:sp>
        <p:nvSpPr>
          <p:cNvPr id="17" name="Text 15"/>
          <p:cNvSpPr/>
          <p:nvPr/>
        </p:nvSpPr>
        <p:spPr>
          <a:xfrm>
            <a:off x="4892040" y="1508760"/>
            <a:ext cx="3657600" cy="256032"/>
          </a:xfrm>
          <a:prstGeom prst="rect">
            <a:avLst/>
          </a:prstGeom>
          <a:noFill/>
          <a:ln/>
        </p:spPr>
        <p:txBody>
          <a:bodyPr wrap="square" lIns="0" tIns="0" rIns="0" bIns="0" rtlCol="0" anchor="ctr"/>
          <a:lstStyle/>
          <a:p>
            <a:pPr algn="l" indent="0" marL="0">
              <a:buNone/>
            </a:pPr>
            <a:r>
              <a:rPr lang="en-US" sz="1200" b="1" dirty="0">
                <a:solidFill>
                  <a:srgbClr val="F59E0B"/>
                </a:solidFill>
                <a:latin typeface="Consolas" pitchFamily="34" charset="0"/>
                <a:ea typeface="Consolas" pitchFamily="34" charset="-122"/>
                <a:cs typeface="Consolas" pitchFamily="34" charset="-120"/>
              </a:rPr>
              <a:t>urls</a:t>
            </a:r>
            <a:endParaRPr lang="en-US" sz="1200" dirty="0"/>
          </a:p>
        </p:txBody>
      </p:sp>
      <p:sp>
        <p:nvSpPr>
          <p:cNvPr id="18" name="Text 16"/>
          <p:cNvSpPr/>
          <p:nvPr/>
        </p:nvSpPr>
        <p:spPr>
          <a:xfrm>
            <a:off x="4892040" y="1783080"/>
            <a:ext cx="3657600" cy="256032"/>
          </a:xfrm>
          <a:prstGeom prst="rect">
            <a:avLst/>
          </a:prstGeom>
          <a:noFill/>
          <a:ln/>
        </p:spPr>
        <p:txBody>
          <a:bodyPr wrap="square" lIns="0" tIns="0" rIns="0" bIns="0" rtlCol="0" anchor="ctr"/>
          <a:lstStyle/>
          <a:p>
            <a:pPr algn="l" indent="0" marL="0">
              <a:buNone/>
            </a:pPr>
            <a:r>
              <a:rPr lang="en-US" sz="950" dirty="0">
                <a:solidFill>
                  <a:srgbClr val="6B8FAD"/>
                </a:solidFill>
                <a:latin typeface="Consolas" pitchFamily="34" charset="0"/>
                <a:ea typeface="Consolas" pitchFamily="34" charset="-122"/>
                <a:cs typeface="Consolas" pitchFamily="34" charset="-120"/>
              </a:rPr>
              <a:t>id, url, title, visit_count, last_visit_time</a:t>
            </a:r>
            <a:endParaRPr lang="en-US" sz="950" dirty="0"/>
          </a:p>
        </p:txBody>
      </p:sp>
      <p:sp>
        <p:nvSpPr>
          <p:cNvPr id="19" name="Shape 17"/>
          <p:cNvSpPr/>
          <p:nvPr/>
        </p:nvSpPr>
        <p:spPr>
          <a:xfrm>
            <a:off x="4773168" y="2240280"/>
            <a:ext cx="3931920" cy="685800"/>
          </a:xfrm>
          <a:prstGeom prst="rect">
            <a:avLst/>
          </a:prstGeom>
          <a:solidFill>
            <a:srgbClr val="132030"/>
          </a:solidFill>
          <a:ln/>
        </p:spPr>
      </p:sp>
      <p:sp>
        <p:nvSpPr>
          <p:cNvPr id="20" name="Text 18"/>
          <p:cNvSpPr/>
          <p:nvPr/>
        </p:nvSpPr>
        <p:spPr>
          <a:xfrm>
            <a:off x="4892040" y="2286000"/>
            <a:ext cx="3657600" cy="256032"/>
          </a:xfrm>
          <a:prstGeom prst="rect">
            <a:avLst/>
          </a:prstGeom>
          <a:noFill/>
          <a:ln/>
        </p:spPr>
        <p:txBody>
          <a:bodyPr wrap="square" lIns="0" tIns="0" rIns="0" bIns="0" rtlCol="0" anchor="ctr"/>
          <a:lstStyle/>
          <a:p>
            <a:pPr algn="l" indent="0" marL="0">
              <a:buNone/>
            </a:pPr>
            <a:r>
              <a:rPr lang="en-US" sz="1200" b="1" dirty="0">
                <a:solidFill>
                  <a:srgbClr val="F59E0B"/>
                </a:solidFill>
                <a:latin typeface="Consolas" pitchFamily="34" charset="0"/>
                <a:ea typeface="Consolas" pitchFamily="34" charset="-122"/>
                <a:cs typeface="Consolas" pitchFamily="34" charset="-120"/>
              </a:rPr>
              <a:t>visits</a:t>
            </a:r>
            <a:endParaRPr lang="en-US" sz="1200" dirty="0"/>
          </a:p>
        </p:txBody>
      </p:sp>
      <p:sp>
        <p:nvSpPr>
          <p:cNvPr id="21" name="Text 19"/>
          <p:cNvSpPr/>
          <p:nvPr/>
        </p:nvSpPr>
        <p:spPr>
          <a:xfrm>
            <a:off x="4892040" y="2560320"/>
            <a:ext cx="3657600" cy="256032"/>
          </a:xfrm>
          <a:prstGeom prst="rect">
            <a:avLst/>
          </a:prstGeom>
          <a:noFill/>
          <a:ln/>
        </p:spPr>
        <p:txBody>
          <a:bodyPr wrap="square" lIns="0" tIns="0" rIns="0" bIns="0" rtlCol="0" anchor="ctr"/>
          <a:lstStyle/>
          <a:p>
            <a:pPr algn="l" indent="0" marL="0">
              <a:buNone/>
            </a:pPr>
            <a:r>
              <a:rPr lang="en-US" sz="950" dirty="0">
                <a:solidFill>
                  <a:srgbClr val="6B8FAD"/>
                </a:solidFill>
                <a:latin typeface="Consolas" pitchFamily="34" charset="0"/>
                <a:ea typeface="Consolas" pitchFamily="34" charset="-122"/>
                <a:cs typeface="Consolas" pitchFamily="34" charset="-120"/>
              </a:rPr>
              <a:t>id, url, visit_time, from_visit, transition</a:t>
            </a:r>
            <a:endParaRPr lang="en-US" sz="950" dirty="0"/>
          </a:p>
        </p:txBody>
      </p:sp>
      <p:sp>
        <p:nvSpPr>
          <p:cNvPr id="22" name="Shape 20"/>
          <p:cNvSpPr/>
          <p:nvPr/>
        </p:nvSpPr>
        <p:spPr>
          <a:xfrm>
            <a:off x="4773168" y="3017520"/>
            <a:ext cx="3931920" cy="685800"/>
          </a:xfrm>
          <a:prstGeom prst="rect">
            <a:avLst/>
          </a:prstGeom>
          <a:solidFill>
            <a:srgbClr val="132030"/>
          </a:solidFill>
          <a:ln/>
        </p:spPr>
      </p:sp>
      <p:sp>
        <p:nvSpPr>
          <p:cNvPr id="23" name="Text 21"/>
          <p:cNvSpPr/>
          <p:nvPr/>
        </p:nvSpPr>
        <p:spPr>
          <a:xfrm>
            <a:off x="4892040" y="3063240"/>
            <a:ext cx="3657600" cy="256032"/>
          </a:xfrm>
          <a:prstGeom prst="rect">
            <a:avLst/>
          </a:prstGeom>
          <a:noFill/>
          <a:ln/>
        </p:spPr>
        <p:txBody>
          <a:bodyPr wrap="square" lIns="0" tIns="0" rIns="0" bIns="0" rtlCol="0" anchor="ctr"/>
          <a:lstStyle/>
          <a:p>
            <a:pPr algn="l" indent="0" marL="0">
              <a:buNone/>
            </a:pPr>
            <a:r>
              <a:rPr lang="en-US" sz="1200" b="1" dirty="0">
                <a:solidFill>
                  <a:srgbClr val="F59E0B"/>
                </a:solidFill>
                <a:latin typeface="Consolas" pitchFamily="34" charset="0"/>
                <a:ea typeface="Consolas" pitchFamily="34" charset="-122"/>
                <a:cs typeface="Consolas" pitchFamily="34" charset="-120"/>
              </a:rPr>
              <a:t>downloads</a:t>
            </a:r>
            <a:endParaRPr lang="en-US" sz="1200" dirty="0"/>
          </a:p>
        </p:txBody>
      </p:sp>
      <p:sp>
        <p:nvSpPr>
          <p:cNvPr id="24" name="Text 22"/>
          <p:cNvSpPr/>
          <p:nvPr/>
        </p:nvSpPr>
        <p:spPr>
          <a:xfrm>
            <a:off x="4892040" y="3337560"/>
            <a:ext cx="3657600" cy="256032"/>
          </a:xfrm>
          <a:prstGeom prst="rect">
            <a:avLst/>
          </a:prstGeom>
          <a:noFill/>
          <a:ln/>
        </p:spPr>
        <p:txBody>
          <a:bodyPr wrap="square" lIns="0" tIns="0" rIns="0" bIns="0" rtlCol="0" anchor="ctr"/>
          <a:lstStyle/>
          <a:p>
            <a:pPr algn="l" indent="0" marL="0">
              <a:buNone/>
            </a:pPr>
            <a:r>
              <a:rPr lang="en-US" sz="950" dirty="0">
                <a:solidFill>
                  <a:srgbClr val="6B8FAD"/>
                </a:solidFill>
                <a:latin typeface="Consolas" pitchFamily="34" charset="0"/>
                <a:ea typeface="Consolas" pitchFamily="34" charset="-122"/>
                <a:cs typeface="Consolas" pitchFamily="34" charset="-120"/>
              </a:rPr>
              <a:t>id, target_path, referrer, start_time, received_bytes</a:t>
            </a:r>
            <a:endParaRPr lang="en-US" sz="950" dirty="0"/>
          </a:p>
        </p:txBody>
      </p:sp>
      <p:sp>
        <p:nvSpPr>
          <p:cNvPr id="25" name="Shape 23"/>
          <p:cNvSpPr/>
          <p:nvPr/>
        </p:nvSpPr>
        <p:spPr>
          <a:xfrm>
            <a:off x="4773168" y="3794760"/>
            <a:ext cx="3931920" cy="685800"/>
          </a:xfrm>
          <a:prstGeom prst="rect">
            <a:avLst/>
          </a:prstGeom>
          <a:solidFill>
            <a:srgbClr val="132030"/>
          </a:solidFill>
          <a:ln/>
        </p:spPr>
      </p:sp>
      <p:sp>
        <p:nvSpPr>
          <p:cNvPr id="26" name="Text 24"/>
          <p:cNvSpPr/>
          <p:nvPr/>
        </p:nvSpPr>
        <p:spPr>
          <a:xfrm>
            <a:off x="4892040" y="3840480"/>
            <a:ext cx="3657600" cy="256032"/>
          </a:xfrm>
          <a:prstGeom prst="rect">
            <a:avLst/>
          </a:prstGeom>
          <a:noFill/>
          <a:ln/>
        </p:spPr>
        <p:txBody>
          <a:bodyPr wrap="square" lIns="0" tIns="0" rIns="0" bIns="0" rtlCol="0" anchor="ctr"/>
          <a:lstStyle/>
          <a:p>
            <a:pPr algn="l" indent="0" marL="0">
              <a:buNone/>
            </a:pPr>
            <a:r>
              <a:rPr lang="en-US" sz="1200" b="1" dirty="0">
                <a:solidFill>
                  <a:srgbClr val="F59E0B"/>
                </a:solidFill>
                <a:latin typeface="Consolas" pitchFamily="34" charset="0"/>
                <a:ea typeface="Consolas" pitchFamily="34" charset="-122"/>
                <a:cs typeface="Consolas" pitchFamily="34" charset="-120"/>
              </a:rPr>
              <a:t>cookies</a:t>
            </a:r>
            <a:endParaRPr lang="en-US" sz="1200" dirty="0"/>
          </a:p>
        </p:txBody>
      </p:sp>
      <p:sp>
        <p:nvSpPr>
          <p:cNvPr id="27" name="Text 25"/>
          <p:cNvSpPr/>
          <p:nvPr/>
        </p:nvSpPr>
        <p:spPr>
          <a:xfrm>
            <a:off x="4892040" y="4114800"/>
            <a:ext cx="3657600" cy="256032"/>
          </a:xfrm>
          <a:prstGeom prst="rect">
            <a:avLst/>
          </a:prstGeom>
          <a:noFill/>
          <a:ln/>
        </p:spPr>
        <p:txBody>
          <a:bodyPr wrap="square" lIns="0" tIns="0" rIns="0" bIns="0" rtlCol="0" anchor="ctr"/>
          <a:lstStyle/>
          <a:p>
            <a:pPr algn="l" indent="0" marL="0">
              <a:buNone/>
            </a:pPr>
            <a:r>
              <a:rPr lang="en-US" sz="950" dirty="0">
                <a:solidFill>
                  <a:srgbClr val="6B8FAD"/>
                </a:solidFill>
                <a:latin typeface="Consolas" pitchFamily="34" charset="0"/>
                <a:ea typeface="Consolas" pitchFamily="34" charset="-122"/>
                <a:cs typeface="Consolas" pitchFamily="34" charset="-120"/>
              </a:rPr>
              <a:t>creation_utc, host_key, name, value, expires_utc</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622"/>
        </a:solidFill>
      </p:bgPr>
    </p:bg>
    <p:spTree>
      <p:nvGrpSpPr>
        <p:cNvPr id="1" name=""/>
        <p:cNvGrpSpPr/>
        <p:nvPr/>
      </p:nvGrpSpPr>
      <p:grpSpPr>
        <a:xfrm>
          <a:off x="0" y="0"/>
          <a:ext cx="0" cy="0"/>
          <a:chOff x="0" y="0"/>
          <a:chExt cx="0" cy="0"/>
        </a:xfrm>
      </p:grpSpPr>
      <p:sp>
        <p:nvSpPr>
          <p:cNvPr id="2" name="Text 0"/>
          <p:cNvSpPr/>
          <p:nvPr/>
        </p:nvSpPr>
        <p:spPr>
          <a:xfrm>
            <a:off x="457200" y="237744"/>
            <a:ext cx="8229600" cy="475488"/>
          </a:xfrm>
          <a:prstGeom prst="rect">
            <a:avLst/>
          </a:prstGeom>
          <a:noFill/>
          <a:ln/>
        </p:spPr>
        <p:txBody>
          <a:bodyPr wrap="square" lIns="0" tIns="0" rIns="0" bIns="0" rtlCol="0" anchor="ctr"/>
          <a:lstStyle/>
          <a:p>
            <a:pPr algn="l" indent="0" marL="0">
              <a:buNone/>
            </a:pPr>
            <a:r>
              <a:rPr lang="en-US" sz="3000" b="1" dirty="0">
                <a:solidFill>
                  <a:srgbClr val="00C6AE"/>
                </a:solidFill>
                <a:latin typeface="Calibri" pitchFamily="34" charset="0"/>
                <a:ea typeface="Calibri" pitchFamily="34" charset="-122"/>
                <a:cs typeface="Calibri" pitchFamily="34" charset="-120"/>
              </a:rPr>
              <a:t>Artifact Types &amp; Locations</a:t>
            </a:r>
            <a:endParaRPr lang="en-US" sz="3000" dirty="0"/>
          </a:p>
        </p:txBody>
      </p:sp>
      <p:sp>
        <p:nvSpPr>
          <p:cNvPr id="3" name="Shape 1"/>
          <p:cNvSpPr/>
          <p:nvPr/>
        </p:nvSpPr>
        <p:spPr>
          <a:xfrm>
            <a:off x="457200" y="786384"/>
            <a:ext cx="8229600" cy="0"/>
          </a:xfrm>
          <a:prstGeom prst="line">
            <a:avLst/>
          </a:prstGeom>
          <a:noFill/>
          <a:ln w="12700">
            <a:solidFill>
              <a:srgbClr val="1A3350"/>
            </a:solidFill>
            <a:prstDash val="solid"/>
          </a:ln>
        </p:spPr>
      </p:sp>
      <p:sp>
        <p:nvSpPr>
          <p:cNvPr id="4" name="Text 2"/>
          <p:cNvSpPr/>
          <p:nvPr/>
        </p:nvSpPr>
        <p:spPr>
          <a:xfrm>
            <a:off x="384048" y="868680"/>
            <a:ext cx="8229600" cy="256032"/>
          </a:xfrm>
          <a:prstGeom prst="rect">
            <a:avLst/>
          </a:prstGeom>
          <a:noFill/>
          <a:ln/>
        </p:spPr>
        <p:txBody>
          <a:bodyPr wrap="square" lIns="0" tIns="0" rIns="0" bIns="0" rtlCol="0" anchor="ctr"/>
          <a:lstStyle/>
          <a:p>
            <a:pPr algn="l" indent="0" marL="0">
              <a:buNone/>
            </a:pPr>
            <a:r>
              <a:rPr lang="en-US" sz="1100" i="1" dirty="0">
                <a:solidFill>
                  <a:srgbClr val="F59E0B"/>
                </a:solidFill>
                <a:latin typeface="Calibri" pitchFamily="34" charset="0"/>
                <a:ea typeface="Calibri" pitchFamily="34" charset="-122"/>
                <a:cs typeface="Calibri" pitchFamily="34" charset="-120"/>
              </a:rPr>
              <a:t>All paths reside in the hidden AppData folder (%localappdata% / %appdata%).</a:t>
            </a:r>
            <a:endParaRPr lang="en-US" sz="1100" dirty="0"/>
          </a:p>
        </p:txBody>
      </p:sp>
      <p:sp>
        <p:nvSpPr>
          <p:cNvPr id="5" name="Shape 3"/>
          <p:cNvSpPr/>
          <p:nvPr/>
        </p:nvSpPr>
        <p:spPr>
          <a:xfrm>
            <a:off x="384048" y="1234440"/>
            <a:ext cx="8394192" cy="658368"/>
          </a:xfrm>
          <a:prstGeom prst="rect">
            <a:avLst/>
          </a:prstGeom>
          <a:solidFill>
            <a:srgbClr val="0F1C2E"/>
          </a:solidFill>
          <a:ln/>
          <a:effectLst>
            <a:outerShdw sx="100000" sy="100000" kx="0" ky="0" algn="bl" rotWithShape="0" blurRad="101600" dist="25400" dir="8100000">
              <a:srgbClr val="000000">
                <a:alpha val="30000"/>
              </a:srgbClr>
            </a:outerShdw>
          </a:effectLst>
        </p:spPr>
      </p:sp>
      <p:sp>
        <p:nvSpPr>
          <p:cNvPr id="6" name="Shape 4"/>
          <p:cNvSpPr/>
          <p:nvPr/>
        </p:nvSpPr>
        <p:spPr>
          <a:xfrm>
            <a:off x="384048" y="1234440"/>
            <a:ext cx="1097280" cy="658368"/>
          </a:xfrm>
          <a:prstGeom prst="rect">
            <a:avLst/>
          </a:prstGeom>
          <a:solidFill>
            <a:srgbClr val="0D7ECC"/>
          </a:solidFill>
          <a:ln/>
        </p:spPr>
      </p:sp>
      <p:sp>
        <p:nvSpPr>
          <p:cNvPr id="7" name="Text 5"/>
          <p:cNvSpPr/>
          <p:nvPr/>
        </p:nvSpPr>
        <p:spPr>
          <a:xfrm>
            <a:off x="384048" y="1234440"/>
            <a:ext cx="1097280"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History</a:t>
            </a:r>
            <a:endParaRPr lang="en-US" sz="1300" dirty="0"/>
          </a:p>
        </p:txBody>
      </p:sp>
      <p:sp>
        <p:nvSpPr>
          <p:cNvPr id="8" name="Text 6"/>
          <p:cNvSpPr/>
          <p:nvPr/>
        </p:nvSpPr>
        <p:spPr>
          <a:xfrm>
            <a:off x="1600200" y="1234440"/>
            <a:ext cx="7040880" cy="658368"/>
          </a:xfrm>
          <a:prstGeom prst="rect">
            <a:avLst/>
          </a:prstGeom>
          <a:noFill/>
          <a:ln/>
        </p:spPr>
        <p:txBody>
          <a:bodyPr wrap="square" lIns="0" tIns="0" rIns="0" bIns="0" rtlCol="0" anchor="ctr"/>
          <a:lstStyle/>
          <a:p>
            <a:pPr algn="l" indent="0" marL="0">
              <a:buNone/>
            </a:pPr>
            <a:r>
              <a:rPr lang="en-US" sz="1100" dirty="0">
                <a:solidFill>
                  <a:srgbClr val="C9DFEF"/>
                </a:solidFill>
                <a:latin typeface="Calibri" pitchFamily="34" charset="0"/>
                <a:ea typeface="Calibri" pitchFamily="34" charset="-122"/>
                <a:cs typeface="Calibri" pitchFamily="34" charset="-120"/>
              </a:rPr>
              <a:t>URL visited, timestamps, visit count. (Chrome: User Data\Default\History | Firefox: places.sqlite)</a:t>
            </a:r>
            <a:endParaRPr lang="en-US" sz="1100" dirty="0"/>
          </a:p>
        </p:txBody>
      </p:sp>
      <p:sp>
        <p:nvSpPr>
          <p:cNvPr id="9" name="Shape 7"/>
          <p:cNvSpPr/>
          <p:nvPr/>
        </p:nvSpPr>
        <p:spPr>
          <a:xfrm>
            <a:off x="384048" y="1984248"/>
            <a:ext cx="8394192" cy="658368"/>
          </a:xfrm>
          <a:prstGeom prst="rect">
            <a:avLst/>
          </a:prstGeom>
          <a:solidFill>
            <a:srgbClr val="0F1C2E"/>
          </a:solidFill>
          <a:ln/>
          <a:effectLst>
            <a:outerShdw sx="100000" sy="100000" kx="0" ky="0" algn="bl" rotWithShape="0" blurRad="101600" dist="25400" dir="8100000">
              <a:srgbClr val="000000">
                <a:alpha val="30000"/>
              </a:srgbClr>
            </a:outerShdw>
          </a:effectLst>
        </p:spPr>
      </p:sp>
      <p:sp>
        <p:nvSpPr>
          <p:cNvPr id="10" name="Shape 8"/>
          <p:cNvSpPr/>
          <p:nvPr/>
        </p:nvSpPr>
        <p:spPr>
          <a:xfrm>
            <a:off x="384048" y="1984248"/>
            <a:ext cx="1097280" cy="658368"/>
          </a:xfrm>
          <a:prstGeom prst="rect">
            <a:avLst/>
          </a:prstGeom>
          <a:solidFill>
            <a:srgbClr val="00C6AE"/>
          </a:solidFill>
          <a:ln/>
        </p:spPr>
      </p:sp>
      <p:sp>
        <p:nvSpPr>
          <p:cNvPr id="11" name="Text 9"/>
          <p:cNvSpPr/>
          <p:nvPr/>
        </p:nvSpPr>
        <p:spPr>
          <a:xfrm>
            <a:off x="384048" y="1984248"/>
            <a:ext cx="1097280"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Downloads</a:t>
            </a:r>
            <a:endParaRPr lang="en-US" sz="1300" dirty="0"/>
          </a:p>
        </p:txBody>
      </p:sp>
      <p:sp>
        <p:nvSpPr>
          <p:cNvPr id="12" name="Text 10"/>
          <p:cNvSpPr/>
          <p:nvPr/>
        </p:nvSpPr>
        <p:spPr>
          <a:xfrm>
            <a:off x="1600200" y="1984248"/>
            <a:ext cx="7040880" cy="658368"/>
          </a:xfrm>
          <a:prstGeom prst="rect">
            <a:avLst/>
          </a:prstGeom>
          <a:noFill/>
          <a:ln/>
        </p:spPr>
        <p:txBody>
          <a:bodyPr wrap="square" lIns="0" tIns="0" rIns="0" bIns="0" rtlCol="0" anchor="ctr"/>
          <a:lstStyle/>
          <a:p>
            <a:pPr algn="l" indent="0" marL="0">
              <a:buNone/>
            </a:pPr>
            <a:r>
              <a:rPr lang="en-US" sz="1100" dirty="0">
                <a:solidFill>
                  <a:srgbClr val="C9DFEF"/>
                </a:solidFill>
                <a:latin typeface="Calibri" pitchFamily="34" charset="0"/>
                <a:ea typeface="Calibri" pitchFamily="34" charset="-122"/>
                <a:cs typeface="Calibri" pitchFamily="34" charset="-120"/>
              </a:rPr>
              <a:t>Source URL, target file path, and size. Missing target file = moved/deleted.</a:t>
            </a:r>
            <a:endParaRPr lang="en-US" sz="1100" dirty="0"/>
          </a:p>
        </p:txBody>
      </p:sp>
      <p:sp>
        <p:nvSpPr>
          <p:cNvPr id="13" name="Shape 11"/>
          <p:cNvSpPr/>
          <p:nvPr/>
        </p:nvSpPr>
        <p:spPr>
          <a:xfrm>
            <a:off x="384048" y="2734056"/>
            <a:ext cx="8394192" cy="658368"/>
          </a:xfrm>
          <a:prstGeom prst="rect">
            <a:avLst/>
          </a:prstGeom>
          <a:solidFill>
            <a:srgbClr val="0F1C2E"/>
          </a:solidFill>
          <a:ln/>
          <a:effectLst>
            <a:outerShdw sx="100000" sy="100000" kx="0" ky="0" algn="bl" rotWithShape="0" blurRad="101600" dist="25400" dir="8100000">
              <a:srgbClr val="000000">
                <a:alpha val="30000"/>
              </a:srgbClr>
            </a:outerShdw>
          </a:effectLst>
        </p:spPr>
      </p:sp>
      <p:sp>
        <p:nvSpPr>
          <p:cNvPr id="14" name="Shape 12"/>
          <p:cNvSpPr/>
          <p:nvPr/>
        </p:nvSpPr>
        <p:spPr>
          <a:xfrm>
            <a:off x="384048" y="2734056"/>
            <a:ext cx="1097280" cy="658368"/>
          </a:xfrm>
          <a:prstGeom prst="rect">
            <a:avLst/>
          </a:prstGeom>
          <a:solidFill>
            <a:srgbClr val="7C3AED"/>
          </a:solidFill>
          <a:ln/>
        </p:spPr>
      </p:sp>
      <p:sp>
        <p:nvSpPr>
          <p:cNvPr id="15" name="Text 13"/>
          <p:cNvSpPr/>
          <p:nvPr/>
        </p:nvSpPr>
        <p:spPr>
          <a:xfrm>
            <a:off x="384048" y="2734056"/>
            <a:ext cx="1097280"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Cookies</a:t>
            </a:r>
            <a:endParaRPr lang="en-US" sz="1300" dirty="0"/>
          </a:p>
        </p:txBody>
      </p:sp>
      <p:sp>
        <p:nvSpPr>
          <p:cNvPr id="16" name="Text 14"/>
          <p:cNvSpPr/>
          <p:nvPr/>
        </p:nvSpPr>
        <p:spPr>
          <a:xfrm>
            <a:off x="1600200" y="2734056"/>
            <a:ext cx="7040880" cy="658368"/>
          </a:xfrm>
          <a:prstGeom prst="rect">
            <a:avLst/>
          </a:prstGeom>
          <a:noFill/>
          <a:ln/>
        </p:spPr>
        <p:txBody>
          <a:bodyPr wrap="square" lIns="0" tIns="0" rIns="0" bIns="0" rtlCol="0" anchor="ctr"/>
          <a:lstStyle/>
          <a:p>
            <a:pPr algn="l" indent="0" marL="0">
              <a:buNone/>
            </a:pPr>
            <a:r>
              <a:rPr lang="en-US" sz="1100" dirty="0">
                <a:solidFill>
                  <a:srgbClr val="C9DFEF"/>
                </a:solidFill>
                <a:latin typeface="Calibri" pitchFamily="34" charset="0"/>
                <a:ea typeface="Calibri" pitchFamily="34" charset="-122"/>
                <a:cs typeface="Calibri" pitchFamily="34" charset="-120"/>
              </a:rPr>
              <a:t>Session tokens, expiry. (Chrome: User Data\Default\Network\Cookies | Firefox: cookies.sqlite)</a:t>
            </a:r>
            <a:endParaRPr lang="en-US" sz="1100" dirty="0"/>
          </a:p>
        </p:txBody>
      </p:sp>
      <p:sp>
        <p:nvSpPr>
          <p:cNvPr id="17" name="Shape 15"/>
          <p:cNvSpPr/>
          <p:nvPr/>
        </p:nvSpPr>
        <p:spPr>
          <a:xfrm>
            <a:off x="384048" y="3483864"/>
            <a:ext cx="8394192" cy="658368"/>
          </a:xfrm>
          <a:prstGeom prst="rect">
            <a:avLst/>
          </a:prstGeom>
          <a:solidFill>
            <a:srgbClr val="0F1C2E"/>
          </a:solidFill>
          <a:ln/>
          <a:effectLst>
            <a:outerShdw sx="100000" sy="100000" kx="0" ky="0" algn="bl" rotWithShape="0" blurRad="101600" dist="25400" dir="8100000">
              <a:srgbClr val="000000">
                <a:alpha val="30000"/>
              </a:srgbClr>
            </a:outerShdw>
          </a:effectLst>
        </p:spPr>
      </p:sp>
      <p:sp>
        <p:nvSpPr>
          <p:cNvPr id="18" name="Shape 16"/>
          <p:cNvSpPr/>
          <p:nvPr/>
        </p:nvSpPr>
        <p:spPr>
          <a:xfrm>
            <a:off x="384048" y="3483864"/>
            <a:ext cx="1097280" cy="658368"/>
          </a:xfrm>
          <a:prstGeom prst="rect">
            <a:avLst/>
          </a:prstGeom>
          <a:solidFill>
            <a:srgbClr val="F59E0B"/>
          </a:solidFill>
          <a:ln/>
        </p:spPr>
      </p:sp>
      <p:sp>
        <p:nvSpPr>
          <p:cNvPr id="19" name="Text 17"/>
          <p:cNvSpPr/>
          <p:nvPr/>
        </p:nvSpPr>
        <p:spPr>
          <a:xfrm>
            <a:off x="384048" y="3483864"/>
            <a:ext cx="1097280"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Cache</a:t>
            </a:r>
            <a:endParaRPr lang="en-US" sz="1300" dirty="0"/>
          </a:p>
        </p:txBody>
      </p:sp>
      <p:sp>
        <p:nvSpPr>
          <p:cNvPr id="20" name="Text 18"/>
          <p:cNvSpPr/>
          <p:nvPr/>
        </p:nvSpPr>
        <p:spPr>
          <a:xfrm>
            <a:off x="1600200" y="3483864"/>
            <a:ext cx="7040880" cy="658368"/>
          </a:xfrm>
          <a:prstGeom prst="rect">
            <a:avLst/>
          </a:prstGeom>
          <a:noFill/>
          <a:ln/>
        </p:spPr>
        <p:txBody>
          <a:bodyPr wrap="square" lIns="0" tIns="0" rIns="0" bIns="0" rtlCol="0" anchor="ctr"/>
          <a:lstStyle/>
          <a:p>
            <a:pPr algn="l" indent="0" marL="0">
              <a:buNone/>
            </a:pPr>
            <a:r>
              <a:rPr lang="en-US" sz="1100" dirty="0">
                <a:solidFill>
                  <a:srgbClr val="C9DFEF"/>
                </a:solidFill>
                <a:latin typeface="Calibri" pitchFamily="34" charset="0"/>
                <a:ea typeface="Calibri" pitchFamily="34" charset="-122"/>
                <a:cs typeface="Calibri" pitchFamily="34" charset="-120"/>
              </a:rPr>
              <a:t>Local copies of images/scripts. Overwritten as it fills up. Survives history wipes.</a:t>
            </a:r>
            <a:endParaRPr lang="en-US" sz="1100" dirty="0"/>
          </a:p>
        </p:txBody>
      </p:sp>
      <p:sp>
        <p:nvSpPr>
          <p:cNvPr id="21" name="Shape 19"/>
          <p:cNvSpPr/>
          <p:nvPr/>
        </p:nvSpPr>
        <p:spPr>
          <a:xfrm>
            <a:off x="384048" y="4233672"/>
            <a:ext cx="8394192" cy="658368"/>
          </a:xfrm>
          <a:prstGeom prst="rect">
            <a:avLst/>
          </a:prstGeom>
          <a:solidFill>
            <a:srgbClr val="0F1C2E"/>
          </a:solidFill>
          <a:ln/>
          <a:effectLst>
            <a:outerShdw sx="100000" sy="100000" kx="0" ky="0" algn="bl" rotWithShape="0" blurRad="101600" dist="25400" dir="8100000">
              <a:srgbClr val="000000">
                <a:alpha val="30000"/>
              </a:srgbClr>
            </a:outerShdw>
          </a:effectLst>
        </p:spPr>
      </p:sp>
      <p:sp>
        <p:nvSpPr>
          <p:cNvPr id="22" name="Shape 20"/>
          <p:cNvSpPr/>
          <p:nvPr/>
        </p:nvSpPr>
        <p:spPr>
          <a:xfrm>
            <a:off x="384048" y="4233672"/>
            <a:ext cx="1097280" cy="658368"/>
          </a:xfrm>
          <a:prstGeom prst="rect">
            <a:avLst/>
          </a:prstGeom>
          <a:solidFill>
            <a:srgbClr val="10B981"/>
          </a:solidFill>
          <a:ln/>
        </p:spPr>
      </p:sp>
      <p:sp>
        <p:nvSpPr>
          <p:cNvPr id="23" name="Text 21"/>
          <p:cNvSpPr/>
          <p:nvPr/>
        </p:nvSpPr>
        <p:spPr>
          <a:xfrm>
            <a:off x="384048" y="4233672"/>
            <a:ext cx="1097280"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Extensions</a:t>
            </a:r>
            <a:endParaRPr lang="en-US" sz="1300" dirty="0"/>
          </a:p>
        </p:txBody>
      </p:sp>
      <p:sp>
        <p:nvSpPr>
          <p:cNvPr id="24" name="Text 22"/>
          <p:cNvSpPr/>
          <p:nvPr/>
        </p:nvSpPr>
        <p:spPr>
          <a:xfrm>
            <a:off x="1600200" y="4233672"/>
            <a:ext cx="7040880" cy="658368"/>
          </a:xfrm>
          <a:prstGeom prst="rect">
            <a:avLst/>
          </a:prstGeom>
          <a:noFill/>
          <a:ln/>
        </p:spPr>
        <p:txBody>
          <a:bodyPr wrap="square" lIns="0" tIns="0" rIns="0" bIns="0" rtlCol="0" anchor="ctr"/>
          <a:lstStyle/>
          <a:p>
            <a:pPr algn="l" indent="0" marL="0">
              <a:buNone/>
            </a:pPr>
            <a:r>
              <a:rPr lang="en-US" sz="1100" dirty="0">
                <a:solidFill>
                  <a:srgbClr val="C9DFEF"/>
                </a:solidFill>
                <a:latin typeface="Calibri" pitchFamily="34" charset="0"/>
                <a:ea typeface="Calibri" pitchFamily="34" charset="-122"/>
                <a:cs typeface="Calibri" pitchFamily="34" charset="-120"/>
              </a:rPr>
              <a:t>Installed add-ons &amp; permissions. Critical for evaluating data exfiltration risk.</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622"/>
        </a:solidFill>
      </p:bgPr>
    </p:bg>
    <p:spTree>
      <p:nvGrpSpPr>
        <p:cNvPr id="1" name=""/>
        <p:cNvGrpSpPr/>
        <p:nvPr/>
      </p:nvGrpSpPr>
      <p:grpSpPr>
        <a:xfrm>
          <a:off x="0" y="0"/>
          <a:ext cx="0" cy="0"/>
          <a:chOff x="0" y="0"/>
          <a:chExt cx="0" cy="0"/>
        </a:xfrm>
      </p:grpSpPr>
      <p:sp>
        <p:nvSpPr>
          <p:cNvPr id="2" name="Text 0"/>
          <p:cNvSpPr/>
          <p:nvPr/>
        </p:nvSpPr>
        <p:spPr>
          <a:xfrm>
            <a:off x="457200" y="237744"/>
            <a:ext cx="8229600" cy="475488"/>
          </a:xfrm>
          <a:prstGeom prst="rect">
            <a:avLst/>
          </a:prstGeom>
          <a:noFill/>
          <a:ln/>
        </p:spPr>
        <p:txBody>
          <a:bodyPr wrap="square" lIns="0" tIns="0" rIns="0" bIns="0" rtlCol="0" anchor="ctr"/>
          <a:lstStyle/>
          <a:p>
            <a:pPr algn="l" indent="0" marL="0">
              <a:buNone/>
            </a:pPr>
            <a:r>
              <a:rPr lang="en-US" sz="3000" b="1" dirty="0">
                <a:solidFill>
                  <a:srgbClr val="00C6AE"/>
                </a:solidFill>
                <a:latin typeface="Calibri" pitchFamily="34" charset="0"/>
                <a:ea typeface="Calibri" pitchFamily="34" charset="-122"/>
                <a:cs typeface="Calibri" pitchFamily="34" charset="-120"/>
              </a:rPr>
              <a:t>Concept: How Browser Cache Works</a:t>
            </a:r>
            <a:endParaRPr lang="en-US" sz="3000" dirty="0"/>
          </a:p>
        </p:txBody>
      </p:sp>
      <p:sp>
        <p:nvSpPr>
          <p:cNvPr id="3" name="Shape 1"/>
          <p:cNvSpPr/>
          <p:nvPr/>
        </p:nvSpPr>
        <p:spPr>
          <a:xfrm>
            <a:off x="457200" y="786384"/>
            <a:ext cx="8229600" cy="0"/>
          </a:xfrm>
          <a:prstGeom prst="line">
            <a:avLst/>
          </a:prstGeom>
          <a:noFill/>
          <a:ln w="12700">
            <a:solidFill>
              <a:srgbClr val="1A3350"/>
            </a:solidFill>
            <a:prstDash val="solid"/>
          </a:ln>
        </p:spPr>
      </p:sp>
      <p:sp>
        <p:nvSpPr>
          <p:cNvPr id="4" name="Text 2"/>
          <p:cNvSpPr/>
          <p:nvPr/>
        </p:nvSpPr>
        <p:spPr>
          <a:xfrm>
            <a:off x="384048" y="914400"/>
            <a:ext cx="8394192" cy="365760"/>
          </a:xfrm>
          <a:prstGeom prst="rect">
            <a:avLst/>
          </a:prstGeom>
          <a:noFill/>
          <a:ln/>
        </p:spPr>
        <p:txBody>
          <a:bodyPr wrap="square" lIns="0" tIns="0" rIns="0" bIns="0" rtlCol="0" anchor="ctr"/>
          <a:lstStyle/>
          <a:p>
            <a:pPr algn="l" indent="0" marL="0">
              <a:buNone/>
            </a:pPr>
            <a:r>
              <a:rPr lang="en-US" sz="1200" i="1" dirty="0">
                <a:solidFill>
                  <a:srgbClr val="C9DFEF"/>
                </a:solidFill>
                <a:latin typeface="Calibri" pitchFamily="34" charset="0"/>
                <a:ea typeface="Calibri" pitchFamily="34" charset="-122"/>
                <a:cs typeface="Calibri" pitchFamily="34" charset="-120"/>
              </a:rPr>
              <a:t>Why does cache survive history deletion? Because clearing the 'History' SQLite table doesn't automatically delete the raw cached binary files unless the user explicitly checks 'Clear Cached Images and Files'.</a:t>
            </a:r>
            <a:endParaRPr lang="en-US" sz="1200" dirty="0"/>
          </a:p>
        </p:txBody>
      </p:sp>
      <p:sp>
        <p:nvSpPr>
          <p:cNvPr id="5" name="Shape 3"/>
          <p:cNvSpPr/>
          <p:nvPr/>
        </p:nvSpPr>
        <p:spPr>
          <a:xfrm>
            <a:off x="457200" y="2286000"/>
            <a:ext cx="914400" cy="914400"/>
          </a:xfrm>
          <a:prstGeom prst="ellipse">
            <a:avLst/>
          </a:prstGeom>
          <a:solidFill>
            <a:srgbClr val="0F1C2E"/>
          </a:solidFill>
          <a:ln w="25400">
            <a:solidFill>
              <a:srgbClr val="0D7ECC"/>
            </a:solidFill>
            <a:prstDash val="solid"/>
          </a:ln>
        </p:spPr>
      </p:sp>
      <p:sp>
        <p:nvSpPr>
          <p:cNvPr id="6" name="Text 4"/>
          <p:cNvSpPr/>
          <p:nvPr/>
        </p:nvSpPr>
        <p:spPr>
          <a:xfrm>
            <a:off x="457200" y="2286000"/>
            <a:ext cx="914400" cy="914400"/>
          </a:xfrm>
          <a:prstGeom prst="rect">
            <a:avLst/>
          </a:prstGeom>
          <a:noFill/>
          <a:ln/>
        </p:spPr>
        <p:txBody>
          <a:bodyPr wrap="square" rtlCol="0" anchor="ctr"/>
          <a:lstStyle/>
          <a:p>
            <a:pPr algn="ctr" indent="0" marL="0">
              <a:buNone/>
            </a:pPr>
            <a:r>
              <a:rPr lang="en-US" sz="1400" b="1" dirty="0">
                <a:solidFill>
                  <a:srgbClr val="FFFFFF"/>
                </a:solidFill>
              </a:rPr>
              <a:t>User</a:t>
            </a:r>
            <a:endParaRPr lang="en-US" sz="1400" dirty="0"/>
          </a:p>
        </p:txBody>
      </p:sp>
      <p:sp>
        <p:nvSpPr>
          <p:cNvPr id="7" name="Shape 5"/>
          <p:cNvSpPr/>
          <p:nvPr/>
        </p:nvSpPr>
        <p:spPr>
          <a:xfrm>
            <a:off x="1463040" y="2560320"/>
            <a:ext cx="548640" cy="365760"/>
          </a:xfrm>
          <a:prstGeom prst="rightArrow">
            <a:avLst/>
          </a:prstGeom>
          <a:solidFill>
            <a:srgbClr val="6B8FAD"/>
          </a:solidFill>
          <a:ln/>
        </p:spPr>
      </p:sp>
      <p:sp>
        <p:nvSpPr>
          <p:cNvPr id="8" name="Shape 6"/>
          <p:cNvSpPr/>
          <p:nvPr/>
        </p:nvSpPr>
        <p:spPr>
          <a:xfrm>
            <a:off x="2103120" y="2103120"/>
            <a:ext cx="1463040" cy="1280160"/>
          </a:xfrm>
          <a:prstGeom prst="rect">
            <a:avLst/>
          </a:prstGeom>
          <a:solidFill>
            <a:srgbClr val="0D7ECC"/>
          </a:solidFill>
          <a:ln/>
        </p:spPr>
      </p:sp>
      <p:sp>
        <p:nvSpPr>
          <p:cNvPr id="9" name="Text 7"/>
          <p:cNvSpPr/>
          <p:nvPr/>
        </p:nvSpPr>
        <p:spPr>
          <a:xfrm>
            <a:off x="2103120" y="2103120"/>
            <a:ext cx="1463040" cy="1280160"/>
          </a:xfrm>
          <a:prstGeom prst="rect">
            <a:avLst/>
          </a:prstGeom>
          <a:noFill/>
          <a:ln/>
        </p:spPr>
        <p:txBody>
          <a:bodyPr wrap="square" rtlCol="0" anchor="ctr"/>
          <a:lstStyle/>
          <a:p>
            <a:pPr algn="ctr" indent="0" marL="0">
              <a:buNone/>
            </a:pPr>
            <a:r>
              <a:rPr lang="en-US" sz="1200" b="1" dirty="0">
                <a:solidFill>
                  <a:srgbClr val="FFFFFF"/>
                </a:solidFill>
              </a:rPr>
              <a:t>Browser</a:t>
            </a:r>
            <a:endParaRPr lang="en-US" sz="1200" dirty="0"/>
          </a:p>
          <a:p>
            <a:pPr algn="ctr" indent="0" marL="0">
              <a:buNone/>
            </a:pPr>
            <a:r>
              <a:rPr lang="en-US" sz="1200" b="1" dirty="0">
                <a:solidFill>
                  <a:srgbClr val="FFFFFF"/>
                </a:solidFill>
              </a:rPr>
              <a:t>(Requests URL)</a:t>
            </a:r>
            <a:endParaRPr lang="en-US" sz="1200" dirty="0"/>
          </a:p>
        </p:txBody>
      </p:sp>
      <p:sp>
        <p:nvSpPr>
          <p:cNvPr id="10" name="Shape 8"/>
          <p:cNvSpPr/>
          <p:nvPr/>
        </p:nvSpPr>
        <p:spPr>
          <a:xfrm>
            <a:off x="3657600" y="2286000"/>
            <a:ext cx="1463040" cy="274320"/>
          </a:xfrm>
          <a:prstGeom prst="rightArrow">
            <a:avLst/>
          </a:prstGeom>
          <a:solidFill>
            <a:srgbClr val="00C6AE"/>
          </a:solidFill>
          <a:ln/>
        </p:spPr>
      </p:sp>
      <p:sp>
        <p:nvSpPr>
          <p:cNvPr id="11" name="Text 9"/>
          <p:cNvSpPr/>
          <p:nvPr/>
        </p:nvSpPr>
        <p:spPr>
          <a:xfrm>
            <a:off x="3657600" y="2011680"/>
            <a:ext cx="1463040" cy="274320"/>
          </a:xfrm>
          <a:prstGeom prst="rect">
            <a:avLst/>
          </a:prstGeom>
          <a:noFill/>
          <a:ln/>
        </p:spPr>
        <p:txBody>
          <a:bodyPr wrap="square" rtlCol="0" anchor="ctr"/>
          <a:lstStyle/>
          <a:p>
            <a:pPr algn="ctr" indent="0" marL="0">
              <a:buNone/>
            </a:pPr>
            <a:r>
              <a:rPr lang="en-US" sz="1000" dirty="0">
                <a:solidFill>
                  <a:srgbClr val="00C6AE"/>
                </a:solidFill>
              </a:rPr>
              <a:t>GET /page.html</a:t>
            </a:r>
            <a:endParaRPr lang="en-US" sz="1000" dirty="0"/>
          </a:p>
        </p:txBody>
      </p:sp>
      <p:sp>
        <p:nvSpPr>
          <p:cNvPr id="12" name="Shape 10"/>
          <p:cNvSpPr/>
          <p:nvPr/>
        </p:nvSpPr>
        <p:spPr>
          <a:xfrm>
            <a:off x="3657600" y="2926080"/>
            <a:ext cx="1463040" cy="274320"/>
          </a:xfrm>
          <a:prstGeom prst="leftArrow">
            <a:avLst/>
          </a:prstGeom>
          <a:solidFill>
            <a:srgbClr val="F59E0B"/>
          </a:solidFill>
          <a:ln/>
        </p:spPr>
      </p:sp>
      <p:sp>
        <p:nvSpPr>
          <p:cNvPr id="13" name="Text 11"/>
          <p:cNvSpPr/>
          <p:nvPr/>
        </p:nvSpPr>
        <p:spPr>
          <a:xfrm>
            <a:off x="3657600" y="3200400"/>
            <a:ext cx="1463040" cy="274320"/>
          </a:xfrm>
          <a:prstGeom prst="rect">
            <a:avLst/>
          </a:prstGeom>
          <a:noFill/>
          <a:ln/>
        </p:spPr>
        <p:txBody>
          <a:bodyPr wrap="square" rtlCol="0" anchor="ctr"/>
          <a:lstStyle/>
          <a:p>
            <a:pPr algn="ctr" indent="0" marL="0">
              <a:buNone/>
            </a:pPr>
            <a:r>
              <a:rPr lang="en-US" sz="1000" dirty="0">
                <a:solidFill>
                  <a:srgbClr val="F59E0B"/>
                </a:solidFill>
              </a:rPr>
              <a:t>200 OK + Images</a:t>
            </a:r>
            <a:endParaRPr lang="en-US" sz="1000" dirty="0"/>
          </a:p>
        </p:txBody>
      </p:sp>
      <p:sp>
        <p:nvSpPr>
          <p:cNvPr id="14" name="Shape 12"/>
          <p:cNvSpPr/>
          <p:nvPr/>
        </p:nvSpPr>
        <p:spPr>
          <a:xfrm>
            <a:off x="5212080" y="2103120"/>
            <a:ext cx="1463040" cy="1280160"/>
          </a:xfrm>
          <a:prstGeom prst="cloud">
            <a:avLst/>
          </a:prstGeom>
          <a:solidFill>
            <a:srgbClr val="132030"/>
          </a:solidFill>
          <a:ln w="25400">
            <a:solidFill>
              <a:srgbClr val="F59E0B"/>
            </a:solidFill>
            <a:prstDash val="solid"/>
          </a:ln>
        </p:spPr>
      </p:sp>
      <p:sp>
        <p:nvSpPr>
          <p:cNvPr id="15" name="Text 13"/>
          <p:cNvSpPr/>
          <p:nvPr/>
        </p:nvSpPr>
        <p:spPr>
          <a:xfrm>
            <a:off x="5212080" y="2103120"/>
            <a:ext cx="1463040" cy="1280160"/>
          </a:xfrm>
          <a:prstGeom prst="rect">
            <a:avLst/>
          </a:prstGeom>
          <a:noFill/>
          <a:ln/>
        </p:spPr>
        <p:txBody>
          <a:bodyPr wrap="square" rtlCol="0" anchor="ctr"/>
          <a:lstStyle/>
          <a:p>
            <a:pPr algn="ctr" indent="0" marL="0">
              <a:buNone/>
            </a:pPr>
            <a:r>
              <a:rPr lang="en-US" sz="1200" b="1" dirty="0">
                <a:solidFill>
                  <a:srgbClr val="FFFFFF"/>
                </a:solidFill>
              </a:rPr>
              <a:t>Web Server</a:t>
            </a:r>
            <a:endParaRPr lang="en-US" sz="1200" dirty="0"/>
          </a:p>
        </p:txBody>
      </p:sp>
      <p:sp>
        <p:nvSpPr>
          <p:cNvPr id="16" name="Shape 14"/>
          <p:cNvSpPr/>
          <p:nvPr/>
        </p:nvSpPr>
        <p:spPr>
          <a:xfrm>
            <a:off x="2560320" y="3474720"/>
            <a:ext cx="548640" cy="548640"/>
          </a:xfrm>
          <a:prstGeom prst="downArrow">
            <a:avLst/>
          </a:prstGeom>
          <a:solidFill>
            <a:srgbClr val="6B8FAD"/>
          </a:solidFill>
          <a:ln/>
        </p:spPr>
      </p:sp>
      <p:sp>
        <p:nvSpPr>
          <p:cNvPr id="17" name="Shape 15"/>
          <p:cNvSpPr/>
          <p:nvPr/>
        </p:nvSpPr>
        <p:spPr>
          <a:xfrm>
            <a:off x="1645920" y="4114800"/>
            <a:ext cx="2377440" cy="822960"/>
          </a:xfrm>
          <a:prstGeom prst="rect">
            <a:avLst/>
          </a:prstGeom>
          <a:solidFill>
            <a:srgbClr val="0F1C2E"/>
          </a:solidFill>
          <a:ln w="25400">
            <a:solidFill>
              <a:srgbClr val="F59E0B"/>
            </a:solidFill>
            <a:prstDash val="solid"/>
          </a:ln>
        </p:spPr>
      </p:sp>
      <p:sp>
        <p:nvSpPr>
          <p:cNvPr id="18" name="Text 16"/>
          <p:cNvSpPr/>
          <p:nvPr/>
        </p:nvSpPr>
        <p:spPr>
          <a:xfrm>
            <a:off x="1645920" y="4114800"/>
            <a:ext cx="2377440" cy="822960"/>
          </a:xfrm>
          <a:prstGeom prst="rect">
            <a:avLst/>
          </a:prstGeom>
          <a:noFill/>
          <a:ln/>
        </p:spPr>
        <p:txBody>
          <a:bodyPr wrap="square" rtlCol="0" anchor="ctr"/>
          <a:lstStyle/>
          <a:p>
            <a:pPr algn="ctr" indent="0" marL="0">
              <a:buNone/>
            </a:pPr>
            <a:r>
              <a:rPr lang="en-US" sz="1200" b="1" dirty="0">
                <a:solidFill>
                  <a:srgbClr val="F59E0B"/>
                </a:solidFill>
              </a:rPr>
              <a:t>Local Cache Folder</a:t>
            </a:r>
            <a:endParaRPr lang="en-US" sz="1200" dirty="0"/>
          </a:p>
          <a:p>
            <a:pPr algn="ctr" indent="0" marL="0">
              <a:buNone/>
            </a:pPr>
            <a:r>
              <a:rPr lang="en-US" sz="1200" b="1" dirty="0">
                <a:solidFill>
                  <a:srgbClr val="F59E0B"/>
                </a:solidFill>
              </a:rPr>
              <a:t>(Saves copy of images &amp; scripts)</a:t>
            </a:r>
            <a:endParaRPr lang="en-US" sz="1200" dirty="0"/>
          </a:p>
        </p:txBody>
      </p:sp>
      <p:sp>
        <p:nvSpPr>
          <p:cNvPr id="19" name="Shape 17"/>
          <p:cNvSpPr/>
          <p:nvPr/>
        </p:nvSpPr>
        <p:spPr>
          <a:xfrm>
            <a:off x="4572000" y="3931920"/>
            <a:ext cx="4114800" cy="1005840"/>
          </a:xfrm>
          <a:prstGeom prst="rect">
            <a:avLst/>
          </a:prstGeom>
          <a:solidFill>
            <a:srgbClr val="0F1C2E"/>
          </a:solidFill>
          <a:ln/>
          <a:effectLst>
            <a:outerShdw sx="100000" sy="100000" kx="0" ky="0" algn="bl" rotWithShape="0" blurRad="101600" dist="25400" dir="8100000">
              <a:srgbClr val="000000">
                <a:alpha val="30000"/>
              </a:srgbClr>
            </a:outerShdw>
          </a:effectLst>
        </p:spPr>
      </p:sp>
      <p:sp>
        <p:nvSpPr>
          <p:cNvPr id="20" name="Text 18"/>
          <p:cNvSpPr/>
          <p:nvPr/>
        </p:nvSpPr>
        <p:spPr>
          <a:xfrm>
            <a:off x="4663440" y="3931920"/>
            <a:ext cx="3931920" cy="1005840"/>
          </a:xfrm>
          <a:prstGeom prst="rect">
            <a:avLst/>
          </a:prstGeom>
          <a:noFill/>
          <a:ln/>
        </p:spPr>
        <p:txBody>
          <a:bodyPr wrap="square" rtlCol="0" anchor="ctr"/>
          <a:lstStyle/>
          <a:p>
            <a:pPr algn="l" indent="0" marL="0">
              <a:buNone/>
            </a:pPr>
            <a:r>
              <a:rPr lang="en-US" sz="1200" dirty="0">
                <a:solidFill>
                  <a:srgbClr val="C9DFEF"/>
                </a:solidFill>
                <a:latin typeface="Calibri" pitchFamily="34" charset="0"/>
                <a:ea typeface="Calibri" pitchFamily="34" charset="-122"/>
                <a:cs typeface="Calibri" pitchFamily="34" charset="-120"/>
              </a:rPr>
              <a:t>💡 The cache proves the browser successfully downloaded elements of the page. It can contain illicit images or document fragments even if the user typed the URL manually or cleared their history list.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622"/>
        </a:solidFill>
      </p:bgPr>
    </p:bg>
    <p:spTree>
      <p:nvGrpSpPr>
        <p:cNvPr id="1" name=""/>
        <p:cNvGrpSpPr/>
        <p:nvPr/>
      </p:nvGrpSpPr>
      <p:grpSpPr>
        <a:xfrm>
          <a:off x="0" y="0"/>
          <a:ext cx="0" cy="0"/>
          <a:chOff x="0" y="0"/>
          <a:chExt cx="0" cy="0"/>
        </a:xfrm>
      </p:grpSpPr>
      <p:sp>
        <p:nvSpPr>
          <p:cNvPr id="2" name="Text 0"/>
          <p:cNvSpPr/>
          <p:nvPr/>
        </p:nvSpPr>
        <p:spPr>
          <a:xfrm>
            <a:off x="457200" y="237744"/>
            <a:ext cx="8229600" cy="475488"/>
          </a:xfrm>
          <a:prstGeom prst="rect">
            <a:avLst/>
          </a:prstGeom>
          <a:noFill/>
          <a:ln/>
        </p:spPr>
        <p:txBody>
          <a:bodyPr wrap="square" lIns="0" tIns="0" rIns="0" bIns="0" rtlCol="0" anchor="ctr"/>
          <a:lstStyle/>
          <a:p>
            <a:pPr algn="l" indent="0" marL="0">
              <a:buNone/>
            </a:pPr>
            <a:r>
              <a:rPr lang="en-US" sz="3000" b="1" dirty="0">
                <a:solidFill>
                  <a:srgbClr val="00C6AE"/>
                </a:solidFill>
                <a:latin typeface="Calibri" pitchFamily="34" charset="0"/>
                <a:ea typeface="Calibri" pitchFamily="34" charset="-122"/>
                <a:cs typeface="Calibri" pitchFamily="34" charset="-120"/>
              </a:rPr>
              <a:t>Extraction &amp; Analysis Tools</a:t>
            </a:r>
            <a:endParaRPr lang="en-US" sz="3000" dirty="0"/>
          </a:p>
        </p:txBody>
      </p:sp>
      <p:sp>
        <p:nvSpPr>
          <p:cNvPr id="3" name="Shape 1"/>
          <p:cNvSpPr/>
          <p:nvPr/>
        </p:nvSpPr>
        <p:spPr>
          <a:xfrm>
            <a:off x="457200" y="786384"/>
            <a:ext cx="8229600" cy="0"/>
          </a:xfrm>
          <a:prstGeom prst="line">
            <a:avLst/>
          </a:prstGeom>
          <a:noFill/>
          <a:ln w="12700">
            <a:solidFill>
              <a:srgbClr val="1A3350"/>
            </a:solidFill>
            <a:prstDash val="solid"/>
          </a:ln>
        </p:spPr>
      </p:sp>
      <p:sp>
        <p:nvSpPr>
          <p:cNvPr id="4" name="Shape 2"/>
          <p:cNvSpPr/>
          <p:nvPr/>
        </p:nvSpPr>
        <p:spPr>
          <a:xfrm>
            <a:off x="384048" y="1188720"/>
            <a:ext cx="8394192" cy="1005840"/>
          </a:xfrm>
          <a:prstGeom prst="rect">
            <a:avLst/>
          </a:prstGeom>
          <a:solidFill>
            <a:srgbClr val="0F1C2E"/>
          </a:solidFill>
          <a:ln/>
          <a:effectLst>
            <a:outerShdw sx="100000" sy="100000" kx="0" ky="0" algn="bl" rotWithShape="0" blurRad="101600" dist="25400" dir="8100000">
              <a:srgbClr val="000000">
                <a:alpha val="30000"/>
              </a:srgbClr>
            </a:outerShdw>
          </a:effectLst>
        </p:spPr>
      </p:sp>
      <p:sp>
        <p:nvSpPr>
          <p:cNvPr id="5" name="Shape 3"/>
          <p:cNvSpPr/>
          <p:nvPr/>
        </p:nvSpPr>
        <p:spPr>
          <a:xfrm>
            <a:off x="384048" y="1188720"/>
            <a:ext cx="1280160" cy="1005840"/>
          </a:xfrm>
          <a:prstGeom prst="rect">
            <a:avLst/>
          </a:prstGeom>
          <a:solidFill>
            <a:srgbClr val="00C6AE"/>
          </a:solidFill>
          <a:ln/>
        </p:spPr>
      </p:sp>
      <p:sp>
        <p:nvSpPr>
          <p:cNvPr id="6" name="Text 4"/>
          <p:cNvSpPr/>
          <p:nvPr/>
        </p:nvSpPr>
        <p:spPr>
          <a:xfrm>
            <a:off x="384048" y="1188720"/>
            <a:ext cx="1280160" cy="10058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DB Browser</a:t>
            </a:r>
            <a:endParaRPr lang="en-US" sz="1200" dirty="0"/>
          </a:p>
        </p:txBody>
      </p:sp>
      <p:sp>
        <p:nvSpPr>
          <p:cNvPr id="7" name="Text 5"/>
          <p:cNvSpPr/>
          <p:nvPr/>
        </p:nvSpPr>
        <p:spPr>
          <a:xfrm>
            <a:off x="1783080" y="1234440"/>
            <a:ext cx="6858000" cy="27432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DB Browser for SQLite</a:t>
            </a:r>
            <a:endParaRPr lang="en-US" sz="1300" dirty="0"/>
          </a:p>
        </p:txBody>
      </p:sp>
      <p:sp>
        <p:nvSpPr>
          <p:cNvPr id="8" name="Text 6"/>
          <p:cNvSpPr/>
          <p:nvPr/>
        </p:nvSpPr>
        <p:spPr>
          <a:xfrm>
            <a:off x="1783080" y="1508760"/>
            <a:ext cx="6858000" cy="365760"/>
          </a:xfrm>
          <a:prstGeom prst="rect">
            <a:avLst/>
          </a:prstGeom>
          <a:noFill/>
          <a:ln/>
        </p:spPr>
        <p:txBody>
          <a:bodyPr wrap="square" lIns="0" tIns="0" rIns="0" bIns="0" rtlCol="0" anchor="ctr"/>
          <a:lstStyle/>
          <a:p>
            <a:pPr algn="l" indent="0" marL="0">
              <a:buNone/>
            </a:pPr>
            <a:r>
              <a:rPr lang="en-US" sz="1200" dirty="0">
                <a:solidFill>
                  <a:srgbClr val="C9DFEF"/>
                </a:solidFill>
                <a:latin typeface="Calibri" pitchFamily="34" charset="0"/>
                <a:ea typeface="Calibri" pitchFamily="34" charset="-122"/>
                <a:cs typeface="Calibri" pitchFamily="34" charset="-120"/>
              </a:rPr>
              <a:t>Opens raw SQLite database files. Crucial for understanding the exact table schema and verifying automated tool output.</a:t>
            </a:r>
            <a:endParaRPr lang="en-US" sz="1200" dirty="0"/>
          </a:p>
        </p:txBody>
      </p:sp>
      <p:sp>
        <p:nvSpPr>
          <p:cNvPr id="9" name="Text 7"/>
          <p:cNvSpPr/>
          <p:nvPr/>
        </p:nvSpPr>
        <p:spPr>
          <a:xfrm>
            <a:off x="1783080" y="1874520"/>
            <a:ext cx="6858000" cy="274320"/>
          </a:xfrm>
          <a:prstGeom prst="rect">
            <a:avLst/>
          </a:prstGeom>
          <a:noFill/>
          <a:ln/>
        </p:spPr>
        <p:txBody>
          <a:bodyPr wrap="square" lIns="0" tIns="0" rIns="0" bIns="0" rtlCol="0" anchor="ctr"/>
          <a:lstStyle/>
          <a:p>
            <a:pPr algn="l" indent="0" marL="0">
              <a:buNone/>
            </a:pPr>
            <a:r>
              <a:rPr lang="en-US" sz="1100" i="1" dirty="0">
                <a:solidFill>
                  <a:srgbClr val="6B8FAD"/>
                </a:solidFill>
                <a:latin typeface="Calibri" pitchFamily="34" charset="0"/>
                <a:ea typeface="Calibri" pitchFamily="34" charset="-122"/>
                <a:cs typeface="Calibri" pitchFamily="34" charset="-120"/>
              </a:rPr>
              <a:t>Use Case: Schema validation, custom queries, recovering WAL records.</a:t>
            </a:r>
            <a:endParaRPr lang="en-US" sz="1100" dirty="0"/>
          </a:p>
        </p:txBody>
      </p:sp>
      <p:sp>
        <p:nvSpPr>
          <p:cNvPr id="10" name="Shape 8"/>
          <p:cNvSpPr/>
          <p:nvPr/>
        </p:nvSpPr>
        <p:spPr>
          <a:xfrm>
            <a:off x="384048" y="2377440"/>
            <a:ext cx="8394192" cy="1005840"/>
          </a:xfrm>
          <a:prstGeom prst="rect">
            <a:avLst/>
          </a:prstGeom>
          <a:solidFill>
            <a:srgbClr val="0F1C2E"/>
          </a:solidFill>
          <a:ln/>
          <a:effectLst>
            <a:outerShdw sx="100000" sy="100000" kx="0" ky="0" algn="bl" rotWithShape="0" blurRad="101600" dist="25400" dir="8100000">
              <a:srgbClr val="000000">
                <a:alpha val="30000"/>
              </a:srgbClr>
            </a:outerShdw>
          </a:effectLst>
        </p:spPr>
      </p:sp>
      <p:sp>
        <p:nvSpPr>
          <p:cNvPr id="11" name="Shape 9"/>
          <p:cNvSpPr/>
          <p:nvPr/>
        </p:nvSpPr>
        <p:spPr>
          <a:xfrm>
            <a:off x="384048" y="2377440"/>
            <a:ext cx="1280160" cy="1005840"/>
          </a:xfrm>
          <a:prstGeom prst="rect">
            <a:avLst/>
          </a:prstGeom>
          <a:solidFill>
            <a:srgbClr val="0D7ECC"/>
          </a:solidFill>
          <a:ln/>
        </p:spPr>
      </p:sp>
      <p:sp>
        <p:nvSpPr>
          <p:cNvPr id="12" name="Text 10"/>
          <p:cNvSpPr/>
          <p:nvPr/>
        </p:nvSpPr>
        <p:spPr>
          <a:xfrm>
            <a:off x="384048" y="2377440"/>
            <a:ext cx="1280160" cy="10058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Browsing</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HistoryView</a:t>
            </a:r>
            <a:endParaRPr lang="en-US" sz="1200" dirty="0"/>
          </a:p>
        </p:txBody>
      </p:sp>
      <p:sp>
        <p:nvSpPr>
          <p:cNvPr id="13" name="Text 11"/>
          <p:cNvSpPr/>
          <p:nvPr/>
        </p:nvSpPr>
        <p:spPr>
          <a:xfrm>
            <a:off x="1783080" y="2423160"/>
            <a:ext cx="6858000" cy="27432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BrowsingHistoryView (Nirsoft)</a:t>
            </a:r>
            <a:endParaRPr lang="en-US" sz="1300" dirty="0"/>
          </a:p>
        </p:txBody>
      </p:sp>
      <p:sp>
        <p:nvSpPr>
          <p:cNvPr id="14" name="Text 12"/>
          <p:cNvSpPr/>
          <p:nvPr/>
        </p:nvSpPr>
        <p:spPr>
          <a:xfrm>
            <a:off x="1783080" y="2697480"/>
            <a:ext cx="6858000" cy="365760"/>
          </a:xfrm>
          <a:prstGeom prst="rect">
            <a:avLst/>
          </a:prstGeom>
          <a:noFill/>
          <a:ln/>
        </p:spPr>
        <p:txBody>
          <a:bodyPr wrap="square" lIns="0" tIns="0" rIns="0" bIns="0" rtlCol="0" anchor="ctr"/>
          <a:lstStyle/>
          <a:p>
            <a:pPr algn="l" indent="0" marL="0">
              <a:buNone/>
            </a:pPr>
            <a:r>
              <a:rPr lang="en-US" sz="1200" dirty="0">
                <a:solidFill>
                  <a:srgbClr val="C9DFEF"/>
                </a:solidFill>
                <a:latin typeface="Calibri" pitchFamily="34" charset="0"/>
                <a:ea typeface="Calibri" pitchFamily="34" charset="-122"/>
                <a:cs typeface="Calibri" pitchFamily="34" charset="-120"/>
              </a:rPr>
              <a:t>Automated bulk extraction. Parses Chrome, Edge, and Firefox simultaneously into a single, unified view.</a:t>
            </a:r>
            <a:endParaRPr lang="en-US" sz="1200" dirty="0"/>
          </a:p>
        </p:txBody>
      </p:sp>
      <p:sp>
        <p:nvSpPr>
          <p:cNvPr id="15" name="Text 13"/>
          <p:cNvSpPr/>
          <p:nvPr/>
        </p:nvSpPr>
        <p:spPr>
          <a:xfrm>
            <a:off x="1783080" y="3063240"/>
            <a:ext cx="6858000" cy="274320"/>
          </a:xfrm>
          <a:prstGeom prst="rect">
            <a:avLst/>
          </a:prstGeom>
          <a:noFill/>
          <a:ln/>
        </p:spPr>
        <p:txBody>
          <a:bodyPr wrap="square" lIns="0" tIns="0" rIns="0" bIns="0" rtlCol="0" anchor="ctr"/>
          <a:lstStyle/>
          <a:p>
            <a:pPr algn="l" indent="0" marL="0">
              <a:buNone/>
            </a:pPr>
            <a:r>
              <a:rPr lang="en-US" sz="1100" i="1" dirty="0">
                <a:solidFill>
                  <a:srgbClr val="6B8FAD"/>
                </a:solidFill>
                <a:latin typeface="Calibri" pitchFamily="34" charset="0"/>
                <a:ea typeface="Calibri" pitchFamily="34" charset="-122"/>
                <a:cs typeface="Calibri" pitchFamily="34" charset="-120"/>
              </a:rPr>
              <a:t>Use Case: Primary tool for exporting massive history lists to CSV.</a:t>
            </a:r>
            <a:endParaRPr lang="en-US" sz="1100" dirty="0"/>
          </a:p>
        </p:txBody>
      </p:sp>
      <p:sp>
        <p:nvSpPr>
          <p:cNvPr id="16" name="Shape 14"/>
          <p:cNvSpPr/>
          <p:nvPr/>
        </p:nvSpPr>
        <p:spPr>
          <a:xfrm>
            <a:off x="384048" y="3566160"/>
            <a:ext cx="8394192" cy="1005840"/>
          </a:xfrm>
          <a:prstGeom prst="rect">
            <a:avLst/>
          </a:prstGeom>
          <a:solidFill>
            <a:srgbClr val="0F1C2E"/>
          </a:solidFill>
          <a:ln/>
          <a:effectLst>
            <a:outerShdw sx="100000" sy="100000" kx="0" ky="0" algn="bl" rotWithShape="0" blurRad="101600" dist="25400" dir="8100000">
              <a:srgbClr val="000000">
                <a:alpha val="30000"/>
              </a:srgbClr>
            </a:outerShdw>
          </a:effectLst>
        </p:spPr>
      </p:sp>
      <p:sp>
        <p:nvSpPr>
          <p:cNvPr id="17" name="Shape 15"/>
          <p:cNvSpPr/>
          <p:nvPr/>
        </p:nvSpPr>
        <p:spPr>
          <a:xfrm>
            <a:off x="384048" y="3566160"/>
            <a:ext cx="1280160" cy="1005840"/>
          </a:xfrm>
          <a:prstGeom prst="rect">
            <a:avLst/>
          </a:prstGeom>
          <a:solidFill>
            <a:srgbClr val="F59E0B"/>
          </a:solidFill>
          <a:ln/>
        </p:spPr>
      </p:sp>
      <p:sp>
        <p:nvSpPr>
          <p:cNvPr id="18" name="Text 16"/>
          <p:cNvSpPr/>
          <p:nvPr/>
        </p:nvSpPr>
        <p:spPr>
          <a:xfrm>
            <a:off x="384048" y="3566160"/>
            <a:ext cx="1280160" cy="10058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CacheView</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Tools</a:t>
            </a:r>
            <a:endParaRPr lang="en-US" sz="1200" dirty="0"/>
          </a:p>
        </p:txBody>
      </p:sp>
      <p:sp>
        <p:nvSpPr>
          <p:cNvPr id="19" name="Text 17"/>
          <p:cNvSpPr/>
          <p:nvPr/>
        </p:nvSpPr>
        <p:spPr>
          <a:xfrm>
            <a:off x="1783080" y="3611880"/>
            <a:ext cx="6858000" cy="27432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ChromeCacheView / MZCacheView</a:t>
            </a:r>
            <a:endParaRPr lang="en-US" sz="1300" dirty="0"/>
          </a:p>
        </p:txBody>
      </p:sp>
      <p:sp>
        <p:nvSpPr>
          <p:cNvPr id="20" name="Text 18"/>
          <p:cNvSpPr/>
          <p:nvPr/>
        </p:nvSpPr>
        <p:spPr>
          <a:xfrm>
            <a:off x="1783080" y="3886200"/>
            <a:ext cx="6858000" cy="365760"/>
          </a:xfrm>
          <a:prstGeom prst="rect">
            <a:avLst/>
          </a:prstGeom>
          <a:noFill/>
          <a:ln/>
        </p:spPr>
        <p:txBody>
          <a:bodyPr wrap="square" lIns="0" tIns="0" rIns="0" bIns="0" rtlCol="0" anchor="ctr"/>
          <a:lstStyle/>
          <a:p>
            <a:pPr algn="l" indent="0" marL="0">
              <a:buNone/>
            </a:pPr>
            <a:r>
              <a:rPr lang="en-US" sz="1200" dirty="0">
                <a:solidFill>
                  <a:srgbClr val="C9DFEF"/>
                </a:solidFill>
                <a:latin typeface="Calibri" pitchFamily="34" charset="0"/>
                <a:ea typeface="Calibri" pitchFamily="34" charset="-122"/>
                <a:cs typeface="Calibri" pitchFamily="34" charset="-120"/>
              </a:rPr>
              <a:t>Parses the binary cache directories (Chrome/Edge and Firefox cache2). Maps cached files to URL origins and timestamps.</a:t>
            </a:r>
            <a:endParaRPr lang="en-US" sz="1200" dirty="0"/>
          </a:p>
        </p:txBody>
      </p:sp>
      <p:sp>
        <p:nvSpPr>
          <p:cNvPr id="21" name="Text 19"/>
          <p:cNvSpPr/>
          <p:nvPr/>
        </p:nvSpPr>
        <p:spPr>
          <a:xfrm>
            <a:off x="1783080" y="4251960"/>
            <a:ext cx="6858000" cy="274320"/>
          </a:xfrm>
          <a:prstGeom prst="rect">
            <a:avLst/>
          </a:prstGeom>
          <a:noFill/>
          <a:ln/>
        </p:spPr>
        <p:txBody>
          <a:bodyPr wrap="square" lIns="0" tIns="0" rIns="0" bIns="0" rtlCol="0" anchor="ctr"/>
          <a:lstStyle/>
          <a:p>
            <a:pPr algn="l" indent="0" marL="0">
              <a:buNone/>
            </a:pPr>
            <a:r>
              <a:rPr lang="en-US" sz="1100" i="1" dirty="0">
                <a:solidFill>
                  <a:srgbClr val="6B8FAD"/>
                </a:solidFill>
                <a:latin typeface="Calibri" pitchFamily="34" charset="0"/>
                <a:ea typeface="Calibri" pitchFamily="34" charset="-122"/>
                <a:cs typeface="Calibri" pitchFamily="34" charset="-120"/>
              </a:rPr>
              <a:t>Use Case: Recovering downloaded images/scripts that survived a history wipe.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622"/>
        </a:solidFill>
      </p:bgPr>
    </p:bg>
    <p:spTree>
      <p:nvGrpSpPr>
        <p:cNvPr id="1" name=""/>
        <p:cNvGrpSpPr/>
        <p:nvPr/>
      </p:nvGrpSpPr>
      <p:grpSpPr>
        <a:xfrm>
          <a:off x="0" y="0"/>
          <a:ext cx="0" cy="0"/>
          <a:chOff x="0" y="0"/>
          <a:chExt cx="0" cy="0"/>
        </a:xfrm>
      </p:grpSpPr>
      <p:sp>
        <p:nvSpPr>
          <p:cNvPr id="2" name="Text 0"/>
          <p:cNvSpPr/>
          <p:nvPr/>
        </p:nvSpPr>
        <p:spPr>
          <a:xfrm>
            <a:off x="457200" y="237744"/>
            <a:ext cx="8229600" cy="475488"/>
          </a:xfrm>
          <a:prstGeom prst="rect">
            <a:avLst/>
          </a:prstGeom>
          <a:noFill/>
          <a:ln/>
        </p:spPr>
        <p:txBody>
          <a:bodyPr wrap="square" lIns="0" tIns="0" rIns="0" bIns="0" rtlCol="0" anchor="ctr"/>
          <a:lstStyle/>
          <a:p>
            <a:pPr algn="l" indent="0" marL="0">
              <a:buNone/>
            </a:pPr>
            <a:r>
              <a:rPr lang="en-US" sz="3000" b="1" dirty="0">
                <a:solidFill>
                  <a:srgbClr val="00C6AE"/>
                </a:solidFill>
                <a:latin typeface="Calibri" pitchFamily="34" charset="0"/>
                <a:ea typeface="Calibri" pitchFamily="34" charset="-122"/>
                <a:cs typeface="Calibri" pitchFamily="34" charset="-120"/>
              </a:rPr>
              <a:t>LNK Files &amp; Embedded Metadata</a:t>
            </a:r>
            <a:endParaRPr lang="en-US" sz="3000" dirty="0"/>
          </a:p>
        </p:txBody>
      </p:sp>
      <p:sp>
        <p:nvSpPr>
          <p:cNvPr id="3" name="Shape 1"/>
          <p:cNvSpPr/>
          <p:nvPr/>
        </p:nvSpPr>
        <p:spPr>
          <a:xfrm>
            <a:off x="457200" y="786384"/>
            <a:ext cx="8229600" cy="0"/>
          </a:xfrm>
          <a:prstGeom prst="line">
            <a:avLst/>
          </a:prstGeom>
          <a:noFill/>
          <a:ln w="12700">
            <a:solidFill>
              <a:srgbClr val="1A3350"/>
            </a:solidFill>
            <a:prstDash val="solid"/>
          </a:ln>
        </p:spPr>
      </p:sp>
      <p:sp>
        <p:nvSpPr>
          <p:cNvPr id="4" name="Shape 2"/>
          <p:cNvSpPr/>
          <p:nvPr/>
        </p:nvSpPr>
        <p:spPr>
          <a:xfrm>
            <a:off x="384048" y="1005840"/>
            <a:ext cx="4023360" cy="3794760"/>
          </a:xfrm>
          <a:prstGeom prst="rect">
            <a:avLst/>
          </a:prstGeom>
          <a:solidFill>
            <a:srgbClr val="0F1C2E"/>
          </a:solidFill>
          <a:ln/>
          <a:effectLst>
            <a:outerShdw sx="100000" sy="100000" kx="0" ky="0" algn="bl" rotWithShape="0" blurRad="101600" dist="25400" dir="8100000">
              <a:srgbClr val="000000">
                <a:alpha val="30000"/>
              </a:srgbClr>
            </a:outerShdw>
          </a:effectLst>
        </p:spPr>
      </p:sp>
      <p:sp>
        <p:nvSpPr>
          <p:cNvPr id="5" name="Shape 3"/>
          <p:cNvSpPr/>
          <p:nvPr/>
        </p:nvSpPr>
        <p:spPr>
          <a:xfrm>
            <a:off x="384048" y="1005840"/>
            <a:ext cx="64008" cy="3794760"/>
          </a:xfrm>
          <a:prstGeom prst="rect">
            <a:avLst/>
          </a:prstGeom>
          <a:solidFill>
            <a:srgbClr val="00C6AE"/>
          </a:solidFill>
          <a:ln/>
        </p:spPr>
      </p:sp>
      <p:sp>
        <p:nvSpPr>
          <p:cNvPr id="6" name="Text 4"/>
          <p:cNvSpPr/>
          <p:nvPr/>
        </p:nvSpPr>
        <p:spPr>
          <a:xfrm>
            <a:off x="594360" y="1097280"/>
            <a:ext cx="3657600" cy="365760"/>
          </a:xfrm>
          <a:prstGeom prst="rect">
            <a:avLst/>
          </a:prstGeom>
          <a:noFill/>
          <a:ln/>
        </p:spPr>
        <p:txBody>
          <a:bodyPr wrap="square" lIns="0" tIns="0" rIns="0" bIns="0" rtlCol="0" anchor="ctr"/>
          <a:lstStyle/>
          <a:p>
            <a:pPr algn="l" indent="0" marL="0">
              <a:buNone/>
            </a:pPr>
            <a:r>
              <a:rPr lang="en-US" sz="1500" b="1" dirty="0">
                <a:solidFill>
                  <a:srgbClr val="00C6AE"/>
                </a:solidFill>
                <a:latin typeface="Calibri" pitchFamily="34" charset="0"/>
                <a:ea typeface="Calibri" pitchFamily="34" charset="-122"/>
                <a:cs typeface="Calibri" pitchFamily="34" charset="-120"/>
              </a:rPr>
              <a:t>What is an LNK File?</a:t>
            </a:r>
            <a:endParaRPr lang="en-US" sz="1500" dirty="0"/>
          </a:p>
        </p:txBody>
      </p:sp>
      <p:sp>
        <p:nvSpPr>
          <p:cNvPr id="7" name="Text 5"/>
          <p:cNvSpPr/>
          <p:nvPr/>
        </p:nvSpPr>
        <p:spPr>
          <a:xfrm>
            <a:off x="594360" y="1554480"/>
            <a:ext cx="3566160" cy="3017520"/>
          </a:xfrm>
          <a:prstGeom prst="rect">
            <a:avLst/>
          </a:prstGeom>
          <a:noFill/>
          <a:ln/>
        </p:spPr>
        <p:txBody>
          <a:bodyPr wrap="square" lIns="0" tIns="0" rIns="0" bIns="0" rtlCol="0" anchor="ctr"/>
          <a:lstStyle/>
          <a:p>
            <a:pPr algn="l" indent="0" marL="0">
              <a:buNone/>
            </a:pPr>
            <a:r>
              <a:rPr lang="en-US" sz="1300" dirty="0">
                <a:solidFill>
                  <a:srgbClr val="C9DFEF"/>
                </a:solidFill>
                <a:latin typeface="Calibri" pitchFamily="34" charset="0"/>
                <a:ea typeface="Calibri" pitchFamily="34" charset="-122"/>
                <a:cs typeface="Calibri" pitchFamily="34" charset="-120"/>
              </a:rPr>
              <a:t>Windows creates a Shell Link (.lnk) every time a file is opened via Explorer or an Office dialog.</a:t>
            </a:r>
            <a:endParaRPr lang="en-US" sz="1300" dirty="0"/>
          </a:p>
          <a:p>
            <a:pPr algn="l" indent="0" marL="0">
              <a:buNone/>
            </a:pPr>
            <a:endParaRPr lang="en-US" sz="1300" dirty="0"/>
          </a:p>
          <a:p>
            <a:pPr algn="l" indent="0" marL="0">
              <a:buNone/>
            </a:pPr>
            <a:r>
              <a:rPr lang="en-US" sz="1300" dirty="0">
                <a:solidFill>
                  <a:srgbClr val="C9DFEF"/>
                </a:solidFill>
                <a:latin typeface="Calibri" pitchFamily="34" charset="0"/>
                <a:ea typeface="Calibri" pitchFamily="34" charset="-122"/>
                <a:cs typeface="Calibri" pitchFamily="34" charset="-120"/>
              </a:rPr>
              <a:t>They are stored in AppData\Microsoft\Windows\Recent.</a:t>
            </a:r>
            <a:endParaRPr lang="en-US" sz="1300" dirty="0"/>
          </a:p>
          <a:p>
            <a:pPr algn="l" indent="0" marL="0">
              <a:buNone/>
            </a:pPr>
            <a:endParaRPr lang="en-US" sz="1300" dirty="0"/>
          </a:p>
          <a:p>
            <a:pPr algn="l" indent="0" marL="0">
              <a:buNone/>
            </a:pPr>
            <a:r>
              <a:rPr lang="en-US" sz="1300" dirty="0">
                <a:solidFill>
                  <a:srgbClr val="C9DFEF"/>
                </a:solidFill>
                <a:latin typeface="Calibri" pitchFamily="34" charset="0"/>
                <a:ea typeface="Calibri" pitchFamily="34" charset="-122"/>
                <a:cs typeface="Calibri" pitchFamily="34" charset="-120"/>
              </a:rPr>
              <a:t>They outlive the target file. If a file is deleted or a USB is removed, the LNK remains, retaining metadata from the exact moment of access.</a:t>
            </a:r>
            <a:endParaRPr lang="en-US" sz="1300" dirty="0"/>
          </a:p>
        </p:txBody>
      </p:sp>
      <p:sp>
        <p:nvSpPr>
          <p:cNvPr id="8" name="Shape 6"/>
          <p:cNvSpPr/>
          <p:nvPr/>
        </p:nvSpPr>
        <p:spPr>
          <a:xfrm>
            <a:off x="4572000" y="1005840"/>
            <a:ext cx="4206240" cy="3794760"/>
          </a:xfrm>
          <a:prstGeom prst="rect">
            <a:avLst/>
          </a:prstGeom>
          <a:solidFill>
            <a:srgbClr val="060D18"/>
          </a:solidFill>
          <a:ln/>
          <a:effectLst>
            <a:outerShdw sx="100000" sy="100000" kx="0" ky="0" algn="bl" rotWithShape="0" blurRad="101600" dist="25400" dir="8100000">
              <a:srgbClr val="000000">
                <a:alpha val="30000"/>
              </a:srgbClr>
            </a:outerShdw>
          </a:effectLst>
        </p:spPr>
      </p:sp>
      <p:sp>
        <p:nvSpPr>
          <p:cNvPr id="9" name="Text 7"/>
          <p:cNvSpPr/>
          <p:nvPr/>
        </p:nvSpPr>
        <p:spPr>
          <a:xfrm>
            <a:off x="4754880" y="1097280"/>
            <a:ext cx="3840480" cy="365760"/>
          </a:xfrm>
          <a:prstGeom prst="rect">
            <a:avLst/>
          </a:prstGeom>
          <a:noFill/>
          <a:ln/>
        </p:spPr>
        <p:txBody>
          <a:bodyPr wrap="square" lIns="0" tIns="0" rIns="0" bIns="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Rich Metadata Fields</a:t>
            </a:r>
            <a:endParaRPr lang="en-US" sz="1500" dirty="0"/>
          </a:p>
        </p:txBody>
      </p:sp>
      <p:sp>
        <p:nvSpPr>
          <p:cNvPr id="10" name="Text 8"/>
          <p:cNvSpPr/>
          <p:nvPr/>
        </p:nvSpPr>
        <p:spPr>
          <a:xfrm>
            <a:off x="4754880" y="1645920"/>
            <a:ext cx="1371600" cy="274320"/>
          </a:xfrm>
          <a:prstGeom prst="rect">
            <a:avLst/>
          </a:prstGeom>
          <a:noFill/>
          <a:ln/>
        </p:spPr>
        <p:txBody>
          <a:bodyPr wrap="square" lIns="0" tIns="0" rIns="0" bIns="0" rtlCol="0" anchor="ctr"/>
          <a:lstStyle/>
          <a:p>
            <a:pPr algn="l" indent="0" marL="0">
              <a:buNone/>
            </a:pPr>
            <a:r>
              <a:rPr lang="en-US" sz="1100" b="1" dirty="0">
                <a:solidFill>
                  <a:srgbClr val="6B8FAD"/>
                </a:solidFill>
                <a:latin typeface="Calibri" pitchFamily="34" charset="0"/>
                <a:ea typeface="Calibri" pitchFamily="34" charset="-122"/>
                <a:cs typeface="Calibri" pitchFamily="34" charset="-120"/>
              </a:rPr>
              <a:t>Target Path:</a:t>
            </a:r>
            <a:endParaRPr lang="en-US" sz="1100" dirty="0"/>
          </a:p>
        </p:txBody>
      </p:sp>
      <p:sp>
        <p:nvSpPr>
          <p:cNvPr id="11" name="Text 9"/>
          <p:cNvSpPr/>
          <p:nvPr/>
        </p:nvSpPr>
        <p:spPr>
          <a:xfrm>
            <a:off x="6126480" y="1645920"/>
            <a:ext cx="2560320" cy="274320"/>
          </a:xfrm>
          <a:prstGeom prst="rect">
            <a:avLst/>
          </a:prstGeom>
          <a:noFill/>
          <a:ln/>
        </p:spPr>
        <p:txBody>
          <a:bodyPr wrap="square" lIns="0" tIns="0" rIns="0" bIns="0" rtlCol="0" anchor="ctr"/>
          <a:lstStyle/>
          <a:p>
            <a:pPr algn="l" indent="0" marL="0">
              <a:buNone/>
            </a:pPr>
            <a:r>
              <a:rPr lang="en-US" sz="1100" dirty="0">
                <a:solidFill>
                  <a:srgbClr val="C9DFEF"/>
                </a:solidFill>
                <a:latin typeface="Consolas" pitchFamily="34" charset="0"/>
                <a:ea typeface="Consolas" pitchFamily="34" charset="-122"/>
                <a:cs typeface="Consolas" pitchFamily="34" charset="-120"/>
              </a:rPr>
              <a:t>D:\Confidential\specs.pdf</a:t>
            </a:r>
            <a:endParaRPr lang="en-US" sz="1100" dirty="0"/>
          </a:p>
        </p:txBody>
      </p:sp>
      <p:sp>
        <p:nvSpPr>
          <p:cNvPr id="12" name="Text 10"/>
          <p:cNvSpPr/>
          <p:nvPr/>
        </p:nvSpPr>
        <p:spPr>
          <a:xfrm>
            <a:off x="4754880" y="2011680"/>
            <a:ext cx="1371600" cy="274320"/>
          </a:xfrm>
          <a:prstGeom prst="rect">
            <a:avLst/>
          </a:prstGeom>
          <a:noFill/>
          <a:ln/>
        </p:spPr>
        <p:txBody>
          <a:bodyPr wrap="square" lIns="0" tIns="0" rIns="0" bIns="0" rtlCol="0" anchor="ctr"/>
          <a:lstStyle/>
          <a:p>
            <a:pPr algn="l" indent="0" marL="0">
              <a:buNone/>
            </a:pPr>
            <a:r>
              <a:rPr lang="en-US" sz="1100" b="1" dirty="0">
                <a:solidFill>
                  <a:srgbClr val="6B8FAD"/>
                </a:solidFill>
                <a:latin typeface="Calibri" pitchFamily="34" charset="0"/>
                <a:ea typeface="Calibri" pitchFamily="34" charset="-122"/>
                <a:cs typeface="Calibri" pitchFamily="34" charset="-120"/>
              </a:rPr>
              <a:t>Drive Type:</a:t>
            </a:r>
            <a:endParaRPr lang="en-US" sz="1100" dirty="0"/>
          </a:p>
        </p:txBody>
      </p:sp>
      <p:sp>
        <p:nvSpPr>
          <p:cNvPr id="13" name="Text 11"/>
          <p:cNvSpPr/>
          <p:nvPr/>
        </p:nvSpPr>
        <p:spPr>
          <a:xfrm>
            <a:off x="6126480" y="2011680"/>
            <a:ext cx="2560320" cy="274320"/>
          </a:xfrm>
          <a:prstGeom prst="rect">
            <a:avLst/>
          </a:prstGeom>
          <a:noFill/>
          <a:ln/>
        </p:spPr>
        <p:txBody>
          <a:bodyPr wrap="square" lIns="0" tIns="0" rIns="0" bIns="0" rtlCol="0" anchor="ctr"/>
          <a:lstStyle/>
          <a:p>
            <a:pPr algn="l" indent="0" marL="0">
              <a:buNone/>
            </a:pPr>
            <a:r>
              <a:rPr lang="en-US" sz="1100" dirty="0">
                <a:solidFill>
                  <a:srgbClr val="C9DFEF"/>
                </a:solidFill>
                <a:latin typeface="Consolas" pitchFamily="34" charset="0"/>
                <a:ea typeface="Consolas" pitchFamily="34" charset="-122"/>
                <a:cs typeface="Consolas" pitchFamily="34" charset="-120"/>
              </a:rPr>
              <a:t>Removable (Identifies USBs)</a:t>
            </a:r>
            <a:endParaRPr lang="en-US" sz="1100" dirty="0"/>
          </a:p>
        </p:txBody>
      </p:sp>
      <p:sp>
        <p:nvSpPr>
          <p:cNvPr id="14" name="Text 12"/>
          <p:cNvSpPr/>
          <p:nvPr/>
        </p:nvSpPr>
        <p:spPr>
          <a:xfrm>
            <a:off x="4754880" y="2377440"/>
            <a:ext cx="1371600" cy="274320"/>
          </a:xfrm>
          <a:prstGeom prst="rect">
            <a:avLst/>
          </a:prstGeom>
          <a:noFill/>
          <a:ln/>
        </p:spPr>
        <p:txBody>
          <a:bodyPr wrap="square" lIns="0" tIns="0" rIns="0" bIns="0" rtlCol="0" anchor="ctr"/>
          <a:lstStyle/>
          <a:p>
            <a:pPr algn="l" indent="0" marL="0">
              <a:buNone/>
            </a:pPr>
            <a:r>
              <a:rPr lang="en-US" sz="1100" b="1" dirty="0">
                <a:solidFill>
                  <a:srgbClr val="6B8FAD"/>
                </a:solidFill>
                <a:latin typeface="Calibri" pitchFamily="34" charset="0"/>
                <a:ea typeface="Calibri" pitchFamily="34" charset="-122"/>
                <a:cs typeface="Calibri" pitchFamily="34" charset="-120"/>
              </a:rPr>
              <a:t>MAC Address:</a:t>
            </a:r>
            <a:endParaRPr lang="en-US" sz="1100" dirty="0"/>
          </a:p>
        </p:txBody>
      </p:sp>
      <p:sp>
        <p:nvSpPr>
          <p:cNvPr id="15" name="Text 13"/>
          <p:cNvSpPr/>
          <p:nvPr/>
        </p:nvSpPr>
        <p:spPr>
          <a:xfrm>
            <a:off x="6126480" y="2377440"/>
            <a:ext cx="2560320" cy="274320"/>
          </a:xfrm>
          <a:prstGeom prst="rect">
            <a:avLst/>
          </a:prstGeom>
          <a:noFill/>
          <a:ln/>
        </p:spPr>
        <p:txBody>
          <a:bodyPr wrap="square" lIns="0" tIns="0" rIns="0" bIns="0" rtlCol="0" anchor="ctr"/>
          <a:lstStyle/>
          <a:p>
            <a:pPr algn="l" indent="0" marL="0">
              <a:buNone/>
            </a:pPr>
            <a:r>
              <a:rPr lang="en-US" sz="1100" dirty="0">
                <a:solidFill>
                  <a:srgbClr val="C9DFEF"/>
                </a:solidFill>
                <a:latin typeface="Consolas" pitchFamily="34" charset="0"/>
                <a:ea typeface="Consolas" pitchFamily="34" charset="-122"/>
                <a:cs typeface="Consolas" pitchFamily="34" charset="-120"/>
              </a:rPr>
              <a:t>00:1A:2B... (For network shares)</a:t>
            </a:r>
            <a:endParaRPr lang="en-US" sz="1100" dirty="0"/>
          </a:p>
        </p:txBody>
      </p:sp>
      <p:sp>
        <p:nvSpPr>
          <p:cNvPr id="16" name="Text 14"/>
          <p:cNvSpPr/>
          <p:nvPr/>
        </p:nvSpPr>
        <p:spPr>
          <a:xfrm>
            <a:off x="4754880" y="2743200"/>
            <a:ext cx="1371600" cy="274320"/>
          </a:xfrm>
          <a:prstGeom prst="rect">
            <a:avLst/>
          </a:prstGeom>
          <a:noFill/>
          <a:ln/>
        </p:spPr>
        <p:txBody>
          <a:bodyPr wrap="square" lIns="0" tIns="0" rIns="0" bIns="0" rtlCol="0" anchor="ctr"/>
          <a:lstStyle/>
          <a:p>
            <a:pPr algn="l" indent="0" marL="0">
              <a:buNone/>
            </a:pPr>
            <a:r>
              <a:rPr lang="en-US" sz="1100" b="1" dirty="0">
                <a:solidFill>
                  <a:srgbClr val="6B8FAD"/>
                </a:solidFill>
                <a:latin typeface="Calibri" pitchFamily="34" charset="0"/>
                <a:ea typeface="Calibri" pitchFamily="34" charset="-122"/>
                <a:cs typeface="Calibri" pitchFamily="34" charset="-120"/>
              </a:rPr>
              <a:t>Target Accessed:</a:t>
            </a:r>
            <a:endParaRPr lang="en-US" sz="1100" dirty="0"/>
          </a:p>
        </p:txBody>
      </p:sp>
      <p:sp>
        <p:nvSpPr>
          <p:cNvPr id="17" name="Text 15"/>
          <p:cNvSpPr/>
          <p:nvPr/>
        </p:nvSpPr>
        <p:spPr>
          <a:xfrm>
            <a:off x="6126480" y="2743200"/>
            <a:ext cx="2560320" cy="274320"/>
          </a:xfrm>
          <a:prstGeom prst="rect">
            <a:avLst/>
          </a:prstGeom>
          <a:noFill/>
          <a:ln/>
        </p:spPr>
        <p:txBody>
          <a:bodyPr wrap="square" lIns="0" tIns="0" rIns="0" bIns="0" rtlCol="0" anchor="ctr"/>
          <a:lstStyle/>
          <a:p>
            <a:pPr algn="l" indent="0" marL="0">
              <a:buNone/>
            </a:pPr>
            <a:r>
              <a:rPr lang="en-US" sz="1100" dirty="0">
                <a:solidFill>
                  <a:srgbClr val="C9DFEF"/>
                </a:solidFill>
                <a:latin typeface="Consolas" pitchFamily="34" charset="0"/>
                <a:ea typeface="Consolas" pitchFamily="34" charset="-122"/>
                <a:cs typeface="Consolas" pitchFamily="34" charset="-120"/>
              </a:rPr>
              <a:t>2025-04-02 09:31:55 UTC</a:t>
            </a:r>
            <a:endParaRPr lang="en-US" sz="1100" dirty="0"/>
          </a:p>
        </p:txBody>
      </p:sp>
      <p:sp>
        <p:nvSpPr>
          <p:cNvPr id="18" name="Shape 16"/>
          <p:cNvSpPr/>
          <p:nvPr/>
        </p:nvSpPr>
        <p:spPr>
          <a:xfrm>
            <a:off x="4663440" y="3200400"/>
            <a:ext cx="4023360" cy="1371600"/>
          </a:xfrm>
          <a:prstGeom prst="rect">
            <a:avLst/>
          </a:prstGeom>
          <a:solidFill>
            <a:srgbClr val="EF4444"/>
          </a:solidFill>
          <a:ln/>
        </p:spPr>
      </p:sp>
      <p:sp>
        <p:nvSpPr>
          <p:cNvPr id="19" name="Text 17"/>
          <p:cNvSpPr/>
          <p:nvPr/>
        </p:nvSpPr>
        <p:spPr>
          <a:xfrm>
            <a:off x="4754880" y="3291840"/>
            <a:ext cx="3840480" cy="27432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CRITICAL: Volume Serial Number</a:t>
            </a:r>
            <a:endParaRPr lang="en-US" sz="1300" dirty="0"/>
          </a:p>
        </p:txBody>
      </p:sp>
      <p:sp>
        <p:nvSpPr>
          <p:cNvPr id="20" name="Text 18"/>
          <p:cNvSpPr/>
          <p:nvPr/>
        </p:nvSpPr>
        <p:spPr>
          <a:xfrm>
            <a:off x="4754880" y="3657600"/>
            <a:ext cx="3840480" cy="822960"/>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e.g. 0x4A3F8E12</a:t>
            </a:r>
            <a:endParaRPr lang="en-US" sz="1100" dirty="0"/>
          </a:p>
          <a:p>
            <a:pPr algn="l" indent="0" marL="0">
              <a:buNone/>
            </a:pPr>
            <a:r>
              <a:rPr lang="en-US" sz="1100" b="1" dirty="0">
                <a:solidFill>
                  <a:srgbClr val="FFFFFF"/>
                </a:solidFill>
                <a:latin typeface="Calibri" pitchFamily="34" charset="0"/>
                <a:ea typeface="Calibri" pitchFamily="34" charset="-122"/>
                <a:cs typeface="Calibri" pitchFamily="34" charset="-120"/>
              </a:rPr>
              <a:t>This field uniquely identifies the specific physical formatted partition. It proves a specific USB drive was connected, tying multiple LNK files to ONE exact physical device.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622"/>
        </a:solidFill>
      </p:bgPr>
    </p:bg>
    <p:spTree>
      <p:nvGrpSpPr>
        <p:cNvPr id="1" name=""/>
        <p:cNvGrpSpPr/>
        <p:nvPr/>
      </p:nvGrpSpPr>
      <p:grpSpPr>
        <a:xfrm>
          <a:off x="0" y="0"/>
          <a:ext cx="0" cy="0"/>
          <a:chOff x="0" y="0"/>
          <a:chExt cx="0" cy="0"/>
        </a:xfrm>
      </p:grpSpPr>
      <p:sp>
        <p:nvSpPr>
          <p:cNvPr id="2" name="Text 0"/>
          <p:cNvSpPr/>
          <p:nvPr/>
        </p:nvSpPr>
        <p:spPr>
          <a:xfrm>
            <a:off x="457200" y="237744"/>
            <a:ext cx="8229600" cy="475488"/>
          </a:xfrm>
          <a:prstGeom prst="rect">
            <a:avLst/>
          </a:prstGeom>
          <a:noFill/>
          <a:ln/>
        </p:spPr>
        <p:txBody>
          <a:bodyPr wrap="square" lIns="0" tIns="0" rIns="0" bIns="0" rtlCol="0" anchor="ctr"/>
          <a:lstStyle/>
          <a:p>
            <a:pPr algn="l" indent="0" marL="0">
              <a:buNone/>
            </a:pPr>
            <a:r>
              <a:rPr lang="en-US" sz="3000" b="1" dirty="0">
                <a:solidFill>
                  <a:srgbClr val="00C6AE"/>
                </a:solidFill>
                <a:latin typeface="Calibri" pitchFamily="34" charset="0"/>
                <a:ea typeface="Calibri" pitchFamily="34" charset="-122"/>
                <a:cs typeface="Calibri" pitchFamily="34" charset="-120"/>
              </a:rPr>
              <a:t>LECmd &amp; USB Tracking Scenario</a:t>
            </a:r>
            <a:endParaRPr lang="en-US" sz="3000" dirty="0"/>
          </a:p>
        </p:txBody>
      </p:sp>
      <p:sp>
        <p:nvSpPr>
          <p:cNvPr id="3" name="Shape 1"/>
          <p:cNvSpPr/>
          <p:nvPr/>
        </p:nvSpPr>
        <p:spPr>
          <a:xfrm>
            <a:off x="457200" y="786384"/>
            <a:ext cx="8229600" cy="0"/>
          </a:xfrm>
          <a:prstGeom prst="line">
            <a:avLst/>
          </a:prstGeom>
          <a:noFill/>
          <a:ln w="12700">
            <a:solidFill>
              <a:srgbClr val="1A3350"/>
            </a:solidFill>
            <a:prstDash val="solid"/>
          </a:ln>
        </p:spPr>
      </p:sp>
      <p:sp>
        <p:nvSpPr>
          <p:cNvPr id="4" name="Shape 2"/>
          <p:cNvSpPr/>
          <p:nvPr/>
        </p:nvSpPr>
        <p:spPr>
          <a:xfrm>
            <a:off x="384048" y="1005840"/>
            <a:ext cx="8394192" cy="731520"/>
          </a:xfrm>
          <a:prstGeom prst="rect">
            <a:avLst/>
          </a:prstGeom>
          <a:solidFill>
            <a:srgbClr val="050C15"/>
          </a:solidFill>
          <a:ln/>
          <a:effectLst>
            <a:outerShdw sx="100000" sy="100000" kx="0" ky="0" algn="bl" rotWithShape="0" blurRad="101600" dist="25400" dir="8100000">
              <a:srgbClr val="000000">
                <a:alpha val="30000"/>
              </a:srgbClr>
            </a:outerShdw>
          </a:effectLst>
        </p:spPr>
      </p:sp>
      <p:sp>
        <p:nvSpPr>
          <p:cNvPr id="5" name="Text 3"/>
          <p:cNvSpPr/>
          <p:nvPr/>
        </p:nvSpPr>
        <p:spPr>
          <a:xfrm>
            <a:off x="548640" y="1097280"/>
            <a:ext cx="8046720" cy="548640"/>
          </a:xfrm>
          <a:prstGeom prst="rect">
            <a:avLst/>
          </a:prstGeom>
          <a:noFill/>
          <a:ln/>
        </p:spPr>
        <p:txBody>
          <a:bodyPr wrap="square" lIns="0" tIns="0" rIns="0" bIns="0" rtlCol="0" anchor="ctr"/>
          <a:lstStyle/>
          <a:p>
            <a:pPr algn="l" indent="0" marL="0">
              <a:buNone/>
            </a:pPr>
            <a:r>
              <a:rPr lang="en-US" sz="1500" b="1" dirty="0">
                <a:solidFill>
                  <a:srgbClr val="F59E0B"/>
                </a:solidFill>
                <a:latin typeface="Consolas" pitchFamily="34" charset="0"/>
                <a:ea typeface="Consolas" pitchFamily="34" charset="-122"/>
                <a:cs typeface="Consolas" pitchFamily="34" charset="-120"/>
              </a:rPr>
              <a:t>LECmd.exe -d C:\LNKfiles\ --csv C:\Output\ --csvf results.csv</a:t>
            </a:r>
            <a:endParaRPr lang="en-US" sz="1500" dirty="0"/>
          </a:p>
        </p:txBody>
      </p:sp>
      <p:sp>
        <p:nvSpPr>
          <p:cNvPr id="6" name="Text 4"/>
          <p:cNvSpPr/>
          <p:nvPr/>
        </p:nvSpPr>
        <p:spPr>
          <a:xfrm>
            <a:off x="384048" y="1920240"/>
            <a:ext cx="8394192" cy="365760"/>
          </a:xfrm>
          <a:prstGeom prst="rect">
            <a:avLst/>
          </a:prstGeom>
          <a:noFill/>
          <a:ln/>
        </p:spPr>
        <p:txBody>
          <a:bodyPr wrap="square" lIns="0" tIns="0" rIns="0" bIns="0" rtlCol="0" anchor="ctr"/>
          <a:lstStyle/>
          <a:p>
            <a:pPr algn="l" indent="0" marL="0">
              <a:buNone/>
            </a:pPr>
            <a:r>
              <a:rPr lang="en-US" sz="1600" b="1" dirty="0">
                <a:solidFill>
                  <a:srgbClr val="00C6AE"/>
                </a:solidFill>
                <a:latin typeface="Calibri" pitchFamily="34" charset="0"/>
                <a:ea typeface="Calibri" pitchFamily="34" charset="-122"/>
                <a:cs typeface="Calibri" pitchFamily="34" charset="-120"/>
              </a:rPr>
              <a:t>Exfiltration Tracking Scenario:</a:t>
            </a:r>
            <a:endParaRPr lang="en-US" sz="1600" dirty="0"/>
          </a:p>
        </p:txBody>
      </p:sp>
      <p:sp>
        <p:nvSpPr>
          <p:cNvPr id="7" name="Shape 5"/>
          <p:cNvSpPr/>
          <p:nvPr/>
        </p:nvSpPr>
        <p:spPr>
          <a:xfrm>
            <a:off x="384048" y="2377440"/>
            <a:ext cx="4114800" cy="731520"/>
          </a:xfrm>
          <a:prstGeom prst="rect">
            <a:avLst/>
          </a:prstGeom>
          <a:solidFill>
            <a:srgbClr val="0F1C2E"/>
          </a:solidFill>
          <a:ln/>
          <a:effectLst>
            <a:outerShdw sx="100000" sy="100000" kx="0" ky="0" algn="bl" rotWithShape="0" blurRad="101600" dist="25400" dir="8100000">
              <a:srgbClr val="000000">
                <a:alpha val="30000"/>
              </a:srgbClr>
            </a:outerShdw>
          </a:effectLst>
        </p:spPr>
      </p:sp>
      <p:sp>
        <p:nvSpPr>
          <p:cNvPr id="8" name="Shape 6"/>
          <p:cNvSpPr/>
          <p:nvPr/>
        </p:nvSpPr>
        <p:spPr>
          <a:xfrm>
            <a:off x="384048" y="2377440"/>
            <a:ext cx="64008" cy="731520"/>
          </a:xfrm>
          <a:prstGeom prst="rect">
            <a:avLst/>
          </a:prstGeom>
          <a:solidFill>
            <a:srgbClr val="00C6AE"/>
          </a:solidFill>
          <a:ln/>
        </p:spPr>
      </p:sp>
      <p:sp>
        <p:nvSpPr>
          <p:cNvPr id="9" name="Text 7"/>
          <p:cNvSpPr/>
          <p:nvPr/>
        </p:nvSpPr>
        <p:spPr>
          <a:xfrm>
            <a:off x="566928" y="2468880"/>
            <a:ext cx="3840480" cy="548640"/>
          </a:xfrm>
          <a:prstGeom prst="rect">
            <a:avLst/>
          </a:prstGeom>
          <a:noFill/>
          <a:ln/>
        </p:spPr>
        <p:txBody>
          <a:bodyPr wrap="square" lIns="0" tIns="0" rIns="0" bIns="0" rtlCol="0" anchor="ctr"/>
          <a:lstStyle/>
          <a:p>
            <a:pPr algn="l" indent="0" marL="0">
              <a:buNone/>
            </a:pPr>
            <a:r>
              <a:rPr lang="en-US" sz="1200" dirty="0">
                <a:solidFill>
                  <a:srgbClr val="C9DFEF"/>
                </a:solidFill>
                <a:latin typeface="Calibri" pitchFamily="34" charset="0"/>
                <a:ea typeface="Calibri" pitchFamily="34" charset="-122"/>
                <a:cs typeface="Calibri" pitchFamily="34" charset="-120"/>
              </a:rPr>
              <a:t>1. LNK file in Recent Items shows target path: D:\Confidential\design.dwg</a:t>
            </a:r>
            <a:endParaRPr lang="en-US" sz="1200" dirty="0"/>
          </a:p>
        </p:txBody>
      </p:sp>
      <p:sp>
        <p:nvSpPr>
          <p:cNvPr id="10" name="Shape 8"/>
          <p:cNvSpPr/>
          <p:nvPr/>
        </p:nvSpPr>
        <p:spPr>
          <a:xfrm>
            <a:off x="4636008" y="2377440"/>
            <a:ext cx="4114800" cy="731520"/>
          </a:xfrm>
          <a:prstGeom prst="rect">
            <a:avLst/>
          </a:prstGeom>
          <a:solidFill>
            <a:srgbClr val="0F1C2E"/>
          </a:solidFill>
          <a:ln/>
          <a:effectLst>
            <a:outerShdw sx="100000" sy="100000" kx="0" ky="0" algn="bl" rotWithShape="0" blurRad="101600" dist="25400" dir="8100000">
              <a:srgbClr val="000000">
                <a:alpha val="30000"/>
              </a:srgbClr>
            </a:outerShdw>
          </a:effectLst>
        </p:spPr>
      </p:sp>
      <p:sp>
        <p:nvSpPr>
          <p:cNvPr id="11" name="Shape 9"/>
          <p:cNvSpPr/>
          <p:nvPr/>
        </p:nvSpPr>
        <p:spPr>
          <a:xfrm>
            <a:off x="4636008" y="2377440"/>
            <a:ext cx="64008" cy="731520"/>
          </a:xfrm>
          <a:prstGeom prst="rect">
            <a:avLst/>
          </a:prstGeom>
          <a:solidFill>
            <a:srgbClr val="00C6AE"/>
          </a:solidFill>
          <a:ln/>
        </p:spPr>
      </p:sp>
      <p:sp>
        <p:nvSpPr>
          <p:cNvPr id="12" name="Text 10"/>
          <p:cNvSpPr/>
          <p:nvPr/>
        </p:nvSpPr>
        <p:spPr>
          <a:xfrm>
            <a:off x="4818888" y="2468880"/>
            <a:ext cx="3840480" cy="548640"/>
          </a:xfrm>
          <a:prstGeom prst="rect">
            <a:avLst/>
          </a:prstGeom>
          <a:noFill/>
          <a:ln/>
        </p:spPr>
        <p:txBody>
          <a:bodyPr wrap="square" lIns="0" tIns="0" rIns="0" bIns="0" rtlCol="0" anchor="ctr"/>
          <a:lstStyle/>
          <a:p>
            <a:pPr algn="l" indent="0" marL="0">
              <a:buNone/>
            </a:pPr>
            <a:r>
              <a:rPr lang="en-US" sz="1200" dirty="0">
                <a:solidFill>
                  <a:srgbClr val="C9DFEF"/>
                </a:solidFill>
                <a:latin typeface="Calibri" pitchFamily="34" charset="0"/>
                <a:ea typeface="Calibri" pitchFamily="34" charset="-122"/>
                <a:cs typeface="Calibri" pitchFamily="34" charset="-120"/>
              </a:rPr>
              <a:t>2. Drive Type field = Removable (confirms a USB drive, not local disk)</a:t>
            </a:r>
            <a:endParaRPr lang="en-US" sz="1200" dirty="0"/>
          </a:p>
        </p:txBody>
      </p:sp>
      <p:sp>
        <p:nvSpPr>
          <p:cNvPr id="13" name="Shape 11"/>
          <p:cNvSpPr/>
          <p:nvPr/>
        </p:nvSpPr>
        <p:spPr>
          <a:xfrm>
            <a:off x="384048" y="3291840"/>
            <a:ext cx="4114800" cy="731520"/>
          </a:xfrm>
          <a:prstGeom prst="rect">
            <a:avLst/>
          </a:prstGeom>
          <a:solidFill>
            <a:srgbClr val="0F1C2E"/>
          </a:solidFill>
          <a:ln/>
          <a:effectLst>
            <a:outerShdw sx="100000" sy="100000" kx="0" ky="0" algn="bl" rotWithShape="0" blurRad="101600" dist="25400" dir="8100000">
              <a:srgbClr val="000000">
                <a:alpha val="30000"/>
              </a:srgbClr>
            </a:outerShdw>
          </a:effectLst>
        </p:spPr>
      </p:sp>
      <p:sp>
        <p:nvSpPr>
          <p:cNvPr id="14" name="Shape 12"/>
          <p:cNvSpPr/>
          <p:nvPr/>
        </p:nvSpPr>
        <p:spPr>
          <a:xfrm>
            <a:off x="384048" y="3291840"/>
            <a:ext cx="64008" cy="731520"/>
          </a:xfrm>
          <a:prstGeom prst="rect">
            <a:avLst/>
          </a:prstGeom>
          <a:solidFill>
            <a:srgbClr val="00C6AE"/>
          </a:solidFill>
          <a:ln/>
        </p:spPr>
      </p:sp>
      <p:sp>
        <p:nvSpPr>
          <p:cNvPr id="15" name="Text 13"/>
          <p:cNvSpPr/>
          <p:nvPr/>
        </p:nvSpPr>
        <p:spPr>
          <a:xfrm>
            <a:off x="566928" y="3383280"/>
            <a:ext cx="3840480" cy="548640"/>
          </a:xfrm>
          <a:prstGeom prst="rect">
            <a:avLst/>
          </a:prstGeom>
          <a:noFill/>
          <a:ln/>
        </p:spPr>
        <p:txBody>
          <a:bodyPr wrap="square" lIns="0" tIns="0" rIns="0" bIns="0" rtlCol="0" anchor="ctr"/>
          <a:lstStyle/>
          <a:p>
            <a:pPr algn="l" indent="0" marL="0">
              <a:buNone/>
            </a:pPr>
            <a:r>
              <a:rPr lang="en-US" sz="1200" dirty="0">
                <a:solidFill>
                  <a:srgbClr val="C9DFEF"/>
                </a:solidFill>
                <a:latin typeface="Calibri" pitchFamily="34" charset="0"/>
                <a:ea typeface="Calibri" pitchFamily="34" charset="-122"/>
                <a:cs typeface="Calibri" pitchFamily="34" charset="-120"/>
              </a:rPr>
              <a:t>3. Volume Serial Number = 0x4A3F8E12 (identifies the specific USB partition)</a:t>
            </a:r>
            <a:endParaRPr lang="en-US" sz="1200" dirty="0"/>
          </a:p>
        </p:txBody>
      </p:sp>
      <p:sp>
        <p:nvSpPr>
          <p:cNvPr id="16" name="Shape 14"/>
          <p:cNvSpPr/>
          <p:nvPr/>
        </p:nvSpPr>
        <p:spPr>
          <a:xfrm>
            <a:off x="4636008" y="3291840"/>
            <a:ext cx="4114800" cy="731520"/>
          </a:xfrm>
          <a:prstGeom prst="rect">
            <a:avLst/>
          </a:prstGeom>
          <a:solidFill>
            <a:srgbClr val="0F1C2E"/>
          </a:solidFill>
          <a:ln/>
          <a:effectLst>
            <a:outerShdw sx="100000" sy="100000" kx="0" ky="0" algn="bl" rotWithShape="0" blurRad="101600" dist="25400" dir="8100000">
              <a:srgbClr val="000000">
                <a:alpha val="30000"/>
              </a:srgbClr>
            </a:outerShdw>
          </a:effectLst>
        </p:spPr>
      </p:sp>
      <p:sp>
        <p:nvSpPr>
          <p:cNvPr id="17" name="Shape 15"/>
          <p:cNvSpPr/>
          <p:nvPr/>
        </p:nvSpPr>
        <p:spPr>
          <a:xfrm>
            <a:off x="4636008" y="3291840"/>
            <a:ext cx="64008" cy="731520"/>
          </a:xfrm>
          <a:prstGeom prst="rect">
            <a:avLst/>
          </a:prstGeom>
          <a:solidFill>
            <a:srgbClr val="00C6AE"/>
          </a:solidFill>
          <a:ln/>
        </p:spPr>
      </p:sp>
      <p:sp>
        <p:nvSpPr>
          <p:cNvPr id="18" name="Text 16"/>
          <p:cNvSpPr/>
          <p:nvPr/>
        </p:nvSpPr>
        <p:spPr>
          <a:xfrm>
            <a:off x="4818888" y="3383280"/>
            <a:ext cx="3840480" cy="548640"/>
          </a:xfrm>
          <a:prstGeom prst="rect">
            <a:avLst/>
          </a:prstGeom>
          <a:noFill/>
          <a:ln/>
        </p:spPr>
        <p:txBody>
          <a:bodyPr wrap="square" lIns="0" tIns="0" rIns="0" bIns="0" rtlCol="0" anchor="ctr"/>
          <a:lstStyle/>
          <a:p>
            <a:pPr algn="l" indent="0" marL="0">
              <a:buNone/>
            </a:pPr>
            <a:r>
              <a:rPr lang="en-US" sz="1200" dirty="0">
                <a:solidFill>
                  <a:srgbClr val="C9DFEF"/>
                </a:solidFill>
                <a:latin typeface="Calibri" pitchFamily="34" charset="0"/>
                <a:ea typeface="Calibri" pitchFamily="34" charset="-122"/>
                <a:cs typeface="Calibri" pitchFamily="34" charset="-120"/>
              </a:rPr>
              <a:t>4. Target Accessed timestamp = 2025-04-02 09:31 UTC (proves when opened)</a:t>
            </a:r>
            <a:endParaRPr lang="en-US" sz="1200" dirty="0"/>
          </a:p>
        </p:txBody>
      </p:sp>
      <p:sp>
        <p:nvSpPr>
          <p:cNvPr id="19" name="Shape 17"/>
          <p:cNvSpPr/>
          <p:nvPr/>
        </p:nvSpPr>
        <p:spPr>
          <a:xfrm>
            <a:off x="384048" y="4206240"/>
            <a:ext cx="4114800" cy="731520"/>
          </a:xfrm>
          <a:prstGeom prst="rect">
            <a:avLst/>
          </a:prstGeom>
          <a:solidFill>
            <a:srgbClr val="0F1C2E"/>
          </a:solidFill>
          <a:ln/>
          <a:effectLst>
            <a:outerShdw sx="100000" sy="100000" kx="0" ky="0" algn="bl" rotWithShape="0" blurRad="101600" dist="25400" dir="8100000">
              <a:srgbClr val="000000">
                <a:alpha val="30000"/>
              </a:srgbClr>
            </a:outerShdw>
          </a:effectLst>
        </p:spPr>
      </p:sp>
      <p:sp>
        <p:nvSpPr>
          <p:cNvPr id="20" name="Shape 18"/>
          <p:cNvSpPr/>
          <p:nvPr/>
        </p:nvSpPr>
        <p:spPr>
          <a:xfrm>
            <a:off x="384048" y="4206240"/>
            <a:ext cx="64008" cy="731520"/>
          </a:xfrm>
          <a:prstGeom prst="rect">
            <a:avLst/>
          </a:prstGeom>
          <a:solidFill>
            <a:srgbClr val="00C6AE"/>
          </a:solidFill>
          <a:ln/>
        </p:spPr>
      </p:sp>
      <p:sp>
        <p:nvSpPr>
          <p:cNvPr id="21" name="Text 19"/>
          <p:cNvSpPr/>
          <p:nvPr/>
        </p:nvSpPr>
        <p:spPr>
          <a:xfrm>
            <a:off x="566928" y="4297680"/>
            <a:ext cx="3840480" cy="548640"/>
          </a:xfrm>
          <a:prstGeom prst="rect">
            <a:avLst/>
          </a:prstGeom>
          <a:noFill/>
          <a:ln/>
        </p:spPr>
        <p:txBody>
          <a:bodyPr wrap="square" lIns="0" tIns="0" rIns="0" bIns="0" rtlCol="0" anchor="ctr"/>
          <a:lstStyle/>
          <a:p>
            <a:pPr algn="l" indent="0" marL="0">
              <a:buNone/>
            </a:pPr>
            <a:r>
              <a:rPr lang="en-US" sz="1200" dirty="0">
                <a:solidFill>
                  <a:srgbClr val="C9DFEF"/>
                </a:solidFill>
                <a:latin typeface="Calibri" pitchFamily="34" charset="0"/>
                <a:ea typeface="Calibri" pitchFamily="34" charset="-122"/>
                <a:cs typeface="Calibri" pitchFamily="34" charset="-120"/>
              </a:rPr>
              <a:t>5. Same Volume Serial Number appears across 47 other LNK files (same USB)</a:t>
            </a:r>
            <a:endParaRPr lang="en-US" sz="1200" dirty="0"/>
          </a:p>
        </p:txBody>
      </p:sp>
      <p:sp>
        <p:nvSpPr>
          <p:cNvPr id="22" name="Shape 20"/>
          <p:cNvSpPr/>
          <p:nvPr/>
        </p:nvSpPr>
        <p:spPr>
          <a:xfrm>
            <a:off x="4636008" y="4206240"/>
            <a:ext cx="4114800" cy="731520"/>
          </a:xfrm>
          <a:prstGeom prst="rect">
            <a:avLst/>
          </a:prstGeom>
          <a:solidFill>
            <a:srgbClr val="0F1C2E"/>
          </a:solidFill>
          <a:ln/>
          <a:effectLst>
            <a:outerShdw sx="100000" sy="100000" kx="0" ky="0" algn="bl" rotWithShape="0" blurRad="101600" dist="25400" dir="8100000">
              <a:srgbClr val="000000">
                <a:alpha val="30000"/>
              </a:srgbClr>
            </a:outerShdw>
          </a:effectLst>
        </p:spPr>
      </p:sp>
      <p:sp>
        <p:nvSpPr>
          <p:cNvPr id="23" name="Shape 21"/>
          <p:cNvSpPr/>
          <p:nvPr/>
        </p:nvSpPr>
        <p:spPr>
          <a:xfrm>
            <a:off x="4636008" y="4206240"/>
            <a:ext cx="64008" cy="731520"/>
          </a:xfrm>
          <a:prstGeom prst="rect">
            <a:avLst/>
          </a:prstGeom>
          <a:solidFill>
            <a:srgbClr val="00C6AE"/>
          </a:solidFill>
          <a:ln/>
        </p:spPr>
      </p:sp>
      <p:sp>
        <p:nvSpPr>
          <p:cNvPr id="24" name="Text 22"/>
          <p:cNvSpPr/>
          <p:nvPr/>
        </p:nvSpPr>
        <p:spPr>
          <a:xfrm>
            <a:off x="4818888" y="4297680"/>
            <a:ext cx="3840480" cy="548640"/>
          </a:xfrm>
          <a:prstGeom prst="rect">
            <a:avLst/>
          </a:prstGeom>
          <a:noFill/>
          <a:ln/>
        </p:spPr>
        <p:txBody>
          <a:bodyPr wrap="square" lIns="0" tIns="0" rIns="0" bIns="0" rtlCol="0" anchor="ctr"/>
          <a:lstStyle/>
          <a:p>
            <a:pPr algn="l" indent="0" marL="0">
              <a:buNone/>
            </a:pPr>
            <a:r>
              <a:rPr lang="en-US" sz="1200" dirty="0">
                <a:solidFill>
                  <a:srgbClr val="C9DFEF"/>
                </a:solidFill>
                <a:latin typeface="Calibri" pitchFamily="34" charset="0"/>
                <a:ea typeface="Calibri" pitchFamily="34" charset="-122"/>
                <a:cs typeface="Calibri" pitchFamily="34" charset="-120"/>
              </a:rPr>
              <a:t>6. Target file no longer exists at the recorded path (file moved or drive removed)</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622"/>
        </a:solidFill>
      </p:bgPr>
    </p:bg>
    <p:spTree>
      <p:nvGrpSpPr>
        <p:cNvPr id="1" name=""/>
        <p:cNvGrpSpPr/>
        <p:nvPr/>
      </p:nvGrpSpPr>
      <p:grpSpPr>
        <a:xfrm>
          <a:off x="0" y="0"/>
          <a:ext cx="0" cy="0"/>
          <a:chOff x="0" y="0"/>
          <a:chExt cx="0" cy="0"/>
        </a:xfrm>
      </p:grpSpPr>
      <p:sp>
        <p:nvSpPr>
          <p:cNvPr id="2" name="Text 0"/>
          <p:cNvSpPr/>
          <p:nvPr/>
        </p:nvSpPr>
        <p:spPr>
          <a:xfrm>
            <a:off x="457200" y="237744"/>
            <a:ext cx="8229600" cy="475488"/>
          </a:xfrm>
          <a:prstGeom prst="rect">
            <a:avLst/>
          </a:prstGeom>
          <a:noFill/>
          <a:ln/>
        </p:spPr>
        <p:txBody>
          <a:bodyPr wrap="square" lIns="0" tIns="0" rIns="0" bIns="0" rtlCol="0" anchor="ctr"/>
          <a:lstStyle/>
          <a:p>
            <a:pPr algn="l" indent="0" marL="0">
              <a:buNone/>
            </a:pPr>
            <a:r>
              <a:rPr lang="en-US" sz="3000" b="1" dirty="0">
                <a:solidFill>
                  <a:srgbClr val="00C6AE"/>
                </a:solidFill>
                <a:latin typeface="Calibri" pitchFamily="34" charset="0"/>
                <a:ea typeface="Calibri" pitchFamily="34" charset="-122"/>
                <a:cs typeface="Calibri" pitchFamily="34" charset="-120"/>
              </a:rPr>
              <a:t>The Unified Timeline &amp; Timestamp Warning</a:t>
            </a:r>
            <a:endParaRPr lang="en-US" sz="3000" dirty="0"/>
          </a:p>
        </p:txBody>
      </p:sp>
      <p:sp>
        <p:nvSpPr>
          <p:cNvPr id="3" name="Shape 1"/>
          <p:cNvSpPr/>
          <p:nvPr/>
        </p:nvSpPr>
        <p:spPr>
          <a:xfrm>
            <a:off x="457200" y="786384"/>
            <a:ext cx="8229600" cy="0"/>
          </a:xfrm>
          <a:prstGeom prst="line">
            <a:avLst/>
          </a:prstGeom>
          <a:noFill/>
          <a:ln w="12700">
            <a:solidFill>
              <a:srgbClr val="1A3350"/>
            </a:solidFill>
            <a:prstDash val="solid"/>
          </a:ln>
        </p:spPr>
      </p:sp>
      <p:sp>
        <p:nvSpPr>
          <p:cNvPr id="4" name="Text 2"/>
          <p:cNvSpPr/>
          <p:nvPr/>
        </p:nvSpPr>
        <p:spPr>
          <a:xfrm>
            <a:off x="384048" y="914400"/>
            <a:ext cx="8394192"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Event Logs (Auth) + Prefetch (Execution) + Browser (Intent) + LNK (File Access)</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Merged together, they tell a single chronological story.</a:t>
            </a:r>
            <a:endParaRPr lang="en-US" sz="1400" dirty="0"/>
          </a:p>
        </p:txBody>
      </p:sp>
      <p:sp>
        <p:nvSpPr>
          <p:cNvPr id="5" name="Shape 3"/>
          <p:cNvSpPr/>
          <p:nvPr/>
        </p:nvSpPr>
        <p:spPr>
          <a:xfrm>
            <a:off x="1371600" y="1645920"/>
            <a:ext cx="6400800" cy="365760"/>
          </a:xfrm>
          <a:prstGeom prst="rect">
            <a:avLst/>
          </a:prstGeom>
          <a:solidFill>
            <a:srgbClr val="132030"/>
          </a:solidFill>
          <a:ln/>
        </p:spPr>
      </p:sp>
      <p:sp>
        <p:nvSpPr>
          <p:cNvPr id="6" name="Text 4"/>
          <p:cNvSpPr/>
          <p:nvPr/>
        </p:nvSpPr>
        <p:spPr>
          <a:xfrm>
            <a:off x="1463040" y="1691640"/>
            <a:ext cx="731520" cy="274320"/>
          </a:xfrm>
          <a:prstGeom prst="rect">
            <a:avLst/>
          </a:prstGeom>
          <a:noFill/>
          <a:ln/>
        </p:spPr>
        <p:txBody>
          <a:bodyPr wrap="square" lIns="0" tIns="0" rIns="0" bIns="0" rtlCol="0" anchor="ctr"/>
          <a:lstStyle/>
          <a:p>
            <a:pPr algn="l" indent="0" marL="0">
              <a:buNone/>
            </a:pPr>
            <a:r>
              <a:rPr lang="en-US" sz="1100" b="1" dirty="0">
                <a:solidFill>
                  <a:srgbClr val="F59E0B"/>
                </a:solidFill>
                <a:latin typeface="Consolas" pitchFamily="34" charset="0"/>
                <a:ea typeface="Consolas" pitchFamily="34" charset="-122"/>
                <a:cs typeface="Consolas" pitchFamily="34" charset="-120"/>
              </a:rPr>
              <a:t>14:12</a:t>
            </a:r>
            <a:endParaRPr lang="en-US" sz="1100" dirty="0"/>
          </a:p>
        </p:txBody>
      </p:sp>
      <p:sp>
        <p:nvSpPr>
          <p:cNvPr id="7" name="Text 5"/>
          <p:cNvSpPr/>
          <p:nvPr/>
        </p:nvSpPr>
        <p:spPr>
          <a:xfrm>
            <a:off x="2194560" y="1691640"/>
            <a:ext cx="1097280" cy="274320"/>
          </a:xfrm>
          <a:prstGeom prst="rect">
            <a:avLst/>
          </a:prstGeom>
          <a:noFill/>
          <a:ln/>
        </p:spPr>
        <p:txBody>
          <a:bodyPr wrap="square" lIns="0" tIns="0" rIns="0" bIns="0" rtlCol="0" anchor="ctr"/>
          <a:lstStyle/>
          <a:p>
            <a:pPr algn="l" indent="0" marL="0">
              <a:buNone/>
            </a:pPr>
            <a:r>
              <a:rPr lang="en-US" sz="1000" dirty="0">
                <a:solidFill>
                  <a:srgbClr val="0D7ECC"/>
                </a:solidFill>
                <a:latin typeface="Calibri" pitchFamily="34" charset="0"/>
                <a:ea typeface="Calibri" pitchFamily="34" charset="-122"/>
                <a:cs typeface="Calibri" pitchFamily="34" charset="-120"/>
              </a:rPr>
              <a:t>[Event Log]</a:t>
            </a:r>
            <a:endParaRPr lang="en-US" sz="1000" dirty="0"/>
          </a:p>
        </p:txBody>
      </p:sp>
      <p:sp>
        <p:nvSpPr>
          <p:cNvPr id="8" name="Text 6"/>
          <p:cNvSpPr/>
          <p:nvPr/>
        </p:nvSpPr>
        <p:spPr>
          <a:xfrm>
            <a:off x="3383280" y="1691640"/>
            <a:ext cx="4297680" cy="274320"/>
          </a:xfrm>
          <a:prstGeom prst="rect">
            <a:avLst/>
          </a:prstGeom>
          <a:noFill/>
          <a:ln/>
        </p:spPr>
        <p:txBody>
          <a:bodyPr wrap="square" lIns="0" tIns="0" rIns="0" bIns="0" rtlCol="0" anchor="ctr"/>
          <a:lstStyle/>
          <a:p>
            <a:pPr algn="l" indent="0" marL="0">
              <a:buNone/>
            </a:pPr>
            <a:r>
              <a:rPr lang="en-US" sz="1100" dirty="0">
                <a:solidFill>
                  <a:srgbClr val="C9DFEF"/>
                </a:solidFill>
                <a:latin typeface="Calibri" pitchFamily="34" charset="0"/>
                <a:ea typeface="Calibri" pitchFamily="34" charset="-122"/>
                <a:cs typeface="Calibri" pitchFamily="34" charset="-120"/>
              </a:rPr>
              <a:t>USB device connected (ID 6416)</a:t>
            </a:r>
            <a:endParaRPr lang="en-US" sz="1100" dirty="0"/>
          </a:p>
        </p:txBody>
      </p:sp>
      <p:sp>
        <p:nvSpPr>
          <p:cNvPr id="9" name="Shape 7"/>
          <p:cNvSpPr/>
          <p:nvPr/>
        </p:nvSpPr>
        <p:spPr>
          <a:xfrm>
            <a:off x="1371600" y="2057400"/>
            <a:ext cx="6400800" cy="365760"/>
          </a:xfrm>
          <a:prstGeom prst="rect">
            <a:avLst/>
          </a:prstGeom>
          <a:solidFill>
            <a:srgbClr val="0F1C2E"/>
          </a:solidFill>
          <a:ln/>
        </p:spPr>
      </p:sp>
      <p:sp>
        <p:nvSpPr>
          <p:cNvPr id="10" name="Text 8"/>
          <p:cNvSpPr/>
          <p:nvPr/>
        </p:nvSpPr>
        <p:spPr>
          <a:xfrm>
            <a:off x="1463040" y="2103120"/>
            <a:ext cx="731520" cy="274320"/>
          </a:xfrm>
          <a:prstGeom prst="rect">
            <a:avLst/>
          </a:prstGeom>
          <a:noFill/>
          <a:ln/>
        </p:spPr>
        <p:txBody>
          <a:bodyPr wrap="square" lIns="0" tIns="0" rIns="0" bIns="0" rtlCol="0" anchor="ctr"/>
          <a:lstStyle/>
          <a:p>
            <a:pPr algn="l" indent="0" marL="0">
              <a:buNone/>
            </a:pPr>
            <a:r>
              <a:rPr lang="en-US" sz="1100" b="1" dirty="0">
                <a:solidFill>
                  <a:srgbClr val="F59E0B"/>
                </a:solidFill>
                <a:latin typeface="Consolas" pitchFamily="34" charset="0"/>
                <a:ea typeface="Consolas" pitchFamily="34" charset="-122"/>
                <a:cs typeface="Consolas" pitchFamily="34" charset="-120"/>
              </a:rPr>
              <a:t>14:17</a:t>
            </a:r>
            <a:endParaRPr lang="en-US" sz="1100" dirty="0"/>
          </a:p>
        </p:txBody>
      </p:sp>
      <p:sp>
        <p:nvSpPr>
          <p:cNvPr id="11" name="Text 9"/>
          <p:cNvSpPr/>
          <p:nvPr/>
        </p:nvSpPr>
        <p:spPr>
          <a:xfrm>
            <a:off x="2194560" y="2103120"/>
            <a:ext cx="1097280" cy="274320"/>
          </a:xfrm>
          <a:prstGeom prst="rect">
            <a:avLst/>
          </a:prstGeom>
          <a:noFill/>
          <a:ln/>
        </p:spPr>
        <p:txBody>
          <a:bodyPr wrap="square" lIns="0" tIns="0" rIns="0" bIns="0" rtlCol="0" anchor="ctr"/>
          <a:lstStyle/>
          <a:p>
            <a:pPr algn="l" indent="0" marL="0">
              <a:buNone/>
            </a:pPr>
            <a:r>
              <a:rPr lang="en-US" sz="1000" dirty="0">
                <a:solidFill>
                  <a:srgbClr val="0D7ECC"/>
                </a:solidFill>
                <a:latin typeface="Calibri" pitchFamily="34" charset="0"/>
                <a:ea typeface="Calibri" pitchFamily="34" charset="-122"/>
                <a:cs typeface="Calibri" pitchFamily="34" charset="-120"/>
              </a:rPr>
              <a:t>[LNK File]</a:t>
            </a:r>
            <a:endParaRPr lang="en-US" sz="1000" dirty="0"/>
          </a:p>
        </p:txBody>
      </p:sp>
      <p:sp>
        <p:nvSpPr>
          <p:cNvPr id="12" name="Text 10"/>
          <p:cNvSpPr/>
          <p:nvPr/>
        </p:nvSpPr>
        <p:spPr>
          <a:xfrm>
            <a:off x="3383280" y="2103120"/>
            <a:ext cx="4297680" cy="274320"/>
          </a:xfrm>
          <a:prstGeom prst="rect">
            <a:avLst/>
          </a:prstGeom>
          <a:noFill/>
          <a:ln/>
        </p:spPr>
        <p:txBody>
          <a:bodyPr wrap="square" lIns="0" tIns="0" rIns="0" bIns="0" rtlCol="0" anchor="ctr"/>
          <a:lstStyle/>
          <a:p>
            <a:pPr algn="l" indent="0" marL="0">
              <a:buNone/>
            </a:pPr>
            <a:r>
              <a:rPr lang="en-US" sz="1100" dirty="0">
                <a:solidFill>
                  <a:srgbClr val="C9DFEF"/>
                </a:solidFill>
                <a:latin typeface="Calibri" pitchFamily="34" charset="0"/>
                <a:ea typeface="Calibri" pitchFamily="34" charset="-122"/>
                <a:cs typeface="Calibri" pitchFamily="34" charset="-120"/>
              </a:rPr>
              <a:t>budget_2024.xlsx opened from USB drive D:\</a:t>
            </a:r>
            <a:endParaRPr lang="en-US" sz="1100" dirty="0"/>
          </a:p>
        </p:txBody>
      </p:sp>
      <p:sp>
        <p:nvSpPr>
          <p:cNvPr id="13" name="Shape 11"/>
          <p:cNvSpPr/>
          <p:nvPr/>
        </p:nvSpPr>
        <p:spPr>
          <a:xfrm>
            <a:off x="1371600" y="2468880"/>
            <a:ext cx="6400800" cy="365760"/>
          </a:xfrm>
          <a:prstGeom prst="rect">
            <a:avLst/>
          </a:prstGeom>
          <a:solidFill>
            <a:srgbClr val="132030"/>
          </a:solidFill>
          <a:ln/>
        </p:spPr>
      </p:sp>
      <p:sp>
        <p:nvSpPr>
          <p:cNvPr id="14" name="Text 12"/>
          <p:cNvSpPr/>
          <p:nvPr/>
        </p:nvSpPr>
        <p:spPr>
          <a:xfrm>
            <a:off x="1463040" y="2514600"/>
            <a:ext cx="731520" cy="274320"/>
          </a:xfrm>
          <a:prstGeom prst="rect">
            <a:avLst/>
          </a:prstGeom>
          <a:noFill/>
          <a:ln/>
        </p:spPr>
        <p:txBody>
          <a:bodyPr wrap="square" lIns="0" tIns="0" rIns="0" bIns="0" rtlCol="0" anchor="ctr"/>
          <a:lstStyle/>
          <a:p>
            <a:pPr algn="l" indent="0" marL="0">
              <a:buNone/>
            </a:pPr>
            <a:r>
              <a:rPr lang="en-US" sz="1100" b="1" dirty="0">
                <a:solidFill>
                  <a:srgbClr val="F59E0B"/>
                </a:solidFill>
                <a:latin typeface="Consolas" pitchFamily="34" charset="0"/>
                <a:ea typeface="Consolas" pitchFamily="34" charset="-122"/>
                <a:cs typeface="Consolas" pitchFamily="34" charset="-120"/>
              </a:rPr>
              <a:t>14:23</a:t>
            </a:r>
            <a:endParaRPr lang="en-US" sz="1100" dirty="0"/>
          </a:p>
        </p:txBody>
      </p:sp>
      <p:sp>
        <p:nvSpPr>
          <p:cNvPr id="15" name="Text 13"/>
          <p:cNvSpPr/>
          <p:nvPr/>
        </p:nvSpPr>
        <p:spPr>
          <a:xfrm>
            <a:off x="2194560" y="2514600"/>
            <a:ext cx="1097280" cy="274320"/>
          </a:xfrm>
          <a:prstGeom prst="rect">
            <a:avLst/>
          </a:prstGeom>
          <a:noFill/>
          <a:ln/>
        </p:spPr>
        <p:txBody>
          <a:bodyPr wrap="square" lIns="0" tIns="0" rIns="0" bIns="0" rtlCol="0" anchor="ctr"/>
          <a:lstStyle/>
          <a:p>
            <a:pPr algn="l" indent="0" marL="0">
              <a:buNone/>
            </a:pPr>
            <a:r>
              <a:rPr lang="en-US" sz="1000" dirty="0">
                <a:solidFill>
                  <a:srgbClr val="0D7ECC"/>
                </a:solidFill>
                <a:latin typeface="Calibri" pitchFamily="34" charset="0"/>
                <a:ea typeface="Calibri" pitchFamily="34" charset="-122"/>
                <a:cs typeface="Calibri" pitchFamily="34" charset="-120"/>
              </a:rPr>
              <a:t>[Browser]</a:t>
            </a:r>
            <a:endParaRPr lang="en-US" sz="1000" dirty="0"/>
          </a:p>
        </p:txBody>
      </p:sp>
      <p:sp>
        <p:nvSpPr>
          <p:cNvPr id="16" name="Text 14"/>
          <p:cNvSpPr/>
          <p:nvPr/>
        </p:nvSpPr>
        <p:spPr>
          <a:xfrm>
            <a:off x="3383280" y="2514600"/>
            <a:ext cx="4297680" cy="274320"/>
          </a:xfrm>
          <a:prstGeom prst="rect">
            <a:avLst/>
          </a:prstGeom>
          <a:noFill/>
          <a:ln/>
        </p:spPr>
        <p:txBody>
          <a:bodyPr wrap="square" lIns="0" tIns="0" rIns="0" bIns="0" rtlCol="0" anchor="ctr"/>
          <a:lstStyle/>
          <a:p>
            <a:pPr algn="l" indent="0" marL="0">
              <a:buNone/>
            </a:pPr>
            <a:r>
              <a:rPr lang="en-US" sz="1100" dirty="0">
                <a:solidFill>
                  <a:srgbClr val="C9DFEF"/>
                </a:solidFill>
                <a:latin typeface="Calibri" pitchFamily="34" charset="0"/>
                <a:ea typeface="Calibri" pitchFamily="34" charset="-122"/>
                <a:cs typeface="Calibri" pitchFamily="34" charset="-120"/>
              </a:rPr>
              <a:t>gmail.com upload request detected in cache</a:t>
            </a:r>
            <a:endParaRPr lang="en-US" sz="1100" dirty="0"/>
          </a:p>
        </p:txBody>
      </p:sp>
      <p:sp>
        <p:nvSpPr>
          <p:cNvPr id="17" name="Shape 15"/>
          <p:cNvSpPr/>
          <p:nvPr/>
        </p:nvSpPr>
        <p:spPr>
          <a:xfrm>
            <a:off x="1371600" y="2880360"/>
            <a:ext cx="6400800" cy="365760"/>
          </a:xfrm>
          <a:prstGeom prst="rect">
            <a:avLst/>
          </a:prstGeom>
          <a:solidFill>
            <a:srgbClr val="0F1C2E"/>
          </a:solidFill>
          <a:ln/>
        </p:spPr>
      </p:sp>
      <p:sp>
        <p:nvSpPr>
          <p:cNvPr id="18" name="Text 16"/>
          <p:cNvSpPr/>
          <p:nvPr/>
        </p:nvSpPr>
        <p:spPr>
          <a:xfrm>
            <a:off x="1463040" y="2926080"/>
            <a:ext cx="731520" cy="274320"/>
          </a:xfrm>
          <a:prstGeom prst="rect">
            <a:avLst/>
          </a:prstGeom>
          <a:noFill/>
          <a:ln/>
        </p:spPr>
        <p:txBody>
          <a:bodyPr wrap="square" lIns="0" tIns="0" rIns="0" bIns="0" rtlCol="0" anchor="ctr"/>
          <a:lstStyle/>
          <a:p>
            <a:pPr algn="l" indent="0" marL="0">
              <a:buNone/>
            </a:pPr>
            <a:r>
              <a:rPr lang="en-US" sz="1100" b="1" dirty="0">
                <a:solidFill>
                  <a:srgbClr val="F59E0B"/>
                </a:solidFill>
                <a:latin typeface="Consolas" pitchFamily="34" charset="0"/>
                <a:ea typeface="Consolas" pitchFamily="34" charset="-122"/>
                <a:cs typeface="Consolas" pitchFamily="34" charset="-120"/>
              </a:rPr>
              <a:t>14:44</a:t>
            </a:r>
            <a:endParaRPr lang="en-US" sz="1100" dirty="0"/>
          </a:p>
        </p:txBody>
      </p:sp>
      <p:sp>
        <p:nvSpPr>
          <p:cNvPr id="19" name="Text 17"/>
          <p:cNvSpPr/>
          <p:nvPr/>
        </p:nvSpPr>
        <p:spPr>
          <a:xfrm>
            <a:off x="2194560" y="2926080"/>
            <a:ext cx="1097280" cy="274320"/>
          </a:xfrm>
          <a:prstGeom prst="rect">
            <a:avLst/>
          </a:prstGeom>
          <a:noFill/>
          <a:ln/>
        </p:spPr>
        <p:txBody>
          <a:bodyPr wrap="square" lIns="0" tIns="0" rIns="0" bIns="0" rtlCol="0" anchor="ctr"/>
          <a:lstStyle/>
          <a:p>
            <a:pPr algn="l" indent="0" marL="0">
              <a:buNone/>
            </a:pPr>
            <a:r>
              <a:rPr lang="en-US" sz="1000" dirty="0">
                <a:solidFill>
                  <a:srgbClr val="0D7ECC"/>
                </a:solidFill>
                <a:latin typeface="Calibri" pitchFamily="34" charset="0"/>
                <a:ea typeface="Calibri" pitchFamily="34" charset="-122"/>
                <a:cs typeface="Calibri" pitchFamily="34" charset="-120"/>
              </a:rPr>
              <a:t>[Event Log]</a:t>
            </a:r>
            <a:endParaRPr lang="en-US" sz="1000" dirty="0"/>
          </a:p>
        </p:txBody>
      </p:sp>
      <p:sp>
        <p:nvSpPr>
          <p:cNvPr id="20" name="Text 18"/>
          <p:cNvSpPr/>
          <p:nvPr/>
        </p:nvSpPr>
        <p:spPr>
          <a:xfrm>
            <a:off x="3383280" y="2926080"/>
            <a:ext cx="4297680" cy="274320"/>
          </a:xfrm>
          <a:prstGeom prst="rect">
            <a:avLst/>
          </a:prstGeom>
          <a:noFill/>
          <a:ln/>
        </p:spPr>
        <p:txBody>
          <a:bodyPr wrap="square" lIns="0" tIns="0" rIns="0" bIns="0" rtlCol="0" anchor="ctr"/>
          <a:lstStyle/>
          <a:p>
            <a:pPr algn="l" indent="0" marL="0">
              <a:buNone/>
            </a:pPr>
            <a:r>
              <a:rPr lang="en-US" sz="1100" dirty="0">
                <a:solidFill>
                  <a:srgbClr val="C9DFEF"/>
                </a:solidFill>
                <a:latin typeface="Calibri" pitchFamily="34" charset="0"/>
                <a:ea typeface="Calibri" pitchFamily="34" charset="-122"/>
                <a:cs typeface="Calibri" pitchFamily="34" charset="-120"/>
              </a:rPr>
              <a:t>USB device removed (ID 2102)</a:t>
            </a:r>
            <a:endParaRPr lang="en-US" sz="1100" dirty="0"/>
          </a:p>
        </p:txBody>
      </p:sp>
      <p:sp>
        <p:nvSpPr>
          <p:cNvPr id="21" name="Shape 19"/>
          <p:cNvSpPr/>
          <p:nvPr/>
        </p:nvSpPr>
        <p:spPr>
          <a:xfrm>
            <a:off x="384048" y="3474720"/>
            <a:ext cx="8394192" cy="1463040"/>
          </a:xfrm>
          <a:prstGeom prst="rect">
            <a:avLst/>
          </a:prstGeom>
          <a:solidFill>
            <a:srgbClr val="1A0A0A"/>
          </a:solidFill>
          <a:ln/>
          <a:effectLst>
            <a:outerShdw sx="100000" sy="100000" kx="0" ky="0" algn="bl" rotWithShape="0" blurRad="101600" dist="25400" dir="8100000">
              <a:srgbClr val="000000">
                <a:alpha val="30000"/>
              </a:srgbClr>
            </a:outerShdw>
          </a:effectLst>
        </p:spPr>
      </p:sp>
      <p:sp>
        <p:nvSpPr>
          <p:cNvPr id="22" name="Shape 20"/>
          <p:cNvSpPr/>
          <p:nvPr/>
        </p:nvSpPr>
        <p:spPr>
          <a:xfrm>
            <a:off x="384048" y="3474720"/>
            <a:ext cx="8394192" cy="182880"/>
          </a:xfrm>
          <a:prstGeom prst="rect">
            <a:avLst/>
          </a:prstGeom>
          <a:solidFill>
            <a:srgbClr val="EF4444"/>
          </a:solidFill>
          <a:ln/>
        </p:spPr>
      </p:sp>
      <p:sp>
        <p:nvSpPr>
          <p:cNvPr id="23" name="Text 21"/>
          <p:cNvSpPr/>
          <p:nvPr/>
        </p:nvSpPr>
        <p:spPr>
          <a:xfrm>
            <a:off x="502920" y="3749040"/>
            <a:ext cx="8229600" cy="365760"/>
          </a:xfrm>
          <a:prstGeom prst="rect">
            <a:avLst/>
          </a:prstGeom>
          <a:noFill/>
          <a:ln/>
        </p:spPr>
        <p:txBody>
          <a:bodyPr wrap="square" lIns="0" tIns="0" rIns="0" bIns="0" rtlCol="0" anchor="ctr"/>
          <a:lstStyle/>
          <a:p>
            <a:pPr algn="ctr" indent="0" marL="0">
              <a:buNone/>
            </a:pPr>
            <a:r>
              <a:rPr lang="en-US" sz="1800" b="1" dirty="0">
                <a:solidFill>
                  <a:srgbClr val="EF4444"/>
                </a:solidFill>
                <a:latin typeface="Calibri" pitchFamily="34" charset="0"/>
                <a:ea typeface="Calibri" pitchFamily="34" charset="-122"/>
                <a:cs typeface="Calibri" pitchFamily="34" charset="-120"/>
              </a:rPr>
              <a:t>⚠ MASSIVE TIMELINE WARNING: TIMEZONES</a:t>
            </a:r>
            <a:endParaRPr lang="en-US" sz="1800" dirty="0"/>
          </a:p>
        </p:txBody>
      </p:sp>
      <p:sp>
        <p:nvSpPr>
          <p:cNvPr id="24" name="Text 22"/>
          <p:cNvSpPr/>
          <p:nvPr/>
        </p:nvSpPr>
        <p:spPr>
          <a:xfrm>
            <a:off x="502920" y="4114800"/>
            <a:ext cx="8229600" cy="7315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Nirsoft tools (BrowsingHistoryView) export in your LOCAL TIMEZONE by default.</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EZ Tools (LECmd, MFTECmd) export in UTC.</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If you merge these CSVs without syncing them to UTC, your timeline will be corrupted by massive hour-long gaps!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622"/>
        </a:solidFill>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00C6AE"/>
          </a:solidFill>
          <a:ln/>
        </p:spPr>
      </p:sp>
      <p:sp>
        <p:nvSpPr>
          <p:cNvPr id="3" name="Shape 1"/>
          <p:cNvSpPr/>
          <p:nvPr/>
        </p:nvSpPr>
        <p:spPr>
          <a:xfrm>
            <a:off x="0" y="4983480"/>
            <a:ext cx="9144000" cy="164592"/>
          </a:xfrm>
          <a:prstGeom prst="rect">
            <a:avLst/>
          </a:prstGeom>
          <a:solidFill>
            <a:srgbClr val="00C6AE"/>
          </a:solidFill>
          <a:ln/>
        </p:spPr>
      </p:sp>
      <p:sp>
        <p:nvSpPr>
          <p:cNvPr id="4" name="Shape 2"/>
          <p:cNvSpPr/>
          <p:nvPr/>
        </p:nvSpPr>
        <p:spPr>
          <a:xfrm>
            <a:off x="7406640" y="0"/>
            <a:ext cx="1737360" cy="5143500"/>
          </a:xfrm>
          <a:prstGeom prst="rect">
            <a:avLst/>
          </a:prstGeom>
          <a:solidFill>
            <a:srgbClr val="132030"/>
          </a:solidFill>
          <a:ln/>
        </p:spPr>
      </p:sp>
      <p:sp>
        <p:nvSpPr>
          <p:cNvPr id="5" name="Text 3"/>
          <p:cNvSpPr/>
          <p:nvPr/>
        </p:nvSpPr>
        <p:spPr>
          <a:xfrm>
            <a:off x="457200" y="914400"/>
            <a:ext cx="6766560" cy="457200"/>
          </a:xfrm>
          <a:prstGeom prst="rect">
            <a:avLst/>
          </a:prstGeom>
          <a:noFill/>
          <a:ln/>
        </p:spPr>
        <p:txBody>
          <a:bodyPr wrap="square" lIns="0" tIns="0" rIns="0" bIns="0" rtlCol="0" anchor="ctr"/>
          <a:lstStyle/>
          <a:p>
            <a:pPr algn="l" indent="0" marL="0">
              <a:buNone/>
            </a:pPr>
            <a:r>
              <a:rPr lang="en-US" sz="3000" b="1" dirty="0">
                <a:solidFill>
                  <a:srgbClr val="00C6AE"/>
                </a:solidFill>
                <a:latin typeface="Calibri" pitchFamily="34" charset="0"/>
                <a:ea typeface="Calibri" pitchFamily="34" charset="-122"/>
                <a:cs typeface="Calibri" pitchFamily="34" charset="-120"/>
              </a:rPr>
              <a:t>Methodology Summary</a:t>
            </a:r>
            <a:endParaRPr lang="en-US" sz="3000" dirty="0"/>
          </a:p>
        </p:txBody>
      </p:sp>
      <p:sp>
        <p:nvSpPr>
          <p:cNvPr id="6" name="Text 4"/>
          <p:cNvSpPr/>
          <p:nvPr/>
        </p:nvSpPr>
        <p:spPr>
          <a:xfrm>
            <a:off x="457200" y="1645920"/>
            <a:ext cx="6766560" cy="2286000"/>
          </a:xfrm>
          <a:prstGeom prst="rect">
            <a:avLst/>
          </a:prstGeom>
          <a:noFill/>
          <a:ln/>
        </p:spPr>
        <p:txBody>
          <a:bodyPr wrap="square" lIns="0" tIns="0" rIns="0" bIns="0" rtlCol="0" anchor="ctr"/>
          <a:lstStyle/>
          <a:p>
            <a:pPr algn="l" indent="0" marL="0">
              <a:buNone/>
            </a:pPr>
            <a:r>
              <a:rPr lang="en-US" sz="1500" dirty="0">
                <a:solidFill>
                  <a:srgbClr val="C9DFEF"/>
                </a:solidFill>
                <a:latin typeface="Calibri" pitchFamily="34" charset="0"/>
                <a:ea typeface="Calibri" pitchFamily="34" charset="-122"/>
                <a:cs typeface="Calibri" pitchFamily="34" charset="-120"/>
              </a:rPr>
              <a:t>1. Understand the Application Layer:</a:t>
            </a:r>
            <a:endParaRPr lang="en-US" sz="1500" dirty="0"/>
          </a:p>
          <a:p>
            <a:pPr algn="l" indent="0" marL="0">
              <a:buNone/>
            </a:pPr>
            <a:r>
              <a:rPr lang="en-US" sz="1500" dirty="0">
                <a:solidFill>
                  <a:srgbClr val="C9DFEF"/>
                </a:solidFill>
                <a:latin typeface="Calibri" pitchFamily="34" charset="0"/>
                <a:ea typeface="Calibri" pitchFamily="34" charset="-122"/>
                <a:cs typeface="Calibri" pitchFamily="34" charset="-120"/>
              </a:rPr>
              <a:t>Browser history shows intent. Cache proves execution. LNK files prove file access.</a:t>
            </a:r>
            <a:endParaRPr lang="en-US" sz="1500" dirty="0"/>
          </a:p>
          <a:p>
            <a:pPr algn="l" indent="0" marL="0">
              <a:buNone/>
            </a:pPr>
            <a:endParaRPr lang="en-US" sz="1500" dirty="0"/>
          </a:p>
          <a:p>
            <a:pPr algn="l" indent="0" marL="0">
              <a:buNone/>
            </a:pPr>
            <a:r>
              <a:rPr lang="en-US" sz="1500" dirty="0">
                <a:solidFill>
                  <a:srgbClr val="C9DFEF"/>
                </a:solidFill>
                <a:latin typeface="Calibri" pitchFamily="34" charset="0"/>
                <a:ea typeface="Calibri" pitchFamily="34" charset="-122"/>
                <a:cs typeface="Calibri" pitchFamily="34" charset="-120"/>
              </a:rPr>
              <a:t>2. Extract Safely:</a:t>
            </a:r>
            <a:endParaRPr lang="en-US" sz="1500" dirty="0"/>
          </a:p>
          <a:p>
            <a:pPr algn="l" indent="0" marL="0">
              <a:buNone/>
            </a:pPr>
            <a:r>
              <a:rPr lang="en-US" sz="1500" dirty="0">
                <a:solidFill>
                  <a:srgbClr val="C9DFEF"/>
                </a:solidFill>
                <a:latin typeface="Calibri" pitchFamily="34" charset="0"/>
                <a:ea typeface="Calibri" pitchFamily="34" charset="-122"/>
                <a:cs typeface="Calibri" pitchFamily="34" charset="-120"/>
              </a:rPr>
              <a:t>Kill background processes. Export databases to a working folder. Hash the evidence.</a:t>
            </a:r>
            <a:endParaRPr lang="en-US" sz="1500" dirty="0"/>
          </a:p>
          <a:p>
            <a:pPr algn="l" indent="0" marL="0">
              <a:buNone/>
            </a:pPr>
            <a:endParaRPr lang="en-US" sz="1500" dirty="0"/>
          </a:p>
          <a:p>
            <a:pPr algn="l" indent="0" marL="0">
              <a:buNone/>
            </a:pPr>
            <a:r>
              <a:rPr lang="en-US" sz="1500" dirty="0">
                <a:solidFill>
                  <a:srgbClr val="C9DFEF"/>
                </a:solidFill>
                <a:latin typeface="Calibri" pitchFamily="34" charset="0"/>
                <a:ea typeface="Calibri" pitchFamily="34" charset="-122"/>
                <a:cs typeface="Calibri" pitchFamily="34" charset="-120"/>
              </a:rPr>
              <a:t>3. Connect the Dots:</a:t>
            </a:r>
            <a:endParaRPr lang="en-US" sz="1500" dirty="0"/>
          </a:p>
          <a:p>
            <a:pPr algn="l" indent="0" marL="0">
              <a:buNone/>
            </a:pPr>
            <a:r>
              <a:rPr lang="en-US" sz="1500" dirty="0">
                <a:solidFill>
                  <a:srgbClr val="C9DFEF"/>
                </a:solidFill>
                <a:latin typeface="Calibri" pitchFamily="34" charset="0"/>
                <a:ea typeface="Calibri" pitchFamily="34" charset="-122"/>
                <a:cs typeface="Calibri" pitchFamily="34" charset="-120"/>
              </a:rPr>
              <a:t>No single artifact tells the whole story. Merge MFT, Event Logs, Browsers, and LNKs into one UTC-normalized timeline.</a:t>
            </a:r>
            <a:endParaRPr lang="en-US" sz="1500" dirty="0"/>
          </a:p>
        </p:txBody>
      </p:sp>
      <p:sp>
        <p:nvSpPr>
          <p:cNvPr id="7" name="Text 5"/>
          <p:cNvSpPr/>
          <p:nvPr/>
        </p:nvSpPr>
        <p:spPr>
          <a:xfrm>
            <a:off x="457200" y="4206240"/>
            <a:ext cx="6766560" cy="457200"/>
          </a:xfrm>
          <a:prstGeom prst="rect">
            <a:avLst/>
          </a:prstGeom>
          <a:noFill/>
          <a:ln/>
        </p:spPr>
        <p:txBody>
          <a:bodyPr wrap="square" lIns="0" tIns="0" rIns="0" bIns="0" rtlCol="0" anchor="ctr"/>
          <a:lstStyle/>
          <a:p>
            <a:pPr algn="l" indent="0" marL="0">
              <a:buNone/>
            </a:pPr>
            <a:r>
              <a:rPr lang="en-US" sz="1800" i="1" dirty="0">
                <a:solidFill>
                  <a:srgbClr val="F59E0B"/>
                </a:solidFill>
                <a:latin typeface="Calibri" pitchFamily="34" charset="0"/>
                <a:ea typeface="Calibri" pitchFamily="34" charset="-122"/>
                <a:cs typeface="Calibri" pitchFamily="34" charset="-120"/>
              </a:rPr>
              <a:t>End of Masterclass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Browser Forensics, LNK Files &amp; Artifact Integration Masterclass</dc:title>
  <dc:subject>PptxGenJS Presentation</dc:subject>
  <dc:creator>PptxGenJS</dc:creator>
  <cp:lastModifiedBy>PptxGenJS</cp:lastModifiedBy>
  <cp:revision>1</cp:revision>
  <dcterms:created xsi:type="dcterms:W3CDTF">2026-04-27T13:31:48Z</dcterms:created>
  <dcterms:modified xsi:type="dcterms:W3CDTF">2026-04-27T13:31:48Z</dcterms:modified>
</cp:coreProperties>
</file>