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AE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1280160"/>
          </a:xfrm>
          <a:prstGeom prst="rect">
            <a:avLst/>
          </a:prstGeom>
          <a:solidFill>
            <a:srgbClr val="1B2C3F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1B2C3F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8B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TEAM INTERNSHIP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1430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60020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Forensics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20040" y="31089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Imaging  ·  File Systems  ·  Autopsy Triage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Two  |  Days 43 – 52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 This Week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2606040" cy="329184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2606040" cy="457200"/>
          </a:xfrm>
          <a:prstGeom prst="rect">
            <a:avLst/>
          </a:prstGeom>
          <a:solidFill>
            <a:srgbClr val="0084C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46–47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💾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Imaging &amp;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Verification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91840" y="960120"/>
            <a:ext cx="2606040" cy="329184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960120"/>
            <a:ext cx="2606040" cy="457200"/>
          </a:xfrm>
          <a:prstGeom prst="rect">
            <a:avLst/>
          </a:prstGeom>
          <a:solidFill>
            <a:srgbClr val="00C6AE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960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48–49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5087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🗂️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429000" y="21945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606040" cy="329184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960120"/>
            <a:ext cx="260604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960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50–52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15087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263640" y="21945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Autopsy Case Setup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Initial Triage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feeds directly into the next — foundations first, tools second.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Two: A Different Mindset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3931920" cy="347472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3931920" cy="438912"/>
          </a:xfrm>
          <a:prstGeom prst="rect">
            <a:avLst/>
          </a:prstGeom>
          <a:solidFill>
            <a:srgbClr val="0084C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Real-time detection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Live dashboard &amp; alerts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SIEM queries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3375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Missing a log = recoverable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47472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3931920" cy="438912"/>
          </a:xfrm>
          <a:prstGeom prst="rect">
            <a:avLst/>
          </a:prstGeom>
          <a:solidFill>
            <a:srgbClr val="00C6AE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9601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Two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83480" y="1554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Post-incident reconstruction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148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Disk image as the source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743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Methodical documented process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3375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Contaminating evidence = case over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43400" y="960120"/>
            <a:ext cx="457200" cy="34747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9" name="Text 17"/>
          <p:cNvSpPr/>
          <p:nvPr/>
        </p:nvSpPr>
        <p:spPr>
          <a:xfrm>
            <a:off x="43434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forensics, contaminating evidence can render your entire investigation inadmissible."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Forensic Concepts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14300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1143000"/>
          </a:xfrm>
          <a:prstGeom prst="rect">
            <a:avLst/>
          </a:prstGeom>
          <a:solidFill>
            <a:srgbClr val="00C6A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972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Locard's Exchange Principle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contact leaves a trace. Even reading a disk modifies timestamps. This is why write-blocking is mandatory before imaging.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114300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31720"/>
            <a:ext cx="54864" cy="1143000"/>
          </a:xfrm>
          <a:prstGeom prst="rect">
            <a:avLst/>
          </a:prstGeom>
          <a:solidFill>
            <a:srgbClr val="00C6A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231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8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Blocker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or software barrier that sits between your machine and the source device — prevents any writes reaching the evidence drive.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114300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657600"/>
            <a:ext cx="54864" cy="1143000"/>
          </a:xfrm>
          <a:prstGeom prst="rect">
            <a:avLst/>
          </a:prstGeom>
          <a:solidFill>
            <a:srgbClr val="00C6AE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7490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Custody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4114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record of who handled evidence, when, what they did, and where it was at every point from collection to court.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Image Formats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2606040" cy="374904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2606040" cy="502920"/>
          </a:xfrm>
          <a:prstGeom prst="rect">
            <a:avLst/>
          </a:prstGeom>
          <a:solidFill>
            <a:srgbClr val="00C6A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E01  (EnCase)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Used this week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1920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Embedded metadata &amp; hash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514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Built-in compression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3108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Industry standard in court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3703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Acquisition details embedded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960120"/>
            <a:ext cx="2606040" cy="374904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960120"/>
            <a:ext cx="2606040" cy="502920"/>
          </a:xfrm>
          <a:prstGeom prst="rect">
            <a:avLst/>
          </a:prstGeom>
          <a:solidFill>
            <a:srgbClr val="0084C8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960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/ DD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15361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8B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but large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56432" y="1920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Bit-for-bit copy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56432" y="2514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metadata included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56432" y="3108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Requires separate hash file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56432" y="3703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Universal tool compatibility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960120"/>
            <a:ext cx="2606040" cy="374904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960120"/>
            <a:ext cx="260604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960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7920" y="15361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8B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cases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91072" y="1920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 standard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91072" y="2514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Designed for scale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91072" y="3108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Modern alternative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91072" y="3703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Less tool support currently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84C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46–47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Imaging &amp; Hash Verification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4160520" cy="749808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457200" cy="749808"/>
          </a:xfrm>
          <a:prstGeom prst="rect">
            <a:avLst/>
          </a:prstGeom>
          <a:solidFill>
            <a:srgbClr val="00C6A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09728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Write-block the USB drive before connecting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84248"/>
            <a:ext cx="4160520" cy="749808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984248"/>
            <a:ext cx="457200" cy="749808"/>
          </a:xfrm>
          <a:prstGeom prst="rect">
            <a:avLst/>
          </a:prstGeom>
          <a:solidFill>
            <a:srgbClr val="00C6A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984248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1984248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FTK Imager → Physical Drive → E01 format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71216"/>
            <a:ext cx="4160520" cy="749808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71216"/>
            <a:ext cx="457200" cy="749808"/>
          </a:xfrm>
          <a:prstGeom prst="rect">
            <a:avLst/>
          </a:prstGeom>
          <a:solidFill>
            <a:srgbClr val="00C6A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871216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871216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acquisition metadata (case #, examiner, notes)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58184"/>
            <a:ext cx="4160520" cy="749808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758184"/>
            <a:ext cx="457200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758184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758184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MD5 + SHA-256 hash generation — both required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1097280"/>
            <a:ext cx="4160520" cy="749808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1097280"/>
            <a:ext cx="457200" cy="749808"/>
          </a:xfrm>
          <a:prstGeom prst="rect">
            <a:avLst/>
          </a:prstGeom>
          <a:solidFill>
            <a:srgbClr val="00C6AE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109728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94960" y="109728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acquisition — do not interrupt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1984248"/>
            <a:ext cx="4160520" cy="749808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1984248"/>
            <a:ext cx="457200" cy="749808"/>
          </a:xfrm>
          <a:prstGeom prst="rect">
            <a:avLst/>
          </a:prstGeom>
          <a:solidFill>
            <a:srgbClr val="00C6AE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1984248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1984248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the hash comparison output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46320" y="2871216"/>
            <a:ext cx="4160520" cy="749808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2871216"/>
            <a:ext cx="457200" cy="7498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871216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94960" y="2871216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image in Arsenal Image Mounter — READ-ONLY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46320" y="3758184"/>
            <a:ext cx="4160520" cy="749808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3758184"/>
            <a:ext cx="457200" cy="749808"/>
          </a:xfrm>
          <a:prstGeom prst="rect">
            <a:avLst/>
          </a:prstGeom>
          <a:solidFill>
            <a:srgbClr val="00C6AE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3758184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94960" y="3758184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chain of custody document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Hash Verification Matters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286000" cy="914400"/>
          </a:xfrm>
          <a:prstGeom prst="rect">
            <a:avLst/>
          </a:prstGeom>
          <a:solidFill>
            <a:srgbClr val="0084C8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DRIVE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051560"/>
            <a:ext cx="2286000" cy="914400"/>
          </a:xfrm>
          <a:prstGeom prst="rect">
            <a:avLst/>
          </a:prstGeom>
          <a:solidFill>
            <a:srgbClr val="8BA3BD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1051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FTK IMAGER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051560"/>
            <a:ext cx="2286000" cy="914400"/>
          </a:xfrm>
          <a:prstGeom prst="rect">
            <a:avLst/>
          </a:prstGeom>
          <a:solidFill>
            <a:srgbClr val="00C6A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0" y="1051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E01 IMAGE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51760" y="1508760"/>
            <a:ext cx="640080" cy="0"/>
          </a:xfrm>
          <a:prstGeom prst="line">
            <a:avLst/>
          </a:prstGeom>
          <a:noFill/>
          <a:ln w="25400">
            <a:solidFill>
              <a:srgbClr val="00C6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371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6AE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577840" y="1508760"/>
            <a:ext cx="640080" cy="0"/>
          </a:xfrm>
          <a:prstGeom prst="line">
            <a:avLst/>
          </a:prstGeom>
          <a:noFill/>
          <a:ln w="25400">
            <a:solidFill>
              <a:srgbClr val="00C6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371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6AE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8412480" cy="123444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Comparison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26334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MD5: </a:t>
            </a:r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a1b2c3d4e5f6...</a:t>
            </a:r>
            <a:pPr indent="0" marL="0">
              <a:buNone/>
            </a:pPr>
            <a:r>
              <a:rPr lang="en-US" sz="1300" dirty="0">
                <a:solidFill>
                  <a:srgbClr val="8B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→     Image MD5: </a:t>
            </a:r>
            <a:pPr indent="0" marL="0">
              <a:buNone/>
            </a:pPr>
            <a:r>
              <a:rPr lang="en-US" sz="13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a1b2c3d4e5f6...</a:t>
            </a:r>
            <a:pPr indent="0" marL="0">
              <a:buNone/>
            </a:pPr>
            <a:r>
              <a:rPr lang="en-US" sz="13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MATCH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2971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SHA256: </a:t>
            </a:r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7f8a9b...</a:t>
            </a:r>
            <a:pPr indent="0" marL="0">
              <a:buNone/>
            </a:pPr>
            <a:r>
              <a:rPr lang="en-US" sz="1300" dirty="0">
                <a:solidFill>
                  <a:srgbClr val="8B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→     Image SHA256: </a:t>
            </a:r>
            <a:pPr indent="0" marL="0">
              <a:buNone/>
            </a:pPr>
            <a:r>
              <a:rPr lang="en-US" sz="13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7f8a9b...</a:t>
            </a:r>
            <a:pPr indent="0" marL="0">
              <a:buNone/>
            </a:pPr>
            <a:r>
              <a:rPr lang="en-US" sz="13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MATCH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3703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buNone/>
            </a:pPr>
            <a:r>
              <a:rPr lang="en-US" sz="1200" i="1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hash match proves the image is a bit-for-bit copy of the source at acquisition time. This IS your legal proof.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2519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hashes do not match: </a:t>
            </a:r>
            <a:pPr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 the image, re-acquire from scratch. Never work from a failed image.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C6A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48–49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 Analysis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2606040" cy="365760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2606040" cy="502920"/>
          </a:xfrm>
          <a:prstGeom prst="rect">
            <a:avLst/>
          </a:prstGeom>
          <a:solidFill>
            <a:srgbClr val="0084C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(modern)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17373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Master File Table (MFT)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239572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Alternate Data Streams (ADS)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305409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Journaling ($LogFile, $UsnJrnl)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" y="371246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Slack space forensics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1097280"/>
            <a:ext cx="2606040" cy="365760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097280"/>
            <a:ext cx="2606040" cy="502920"/>
          </a:xfrm>
          <a:prstGeom prst="rect">
            <a:avLst/>
          </a:prstGeom>
          <a:solidFill>
            <a:srgbClr val="00C6AE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1097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FAT16/32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291840" y="14173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Removable media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56432" y="17373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File Allocation Table chain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56432" y="239572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 directory entries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56432" y="305409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Deletion = mark + release clusters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56432" y="371246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persists until overwritten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1097280"/>
            <a:ext cx="2606040" cy="365760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097280"/>
            <a:ext cx="260604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1097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126480" y="14173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standard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91072" y="17373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Inode-based metadata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91072" y="239572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Directory entries → inodes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91072" y="305409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Journaling for integrity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91072" y="371246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Different deletion model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NTFS Deep Dive: The Master File Table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206240" cy="91440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4864" cy="914400"/>
          </a:xfrm>
          <a:prstGeom prst="rect">
            <a:avLst/>
          </a:prstGeom>
          <a:solidFill>
            <a:srgbClr val="00C6A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60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MFT?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2527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entry for every file &amp; directory on the NTFS volume — including deleted files (until the entry is overwritten).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4206240" cy="91440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20240"/>
            <a:ext cx="54864" cy="914400"/>
          </a:xfrm>
          <a:prstGeom prst="rect">
            <a:avLst/>
          </a:prstGeom>
          <a:solidFill>
            <a:srgbClr val="00C6AE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965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metadata files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2585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$MFT  |  $LogFile  |  $Bitmap  |  $UsnJrnl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206240" cy="91440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26080"/>
            <a:ext cx="54864" cy="914400"/>
          </a:xfrm>
          <a:prstGeom prst="rect">
            <a:avLst/>
          </a:prstGeom>
          <a:solidFill>
            <a:srgbClr val="00C6AE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971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Space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2644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end of file data and end of its last cluster. Can contain residual data from previous files — forensically significant.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4206240" cy="91440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931920"/>
            <a:ext cx="54864" cy="914400"/>
          </a:xfrm>
          <a:prstGeom prst="rect">
            <a:avLst/>
          </a:prstGeom>
          <a:solidFill>
            <a:srgbClr val="00C6AE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977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MACB Timestamps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42702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· Accessed · Changed (MFT) · Birth (Created)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914400"/>
            <a:ext cx="4160520" cy="374904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9601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MACB Timestamps – What Changes?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00600" y="1389888"/>
            <a:ext cx="1554480" cy="347472"/>
          </a:xfrm>
          <a:prstGeom prst="rect">
            <a:avLst/>
          </a:prstGeom>
          <a:solidFill>
            <a:srgbClr val="0084C8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13898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1389888"/>
            <a:ext cx="502920" cy="347472"/>
          </a:xfrm>
          <a:prstGeom prst="rect">
            <a:avLst/>
          </a:prstGeom>
          <a:solidFill>
            <a:srgbClr val="0084C8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138988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0" y="1389888"/>
            <a:ext cx="502920" cy="347472"/>
          </a:xfrm>
          <a:prstGeom prst="rect">
            <a:avLst/>
          </a:prstGeom>
          <a:solidFill>
            <a:srgbClr val="0084C8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138988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60920" y="1389888"/>
            <a:ext cx="502920" cy="347472"/>
          </a:xfrm>
          <a:prstGeom prst="rect">
            <a:avLst/>
          </a:prstGeom>
          <a:solidFill>
            <a:srgbClr val="0084C8"/>
          </a:solidFill>
          <a:ln/>
        </p:spPr>
      </p:sp>
      <p:sp>
        <p:nvSpPr>
          <p:cNvPr id="29" name="Text 27"/>
          <p:cNvSpPr/>
          <p:nvPr/>
        </p:nvSpPr>
        <p:spPr>
          <a:xfrm>
            <a:off x="7360920" y="138988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863840" y="1389888"/>
            <a:ext cx="502920" cy="347472"/>
          </a:xfrm>
          <a:prstGeom prst="rect">
            <a:avLst/>
          </a:prstGeom>
          <a:solidFill>
            <a:srgbClr val="0084C8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0" y="138988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1737360"/>
            <a:ext cx="1554480" cy="438912"/>
          </a:xfrm>
          <a:prstGeom prst="rect">
            <a:avLst/>
          </a:prstGeom>
          <a:solidFill>
            <a:srgbClr val="1B2C3F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17373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Created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55080" y="1737360"/>
            <a:ext cx="502920" cy="438912"/>
          </a:xfrm>
          <a:prstGeom prst="rect">
            <a:avLst/>
          </a:prstGeom>
          <a:solidFill>
            <a:srgbClr val="1B2C3F"/>
          </a:solidFill>
          <a:ln/>
        </p:spPr>
      </p:sp>
      <p:sp>
        <p:nvSpPr>
          <p:cNvPr id="35" name="Text 33"/>
          <p:cNvSpPr/>
          <p:nvPr/>
        </p:nvSpPr>
        <p:spPr>
          <a:xfrm>
            <a:off x="6355080" y="17373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58000" y="1737360"/>
            <a:ext cx="502920" cy="438912"/>
          </a:xfrm>
          <a:prstGeom prst="rect">
            <a:avLst/>
          </a:prstGeom>
          <a:solidFill>
            <a:srgbClr val="1B2C3F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0" y="17373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360920" y="1737360"/>
            <a:ext cx="502920" cy="438912"/>
          </a:xfrm>
          <a:prstGeom prst="rect">
            <a:avLst/>
          </a:prstGeom>
          <a:solidFill>
            <a:srgbClr val="1B2C3F"/>
          </a:solidFill>
          <a:ln/>
        </p:spPr>
      </p:sp>
      <p:sp>
        <p:nvSpPr>
          <p:cNvPr id="39" name="Text 37"/>
          <p:cNvSpPr/>
          <p:nvPr/>
        </p:nvSpPr>
        <p:spPr>
          <a:xfrm>
            <a:off x="7360920" y="17373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863840" y="1737360"/>
            <a:ext cx="502920" cy="438912"/>
          </a:xfrm>
          <a:prstGeom prst="rect">
            <a:avLst/>
          </a:prstGeom>
          <a:solidFill>
            <a:srgbClr val="1B2C3F"/>
          </a:solidFill>
          <a:ln/>
        </p:spPr>
      </p:sp>
      <p:sp>
        <p:nvSpPr>
          <p:cNvPr id="41" name="Text 39"/>
          <p:cNvSpPr/>
          <p:nvPr/>
        </p:nvSpPr>
        <p:spPr>
          <a:xfrm>
            <a:off x="7863840" y="17373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800600" y="2176272"/>
            <a:ext cx="1554480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3" name="Text 41"/>
          <p:cNvSpPr/>
          <p:nvPr/>
        </p:nvSpPr>
        <p:spPr>
          <a:xfrm>
            <a:off x="4800600" y="217627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Copied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355080" y="2176272"/>
            <a:ext cx="502920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5" name="Text 43"/>
          <p:cNvSpPr/>
          <p:nvPr/>
        </p:nvSpPr>
        <p:spPr>
          <a:xfrm>
            <a:off x="6355080" y="217627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858000" y="2176272"/>
            <a:ext cx="502920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7" name="Text 45"/>
          <p:cNvSpPr/>
          <p:nvPr/>
        </p:nvSpPr>
        <p:spPr>
          <a:xfrm>
            <a:off x="6858000" y="217627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360920" y="2176272"/>
            <a:ext cx="502920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9" name="Text 47"/>
          <p:cNvSpPr/>
          <p:nvPr/>
        </p:nvSpPr>
        <p:spPr>
          <a:xfrm>
            <a:off x="7360920" y="217627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863840" y="2176272"/>
            <a:ext cx="502920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1" name="Text 49"/>
          <p:cNvSpPr/>
          <p:nvPr/>
        </p:nvSpPr>
        <p:spPr>
          <a:xfrm>
            <a:off x="7863840" y="217627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800600" y="2615184"/>
            <a:ext cx="1554480" cy="438912"/>
          </a:xfrm>
          <a:prstGeom prst="rect">
            <a:avLst/>
          </a:prstGeom>
          <a:solidFill>
            <a:srgbClr val="1B2C3F"/>
          </a:solidFill>
          <a:ln/>
        </p:spPr>
      </p:sp>
      <p:sp>
        <p:nvSpPr>
          <p:cNvPr id="53" name="Text 51"/>
          <p:cNvSpPr/>
          <p:nvPr/>
        </p:nvSpPr>
        <p:spPr>
          <a:xfrm>
            <a:off x="4800600" y="261518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Moved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355080" y="2615184"/>
            <a:ext cx="502920" cy="438912"/>
          </a:xfrm>
          <a:prstGeom prst="rect">
            <a:avLst/>
          </a:prstGeom>
          <a:solidFill>
            <a:srgbClr val="1B2C3F"/>
          </a:solidFill>
          <a:ln/>
        </p:spPr>
      </p:sp>
      <p:sp>
        <p:nvSpPr>
          <p:cNvPr id="55" name="Text 53"/>
          <p:cNvSpPr/>
          <p:nvPr/>
        </p:nvSpPr>
        <p:spPr>
          <a:xfrm>
            <a:off x="6355080" y="261518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858000" y="2615184"/>
            <a:ext cx="502920" cy="438912"/>
          </a:xfrm>
          <a:prstGeom prst="rect">
            <a:avLst/>
          </a:prstGeom>
          <a:solidFill>
            <a:srgbClr val="1B2C3F"/>
          </a:solidFill>
          <a:ln/>
        </p:spPr>
      </p:sp>
      <p:sp>
        <p:nvSpPr>
          <p:cNvPr id="57" name="Text 55"/>
          <p:cNvSpPr/>
          <p:nvPr/>
        </p:nvSpPr>
        <p:spPr>
          <a:xfrm>
            <a:off x="6858000" y="261518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360920" y="2615184"/>
            <a:ext cx="502920" cy="438912"/>
          </a:xfrm>
          <a:prstGeom prst="rect">
            <a:avLst/>
          </a:prstGeom>
          <a:solidFill>
            <a:srgbClr val="1B2C3F"/>
          </a:solidFill>
          <a:ln/>
        </p:spPr>
      </p:sp>
      <p:sp>
        <p:nvSpPr>
          <p:cNvPr id="59" name="Text 57"/>
          <p:cNvSpPr/>
          <p:nvPr/>
        </p:nvSpPr>
        <p:spPr>
          <a:xfrm>
            <a:off x="7360920" y="261518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863840" y="2615184"/>
            <a:ext cx="502920" cy="438912"/>
          </a:xfrm>
          <a:prstGeom prst="rect">
            <a:avLst/>
          </a:prstGeom>
          <a:solidFill>
            <a:srgbClr val="1B2C3F"/>
          </a:solidFill>
          <a:ln/>
        </p:spPr>
      </p:sp>
      <p:sp>
        <p:nvSpPr>
          <p:cNvPr id="61" name="Text 59"/>
          <p:cNvSpPr/>
          <p:nvPr/>
        </p:nvSpPr>
        <p:spPr>
          <a:xfrm>
            <a:off x="7863840" y="261518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4800600" y="3054096"/>
            <a:ext cx="1554480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3" name="Text 61"/>
          <p:cNvSpPr/>
          <p:nvPr/>
        </p:nvSpPr>
        <p:spPr>
          <a:xfrm>
            <a:off x="4800600" y="305409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Opened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6355080" y="3054096"/>
            <a:ext cx="502920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5" name="Text 63"/>
          <p:cNvSpPr/>
          <p:nvPr/>
        </p:nvSpPr>
        <p:spPr>
          <a:xfrm>
            <a:off x="6355080" y="305409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6858000" y="3054096"/>
            <a:ext cx="502920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7" name="Text 65"/>
          <p:cNvSpPr/>
          <p:nvPr/>
        </p:nvSpPr>
        <p:spPr>
          <a:xfrm>
            <a:off x="6858000" y="305409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7360920" y="3054096"/>
            <a:ext cx="502920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9" name="Text 67"/>
          <p:cNvSpPr/>
          <p:nvPr/>
        </p:nvSpPr>
        <p:spPr>
          <a:xfrm>
            <a:off x="7360920" y="305409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7863840" y="3054096"/>
            <a:ext cx="502920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1" name="Text 69"/>
          <p:cNvSpPr/>
          <p:nvPr/>
        </p:nvSpPr>
        <p:spPr>
          <a:xfrm>
            <a:off x="7863840" y="305409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4800600" y="3493008"/>
            <a:ext cx="1554480" cy="438912"/>
          </a:xfrm>
          <a:prstGeom prst="rect">
            <a:avLst/>
          </a:prstGeom>
          <a:solidFill>
            <a:srgbClr val="1B2C3F"/>
          </a:solidFill>
          <a:ln/>
        </p:spPr>
      </p:sp>
      <p:sp>
        <p:nvSpPr>
          <p:cNvPr id="73" name="Text 71"/>
          <p:cNvSpPr/>
          <p:nvPr/>
        </p:nvSpPr>
        <p:spPr>
          <a:xfrm>
            <a:off x="4800600" y="349300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Modified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6355080" y="3493008"/>
            <a:ext cx="502920" cy="438912"/>
          </a:xfrm>
          <a:prstGeom prst="rect">
            <a:avLst/>
          </a:prstGeom>
          <a:solidFill>
            <a:srgbClr val="1B2C3F"/>
          </a:solidFill>
          <a:ln/>
        </p:spPr>
      </p:sp>
      <p:sp>
        <p:nvSpPr>
          <p:cNvPr id="75" name="Text 73"/>
          <p:cNvSpPr/>
          <p:nvPr/>
        </p:nvSpPr>
        <p:spPr>
          <a:xfrm>
            <a:off x="6355080" y="349300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6858000" y="3493008"/>
            <a:ext cx="502920" cy="438912"/>
          </a:xfrm>
          <a:prstGeom prst="rect">
            <a:avLst/>
          </a:prstGeom>
          <a:solidFill>
            <a:srgbClr val="1B2C3F"/>
          </a:solidFill>
          <a:ln/>
        </p:spPr>
      </p:sp>
      <p:sp>
        <p:nvSpPr>
          <p:cNvPr id="77" name="Text 75"/>
          <p:cNvSpPr/>
          <p:nvPr/>
        </p:nvSpPr>
        <p:spPr>
          <a:xfrm>
            <a:off x="6858000" y="349300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7360920" y="3493008"/>
            <a:ext cx="502920" cy="438912"/>
          </a:xfrm>
          <a:prstGeom prst="rect">
            <a:avLst/>
          </a:prstGeom>
          <a:solidFill>
            <a:srgbClr val="1B2C3F"/>
          </a:solidFill>
          <a:ln/>
        </p:spPr>
      </p:sp>
      <p:sp>
        <p:nvSpPr>
          <p:cNvPr id="79" name="Text 77"/>
          <p:cNvSpPr/>
          <p:nvPr/>
        </p:nvSpPr>
        <p:spPr>
          <a:xfrm>
            <a:off x="7360920" y="349300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7863840" y="3493008"/>
            <a:ext cx="502920" cy="438912"/>
          </a:xfrm>
          <a:prstGeom prst="rect">
            <a:avLst/>
          </a:prstGeom>
          <a:solidFill>
            <a:srgbClr val="1B2C3F"/>
          </a:solidFill>
          <a:ln/>
        </p:spPr>
      </p:sp>
      <p:sp>
        <p:nvSpPr>
          <p:cNvPr id="81" name="Text 79"/>
          <p:cNvSpPr/>
          <p:nvPr/>
        </p:nvSpPr>
        <p:spPr>
          <a:xfrm>
            <a:off x="7863840" y="349300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4800600" y="3931920"/>
            <a:ext cx="1554480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3" name="Text 81"/>
          <p:cNvSpPr/>
          <p:nvPr/>
        </p:nvSpPr>
        <p:spPr>
          <a:xfrm>
            <a:off x="4800600" y="393192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Timestomped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6355080" y="3931920"/>
            <a:ext cx="502920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5" name="Text 83"/>
          <p:cNvSpPr/>
          <p:nvPr/>
        </p:nvSpPr>
        <p:spPr>
          <a:xfrm>
            <a:off x="6355080" y="393192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6858000" y="3931920"/>
            <a:ext cx="502920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7" name="Text 85"/>
          <p:cNvSpPr/>
          <p:nvPr/>
        </p:nvSpPr>
        <p:spPr>
          <a:xfrm>
            <a:off x="6858000" y="393192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7360920" y="3931920"/>
            <a:ext cx="502920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9" name="Text 87"/>
          <p:cNvSpPr/>
          <p:nvPr/>
        </p:nvSpPr>
        <p:spPr>
          <a:xfrm>
            <a:off x="7360920" y="393192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7863840" y="3931920"/>
            <a:ext cx="502920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91" name="Text 89"/>
          <p:cNvSpPr/>
          <p:nvPr/>
        </p:nvSpPr>
        <p:spPr>
          <a:xfrm>
            <a:off x="7863840" y="393192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92" name="Text 90"/>
          <p:cNvSpPr/>
          <p:nvPr/>
        </p:nvSpPr>
        <p:spPr>
          <a:xfrm>
            <a:off x="4800600" y="4133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= likely tampered (timestomping)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NTFS Alternate Data Streams (ADS)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allows a file to carry hidden named data streams. Invisible to Explorer, dir, and most tools.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237744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54864" cy="2377440"/>
          </a:xfrm>
          <a:prstGeom prst="rect">
            <a:avLst/>
          </a:prstGeom>
          <a:solidFill>
            <a:srgbClr val="00C6AE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298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Use ADS To: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691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Hide malicious payloads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2860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Store C2 config without file size changes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2880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Exfiltrate data invisibly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234440"/>
            <a:ext cx="4023360" cy="237744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234440"/>
            <a:ext cx="54864" cy="2377440"/>
          </a:xfrm>
          <a:prstGeom prst="rect">
            <a:avLst/>
          </a:prstGeom>
          <a:solidFill>
            <a:srgbClr val="00C6AE"/>
          </a:solidFill>
          <a:ln/>
        </p:spPr>
      </p:sp>
      <p:sp>
        <p:nvSpPr>
          <p:cNvPr id="13" name="Text 11"/>
          <p:cNvSpPr/>
          <p:nvPr/>
        </p:nvSpPr>
        <p:spPr>
          <a:xfrm>
            <a:off x="4956048" y="1298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Uses ADS Legitimately: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56048" y="1691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Zone.Identifier on downloaded files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56048" y="22860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Marks internet-origin files (Mark of the Web)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56048" y="2880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Used by anti-malware for metadata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749040"/>
            <a:ext cx="8412480" cy="1051560"/>
          </a:xfrm>
          <a:prstGeom prst="rect">
            <a:avLst/>
          </a:prstGeom>
          <a:solidFill>
            <a:srgbClr val="0A1520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79476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C6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C:\test&gt; </a:t>
            </a:r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notepad file.txt:hidden.txt</a:t>
            </a:r>
            <a:pPr algn="l" indent="0" marL="0">
              <a:buNone/>
            </a:pPr>
            <a:r>
              <a:rPr lang="en-US" sz="1100" dirty="0">
                <a:solidFill>
                  <a:srgbClr val="8BA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# create hidden stream
</a:t>
            </a:r>
            <a:pPr algn="l" indent="0" marL="0">
              <a:buNone/>
            </a:pPr>
            <a:r>
              <a:rPr lang="en-US" sz="1100" b="1" dirty="0">
                <a:solidFill>
                  <a:srgbClr val="00C6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C:\test&gt; </a:t>
            </a:r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 /r</a:t>
            </a:r>
            <a:pPr algn="l" indent="0" marL="0">
              <a:buNone/>
            </a:pPr>
            <a:r>
              <a:rPr lang="en-US" sz="1100" dirty="0">
                <a:solidFill>
                  <a:srgbClr val="8BA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# reveals streams
</a:t>
            </a:r>
            <a:pPr algn="l" indent="0" marL="0">
              <a:buNone/>
            </a:pPr>
            <a:r>
              <a:rPr lang="en-US" sz="1100" dirty="0">
                <a:solidFill>
                  <a:srgbClr val="D1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file.txt          1,234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1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file.txt:hidden.txt:$DATA  512   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← this is invisible normally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Registry – Live Reference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regedit.exe to follow along →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59436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70432"/>
            <a:ext cx="3200400" cy="594360"/>
          </a:xfrm>
          <a:prstGeom prst="rect">
            <a:avLst/>
          </a:prstGeom>
          <a:solidFill>
            <a:srgbClr val="0084C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7043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HKEY_LOCAL_MACHINE (HKLM)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03320" y="117043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Machine-wide settings, hardware, OS config, installed software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83664"/>
            <a:ext cx="8412480" cy="59436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83664"/>
            <a:ext cx="3200400" cy="594360"/>
          </a:xfrm>
          <a:prstGeom prst="rect">
            <a:avLst/>
          </a:prstGeom>
          <a:solidFill>
            <a:srgbClr val="00C6A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83664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HKEY_CURRENT_USER (HKCU)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03320" y="1883664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for the currently logged-in user — preferences, recent docs, run keys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596896"/>
            <a:ext cx="8412480" cy="59436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596896"/>
            <a:ext cx="3200400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596896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HKEY_CLASSES_ROOT (HKCR)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03320" y="2596896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associations and COM object registrations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310128"/>
            <a:ext cx="8412480" cy="59436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310128"/>
            <a:ext cx="3200400" cy="594360"/>
          </a:xfrm>
          <a:prstGeom prst="rect">
            <a:avLst/>
          </a:prstGeom>
          <a:solidFill>
            <a:srgbClr val="8BA3BD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3101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HKEY_USERS (HKU)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03320" y="331012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for all loaded users (HKCU is a subkey of this)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023360"/>
            <a:ext cx="8412480" cy="59436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023360"/>
            <a:ext cx="3200400" cy="594360"/>
          </a:xfrm>
          <a:prstGeom prst="rect">
            <a:avLst/>
          </a:prstGeom>
          <a:solidFill>
            <a:srgbClr val="8BA3BD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0233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HKEY_CURRENT_CONFIG (HKCC)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03320" y="40233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hardware profile info — volatile, rebuilt at boot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681728"/>
            <a:ext cx="8412480" cy="292608"/>
          </a:xfrm>
          <a:prstGeom prst="rect">
            <a:avLst/>
          </a:prstGeom>
          <a:solidFill>
            <a:srgbClr val="1A0A00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4681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Forensic Key: </a:t>
            </a:r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HKLM\SOFTWARE\Microsoft\Windows\CurrentVersion\Run</a:t>
            </a:r>
            <a:pPr indent="0" marL="0">
              <a:buNone/>
            </a:pPr>
            <a:r>
              <a:rPr lang="en-US" sz="11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Programs that auto-start for ALL users. Classic persistence location.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Persistence: Run &amp; RunOnce Keys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B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one of the most common persistence mechanisms investigated in digital forensics and IR.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768096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4358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HKLM\SOFTWARE\Microsoft\Windows\CurrentVersion\Run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for ALL users on every boot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223760" y="1417320"/>
            <a:ext cx="128016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0" y="1417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84832"/>
            <a:ext cx="8412480" cy="768096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13969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HKCU\SOFTWARE\Microsoft\Windows\CurrentVersion\Run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468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for current user on every boot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23760" y="2313432"/>
            <a:ext cx="1280160" cy="256032"/>
          </a:xfrm>
          <a:prstGeom prst="rect">
            <a:avLst/>
          </a:prstGeom>
          <a:solidFill>
            <a:srgbClr val="0084C8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0" y="23134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User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980944"/>
            <a:ext cx="8412480" cy="768096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03580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HKLM\SOFTWARE\Microsoft\Windows\CurrentVersion\RunOnce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3649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 for all users, then deletes itself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23760" y="3209544"/>
            <a:ext cx="128016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0" y="32095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877056"/>
            <a:ext cx="8412480" cy="768096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93192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HKCU\SOFTWARE\Microsoft\Windows\CurrentVersion\RunOnce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261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 for current user, then auto-deletes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223760" y="4105656"/>
            <a:ext cx="128016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0" y="41056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818888"/>
            <a:ext cx="8412480" cy="201168"/>
          </a:xfrm>
          <a:prstGeom prst="rect">
            <a:avLst/>
          </a:prstGeom>
          <a:solidFill>
            <a:srgbClr val="120A00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48188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</a:t>
            </a:r>
            <a:pPr indent="0" marL="0">
              <a:buNone/>
            </a:pPr>
            <a:r>
              <a:rPr lang="en-US" sz="11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regedit → navigate to HKLM\SOFTWARE\Microsoft\Windows\CurrentVersion\Run — examine what runs on this machine.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50–52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Autopsy – Case Setup &amp; Initial Triage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Modules — know what you're running before you enable it: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2697480" cy="109728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17320"/>
            <a:ext cx="2697480" cy="320040"/>
          </a:xfrm>
          <a:prstGeom prst="rect">
            <a:avLst/>
          </a:prstGeom>
          <a:solidFill>
            <a:srgbClr val="0084C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4173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Lookup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178308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known-good / known-bad sets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417320"/>
            <a:ext cx="2697480" cy="109728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417320"/>
            <a:ext cx="2697480" cy="320040"/>
          </a:xfrm>
          <a:prstGeom prst="rect">
            <a:avLst/>
          </a:prstGeom>
          <a:solidFill>
            <a:srgbClr val="00C6AE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4173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1568" y="178308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terms you define across all files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417320"/>
            <a:ext cx="2697480" cy="109728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417320"/>
            <a:ext cx="269748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4173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Type ID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27648" y="178308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files by signature, not extension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697480"/>
            <a:ext cx="2697480" cy="109728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697480"/>
            <a:ext cx="2697480" cy="320040"/>
          </a:xfrm>
          <a:prstGeom prst="rect">
            <a:avLst/>
          </a:prstGeom>
          <a:solidFill>
            <a:srgbClr val="0084C8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6974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 Extraction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" y="306324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GPS, camera, date metadata from images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1840" y="2697480"/>
            <a:ext cx="2697480" cy="109728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91840" y="2697480"/>
            <a:ext cx="2697480" cy="320040"/>
          </a:xfrm>
          <a:prstGeom prst="rect">
            <a:avLst/>
          </a:prstGeom>
          <a:solidFill>
            <a:srgbClr val="00C6AE"/>
          </a:solidFill>
          <a:ln/>
        </p:spPr>
      </p:sp>
      <p:sp>
        <p:nvSpPr>
          <p:cNvPr id="25" name="Text 23"/>
          <p:cNvSpPr/>
          <p:nvPr/>
        </p:nvSpPr>
        <p:spPr>
          <a:xfrm>
            <a:off x="3291840" y="26974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Artefacts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01568" y="306324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history, downloads, cookies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2697480"/>
            <a:ext cx="2697480" cy="109728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2697480"/>
            <a:ext cx="269748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26974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Activity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27648" y="306324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artefacts: recent files, USB usage, logins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the E01 hash in Autopsy matches your acquisition report before proceeding.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Triage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160520" cy="114300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02920" cy="1143000"/>
          </a:xfrm>
          <a:prstGeom prst="rect">
            <a:avLst/>
          </a:prstGeom>
          <a:solidFill>
            <a:srgbClr val="00C6A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87552" y="10241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Tree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13898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category by category — breadth first, not depth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914400"/>
            <a:ext cx="4160520" cy="114300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914400"/>
            <a:ext cx="502920" cy="1143000"/>
          </a:xfrm>
          <a:prstGeom prst="rect">
            <a:avLst/>
          </a:prstGeom>
          <a:solidFill>
            <a:srgbClr val="0084C8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91440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22392" y="10241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Tree View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22392" y="13898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user profile, Desktop, Downloads, AppData, Temp dirs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4160520" cy="114300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40280"/>
            <a:ext cx="502920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24028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87552" y="23500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View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87552" y="271576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clusters of activity — multiple files in a short window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2240280"/>
            <a:ext cx="4160520" cy="114300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240280"/>
            <a:ext cx="502920" cy="1143000"/>
          </a:xfrm>
          <a:prstGeom prst="rect">
            <a:avLst/>
          </a:prstGeom>
          <a:solidFill>
            <a:srgbClr val="00C6AE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24028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22392" y="23500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Files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22392" y="271576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carver recovers files by signature — document condition of carved files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566160"/>
            <a:ext cx="4160520" cy="114300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566160"/>
            <a:ext cx="502920" cy="1143000"/>
          </a:xfrm>
          <a:prstGeom prst="rect">
            <a:avLst/>
          </a:prstGeom>
          <a:solidFill>
            <a:srgbClr val="0084C8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56616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87552" y="36758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Thumbnail View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87552" y="404164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scan for unexpected visual content or files with wrong extensions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3566160"/>
            <a:ext cx="4160520" cy="114300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566160"/>
            <a:ext cx="502920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356616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422392" y="36758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Log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22392" y="404164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path, type, size, timestamps, MD5, significance note for every finding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= scope and flag, not full investigation. You are identifying what to dig into next.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Deliverables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8412480" cy="1261872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1188720" cy="1261872"/>
          </a:xfrm>
          <a:prstGeom prst="rect">
            <a:avLst/>
          </a:prstGeom>
          <a:solidFill>
            <a:srgbClr val="0084C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11887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46–47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91640" y="1005840"/>
            <a:ext cx="6949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Acquisition report (full imaging process + hashes)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Chain of custody documentation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Hash verification screenshot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Mounted image screenshot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8412480" cy="1261872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304288"/>
            <a:ext cx="1188720" cy="1261872"/>
          </a:xfrm>
          <a:prstGeom prst="rect">
            <a:avLst/>
          </a:prstGeom>
          <a:solidFill>
            <a:srgbClr val="00C6AE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304288"/>
            <a:ext cx="11887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48–49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91640" y="2395728"/>
            <a:ext cx="6949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File system comparison document (NTFS/FAT/EXT4)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ADS demonstration screenshots (with/without /r flag)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MFT Explorer screenshots (2+ file entries)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MACB timestamps reference table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694176"/>
            <a:ext cx="8412480" cy="1261872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694176"/>
            <a:ext cx="1188720" cy="12618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694176"/>
            <a:ext cx="11887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50–52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91640" y="3785616"/>
            <a:ext cx="6949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Autopsy case file (compressed)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Initial triage report (analysis, not screenshots)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Carved/deleted files screenshots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Evidence log (path, type, size, timestamps, MD5, note)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to Avoid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8412480" cy="68580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Hash mismatch after acquisition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Check FTK Imager log for errors. Delete and re-acquire. Never work from a failed image.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68580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64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Mounting image with write access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ALWAYS select read-only in Arsenal Image Mounter. Write access invalidates your hash verification.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523744"/>
            <a:ext cx="8412480" cy="68580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5694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ADS not visible with dir /r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8712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You must be in the correct directory AND the volume must be NTFS — ADS does not exist on FAT32.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328416"/>
            <a:ext cx="8412480" cy="68580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3741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$MFT file won't open in MFT Explorer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6758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Extract $MFT via FTK Imager file export (not normal file copy) — it's a protected system file.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133088"/>
            <a:ext cx="8412480" cy="685800"/>
          </a:xfrm>
          <a:prstGeom prst="rect">
            <a:avLst/>
          </a:prstGeom>
          <a:solidFill>
            <a:srgbClr val="1622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4178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Autopsy ingest hangs / crashes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480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Memory issue. Allocate 8GB+ RAM. Close other apps. If in a VM, give it 4GB minimum.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9560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in the group: include specifics. 'Autopsy crashed' is unanswerable. 'Heap space error at 43% with 16GB image on 6GB RAM' gets an immediate answer.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C6A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00C6AE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1B2C3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everything.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everything.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work from a source you haven't verified.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forensics.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 Zimmermann forensic tools:  ericzimmermann.com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B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Autopsy download:  sleuthkit.org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7 – Digital Forensics Foundations</dc:title>
  <dc:subject>PptxGenJS Presentation</dc:subject>
  <dc:creator>Cyberster Blue Team</dc:creator>
  <cp:lastModifiedBy>Cyberster Blue Team</cp:lastModifiedBy>
  <cp:revision>1</cp:revision>
  <dcterms:created xsi:type="dcterms:W3CDTF">2026-04-13T15:02:50Z</dcterms:created>
  <dcterms:modified xsi:type="dcterms:W3CDTF">2026-04-13T15:02:50Z</dcterms:modified>
</cp:coreProperties>
</file>