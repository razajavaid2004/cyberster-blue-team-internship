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4389120" cy="5143500"/>
          </a:xfrm>
          <a:prstGeom prst="rect">
            <a:avLst/>
          </a:prstGeom>
          <a:solidFill>
            <a:srgbClr val="161B22"/>
          </a:solidFill>
          <a:ln w="12700">
            <a:solidFill>
              <a:srgbClr val="161B22"/>
            </a:solidFill>
            <a:prstDash val="solid"/>
          </a:ln>
        </p:spPr>
      </p:sp>
      <p:sp>
        <p:nvSpPr>
          <p:cNvPr id="3" name="Shape 1"/>
          <p:cNvSpPr/>
          <p:nvPr/>
        </p:nvSpPr>
        <p:spPr>
          <a:xfrm>
            <a:off x="0" y="0"/>
            <a:ext cx="109728" cy="5143500"/>
          </a:xfrm>
          <a:prstGeom prst="rect">
            <a:avLst/>
          </a:prstGeom>
          <a:solidFill>
            <a:srgbClr val="3FB950"/>
          </a:solidFill>
          <a:ln w="12700">
            <a:solidFill>
              <a:srgbClr val="3FB950"/>
            </a:solidFill>
            <a:prstDash val="solid"/>
          </a:ln>
        </p:spPr>
      </p:sp>
      <p:pic>
        <p:nvPicPr>
          <p:cNvPr id="4" name="Image 0" descr="preencoded.png">    </p:cNvPr>
          <p:cNvPicPr>
            <a:picLocks noChangeAspect="1"/>
          </p:cNvPicPr>
          <p:nvPr/>
        </p:nvPicPr>
        <p:blipFill>
          <a:blip r:embed="rId1"/>
          <a:stretch>
            <a:fillRect/>
          </a:stretch>
        </p:blipFill>
        <p:spPr>
          <a:xfrm>
            <a:off x="457200" y="548640"/>
            <a:ext cx="1188720" cy="1188720"/>
          </a:xfrm>
          <a:prstGeom prst="rect">
            <a:avLst/>
          </a:prstGeom>
        </p:spPr>
      </p:pic>
      <p:sp>
        <p:nvSpPr>
          <p:cNvPr id="5" name="Text 2"/>
          <p:cNvSpPr/>
          <p:nvPr/>
        </p:nvSpPr>
        <p:spPr>
          <a:xfrm>
            <a:off x="274320" y="1920240"/>
            <a:ext cx="3840480" cy="365760"/>
          </a:xfrm>
          <a:prstGeom prst="rect">
            <a:avLst/>
          </a:prstGeom>
          <a:noFill/>
          <a:ln/>
        </p:spPr>
        <p:txBody>
          <a:bodyPr wrap="square" rtlCol="0" anchor="ctr"/>
          <a:lstStyle/>
          <a:p>
            <a:pPr algn="l" indent="0" marL="0">
              <a:buNone/>
            </a:pPr>
            <a:r>
              <a:rPr lang="en-US" sz="1000" b="1" spc="300" kern="0" dirty="0">
                <a:solidFill>
                  <a:srgbClr val="3FB950"/>
                </a:solidFill>
                <a:latin typeface="Calibri" pitchFamily="34" charset="0"/>
                <a:ea typeface="Calibri" pitchFamily="34" charset="-122"/>
                <a:cs typeface="Calibri" pitchFamily="34" charset="-120"/>
              </a:rPr>
              <a:t>CYBERSTER BLUE TEAM</a:t>
            </a:r>
            <a:endParaRPr lang="en-US" sz="1000" dirty="0"/>
          </a:p>
        </p:txBody>
      </p:sp>
      <p:sp>
        <p:nvSpPr>
          <p:cNvPr id="6" name="Text 3"/>
          <p:cNvSpPr/>
          <p:nvPr/>
        </p:nvSpPr>
        <p:spPr>
          <a:xfrm>
            <a:off x="274320" y="2331720"/>
            <a:ext cx="3840480" cy="502920"/>
          </a:xfrm>
          <a:prstGeom prst="rect">
            <a:avLst/>
          </a:prstGeom>
          <a:noFill/>
          <a:ln/>
        </p:spPr>
        <p:txBody>
          <a:bodyPr wrap="square" rtlCol="0" anchor="ctr"/>
          <a:lstStyle/>
          <a:p>
            <a:pPr algn="l" indent="0" marL="0">
              <a:buNone/>
            </a:pPr>
            <a:r>
              <a:rPr lang="en-US" sz="2800" b="1" dirty="0">
                <a:solidFill>
                  <a:srgbClr val="E6EDF3"/>
                </a:solidFill>
                <a:latin typeface="Calibri" pitchFamily="34" charset="0"/>
                <a:ea typeface="Calibri" pitchFamily="34" charset="-122"/>
                <a:cs typeface="Calibri" pitchFamily="34" charset="-120"/>
              </a:rPr>
              <a:t>Week 10</a:t>
            </a:r>
            <a:endParaRPr lang="en-US" sz="2800" dirty="0"/>
          </a:p>
        </p:txBody>
      </p:sp>
      <p:sp>
        <p:nvSpPr>
          <p:cNvPr id="7" name="Text 4"/>
          <p:cNvSpPr/>
          <p:nvPr/>
        </p:nvSpPr>
        <p:spPr>
          <a:xfrm>
            <a:off x="274320" y="2834640"/>
            <a:ext cx="3840480" cy="1234440"/>
          </a:xfrm>
          <a:prstGeom prst="rect">
            <a:avLst/>
          </a:prstGeom>
          <a:noFill/>
          <a:ln/>
        </p:spPr>
        <p:txBody>
          <a:bodyPr wrap="square" rtlCol="0" anchor="ctr"/>
          <a:lstStyle/>
          <a:p>
            <a:pPr algn="l" indent="0" marL="0">
              <a:buNone/>
            </a:pPr>
            <a:r>
              <a:rPr lang="en-US" sz="2000" b="1" dirty="0">
                <a:solidFill>
                  <a:srgbClr val="58A6FF"/>
                </a:solidFill>
                <a:latin typeface="Calibri" pitchFamily="34" charset="0"/>
                <a:ea typeface="Calibri" pitchFamily="34" charset="-122"/>
                <a:cs typeface="Calibri" pitchFamily="34" charset="-120"/>
              </a:rPr>
              <a:t>Autopsy Triage,</a:t>
            </a:r>
            <a:endParaRPr lang="en-US" sz="2000" dirty="0"/>
          </a:p>
          <a:p>
            <a:pPr algn="l" indent="0" marL="0">
              <a:buNone/>
            </a:pPr>
            <a:r>
              <a:rPr lang="en-US" sz="2000" b="1" dirty="0">
                <a:solidFill>
                  <a:srgbClr val="58A6FF"/>
                </a:solidFill>
                <a:latin typeface="Calibri" pitchFamily="34" charset="0"/>
                <a:ea typeface="Calibri" pitchFamily="34" charset="-122"/>
                <a:cs typeface="Calibri" pitchFamily="34" charset="-120"/>
              </a:rPr>
              <a:t>Artifact Hunting &amp;</a:t>
            </a:r>
            <a:endParaRPr lang="en-US" sz="2000" dirty="0"/>
          </a:p>
          <a:p>
            <a:pPr algn="l" indent="0" marL="0">
              <a:buNone/>
            </a:pPr>
            <a:r>
              <a:rPr lang="en-US" sz="2000" b="1" dirty="0">
                <a:solidFill>
                  <a:srgbClr val="58A6FF"/>
                </a:solidFill>
                <a:latin typeface="Calibri" pitchFamily="34" charset="0"/>
                <a:ea typeface="Calibri" pitchFamily="34" charset="-122"/>
                <a:cs typeface="Calibri" pitchFamily="34" charset="-120"/>
              </a:rPr>
              <a:t>Registry Analysis</a:t>
            </a:r>
            <a:endParaRPr lang="en-US" sz="2000" dirty="0"/>
          </a:p>
        </p:txBody>
      </p:sp>
      <p:sp>
        <p:nvSpPr>
          <p:cNvPr id="8" name="Text 5"/>
          <p:cNvSpPr/>
          <p:nvPr/>
        </p:nvSpPr>
        <p:spPr>
          <a:xfrm>
            <a:off x="274320" y="4434840"/>
            <a:ext cx="3840480" cy="320040"/>
          </a:xfrm>
          <a:prstGeom prst="rect">
            <a:avLst/>
          </a:prstGeom>
          <a:noFill/>
          <a:ln/>
        </p:spPr>
        <p:txBody>
          <a:bodyPr wrap="square" rtlCol="0" anchor="ctr"/>
          <a:lstStyle/>
          <a:p>
            <a:pPr algn="l" indent="0" marL="0">
              <a:buNone/>
            </a:pPr>
            <a:r>
              <a:rPr lang="en-US" sz="1000" dirty="0">
                <a:solidFill>
                  <a:srgbClr val="8B949E"/>
                </a:solidFill>
                <a:latin typeface="Calibri" pitchFamily="34" charset="0"/>
                <a:ea typeface="Calibri" pitchFamily="34" charset="-122"/>
                <a:cs typeface="Calibri" pitchFamily="34" charset="-120"/>
              </a:rPr>
              <a:t>Phase Two — Digital Forensics and Incident Response</a:t>
            </a:r>
            <a:endParaRPr lang="en-US" sz="1000" dirty="0"/>
          </a:p>
        </p:txBody>
      </p:sp>
      <p:sp>
        <p:nvSpPr>
          <p:cNvPr id="9" name="Shape 6"/>
          <p:cNvSpPr/>
          <p:nvPr/>
        </p:nvSpPr>
        <p:spPr>
          <a:xfrm>
            <a:off x="4663440" y="640080"/>
            <a:ext cx="4251960" cy="164592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10" name="Image 1" descr="preencoded.png">    </p:cNvPr>
          <p:cNvPicPr>
            <a:picLocks noChangeAspect="1"/>
          </p:cNvPicPr>
          <p:nvPr/>
        </p:nvPicPr>
        <p:blipFill>
          <a:blip r:embed="rId2"/>
          <a:stretch>
            <a:fillRect/>
          </a:stretch>
        </p:blipFill>
        <p:spPr>
          <a:xfrm>
            <a:off x="4846320" y="1097280"/>
            <a:ext cx="594360" cy="594360"/>
          </a:xfrm>
          <a:prstGeom prst="rect">
            <a:avLst/>
          </a:prstGeom>
        </p:spPr>
      </p:pic>
      <p:sp>
        <p:nvSpPr>
          <p:cNvPr id="11" name="Text 7"/>
          <p:cNvSpPr/>
          <p:nvPr/>
        </p:nvSpPr>
        <p:spPr>
          <a:xfrm>
            <a:off x="5577840" y="932688"/>
            <a:ext cx="3200400" cy="384048"/>
          </a:xfrm>
          <a:prstGeom prst="rect">
            <a:avLst/>
          </a:prstGeom>
          <a:noFill/>
          <a:ln/>
        </p:spPr>
        <p:txBody>
          <a:bodyPr wrap="square" rtlCol="0" anchor="ctr"/>
          <a:lstStyle/>
          <a:p>
            <a:pPr indent="0" marL="0">
              <a:buNone/>
            </a:pPr>
            <a:r>
              <a:rPr lang="en-US" sz="1400" b="1" dirty="0">
                <a:solidFill>
                  <a:srgbClr val="58A6FF"/>
                </a:solidFill>
                <a:latin typeface="Calibri" pitchFamily="34" charset="0"/>
                <a:ea typeface="Calibri" pitchFamily="34" charset="-122"/>
                <a:cs typeface="Calibri" pitchFamily="34" charset="-120"/>
              </a:rPr>
              <a:t>Part A: Autopsy Triage</a:t>
            </a:r>
            <a:endParaRPr lang="en-US" sz="1400" dirty="0"/>
          </a:p>
        </p:txBody>
      </p:sp>
      <p:sp>
        <p:nvSpPr>
          <p:cNvPr id="12" name="Text 8"/>
          <p:cNvSpPr/>
          <p:nvPr/>
        </p:nvSpPr>
        <p:spPr>
          <a:xfrm>
            <a:off x="5577840" y="1353312"/>
            <a:ext cx="3200400" cy="777240"/>
          </a:xfrm>
          <a:prstGeom prst="rect">
            <a:avLst/>
          </a:prstGeom>
          <a:noFill/>
          <a:ln/>
        </p:spPr>
        <p:txBody>
          <a:bodyPr wrap="square" rtlCol="0" anchor="ctr"/>
          <a:lstStyle/>
          <a:p>
            <a:pPr indent="0" marL="0">
              <a:buNone/>
            </a:pPr>
            <a:r>
              <a:rPr lang="en-US" sz="1100" dirty="0">
                <a:solidFill>
                  <a:srgbClr val="8B949E"/>
                </a:solidFill>
                <a:latin typeface="Calibri" pitchFamily="34" charset="0"/>
                <a:ea typeface="Calibri" pitchFamily="34" charset="-122"/>
                <a:cs typeface="Calibri" pitchFamily="34" charset="-120"/>
              </a:rPr>
              <a:t>Image ingestion, artifact hunting, deleted files, event logs</a:t>
            </a:r>
            <a:endParaRPr lang="en-US" sz="1100" dirty="0"/>
          </a:p>
        </p:txBody>
      </p:sp>
      <p:sp>
        <p:nvSpPr>
          <p:cNvPr id="13" name="Shape 9"/>
          <p:cNvSpPr/>
          <p:nvPr/>
        </p:nvSpPr>
        <p:spPr>
          <a:xfrm>
            <a:off x="4663440" y="2514600"/>
            <a:ext cx="4251960" cy="164592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14" name="Image 2" descr="preencoded.png">    </p:cNvPr>
          <p:cNvPicPr>
            <a:picLocks noChangeAspect="1"/>
          </p:cNvPicPr>
          <p:nvPr/>
        </p:nvPicPr>
        <p:blipFill>
          <a:blip r:embed="rId3"/>
          <a:stretch>
            <a:fillRect/>
          </a:stretch>
        </p:blipFill>
        <p:spPr>
          <a:xfrm>
            <a:off x="4846320" y="2971800"/>
            <a:ext cx="594360" cy="594360"/>
          </a:xfrm>
          <a:prstGeom prst="rect">
            <a:avLst/>
          </a:prstGeom>
        </p:spPr>
      </p:pic>
      <p:sp>
        <p:nvSpPr>
          <p:cNvPr id="15" name="Text 10"/>
          <p:cNvSpPr/>
          <p:nvPr/>
        </p:nvSpPr>
        <p:spPr>
          <a:xfrm>
            <a:off x="5577840" y="2807208"/>
            <a:ext cx="3200400" cy="384048"/>
          </a:xfrm>
          <a:prstGeom prst="rect">
            <a:avLst/>
          </a:prstGeom>
          <a:noFill/>
          <a:ln/>
        </p:spPr>
        <p:txBody>
          <a:bodyPr wrap="square" rtlCol="0" anchor="ctr"/>
          <a:lstStyle/>
          <a:p>
            <a:pPr indent="0" marL="0">
              <a:buNone/>
            </a:pPr>
            <a:r>
              <a:rPr lang="en-US" sz="1400" b="1" dirty="0">
                <a:solidFill>
                  <a:srgbClr val="D2A8FF"/>
                </a:solidFill>
                <a:latin typeface="Calibri" pitchFamily="34" charset="0"/>
                <a:ea typeface="Calibri" pitchFamily="34" charset="-122"/>
                <a:cs typeface="Calibri" pitchFamily="34" charset="-120"/>
              </a:rPr>
              <a:t>Part B: Registry Analysis</a:t>
            </a:r>
            <a:endParaRPr lang="en-US" sz="1400" dirty="0"/>
          </a:p>
        </p:txBody>
      </p:sp>
      <p:sp>
        <p:nvSpPr>
          <p:cNvPr id="16" name="Text 11"/>
          <p:cNvSpPr/>
          <p:nvPr/>
        </p:nvSpPr>
        <p:spPr>
          <a:xfrm>
            <a:off x="5577840" y="3227832"/>
            <a:ext cx="3200400" cy="777240"/>
          </a:xfrm>
          <a:prstGeom prst="rect">
            <a:avLst/>
          </a:prstGeom>
          <a:noFill/>
          <a:ln/>
        </p:spPr>
        <p:txBody>
          <a:bodyPr wrap="square" rtlCol="0" anchor="ctr"/>
          <a:lstStyle/>
          <a:p>
            <a:pPr indent="0" marL="0">
              <a:buNone/>
            </a:pPr>
            <a:r>
              <a:rPr lang="en-US" sz="1100" dirty="0">
                <a:solidFill>
                  <a:srgbClr val="8B949E"/>
                </a:solidFill>
                <a:latin typeface="Calibri" pitchFamily="34" charset="0"/>
                <a:ea typeface="Calibri" pitchFamily="34" charset="-122"/>
                <a:cs typeface="Calibri" pitchFamily="34" charset="-120"/>
              </a:rPr>
              <a:t>SYSTEM, SOFTWARE, SAM, NTUSER.DAT — 34 investigative questions</a:t>
            </a:r>
            <a:endParaRPr lang="en-US" sz="1100" dirty="0"/>
          </a:p>
        </p:txBody>
      </p:sp>
      <p:sp>
        <p:nvSpPr>
          <p:cNvPr id="17" name="Shape 12"/>
          <p:cNvSpPr/>
          <p:nvPr/>
        </p:nvSpPr>
        <p:spPr>
          <a:xfrm>
            <a:off x="4663440" y="4343400"/>
            <a:ext cx="4251960" cy="566928"/>
          </a:xfrm>
          <a:prstGeom prst="rect">
            <a:avLst/>
          </a:prstGeom>
          <a:solidFill>
            <a:srgbClr val="1A0A00"/>
          </a:solidFill>
          <a:ln w="12700">
            <a:solidFill>
              <a:srgbClr val="F78166"/>
            </a:solidFill>
            <a:prstDash val="solid"/>
          </a:ln>
        </p:spPr>
      </p:sp>
      <p:sp>
        <p:nvSpPr>
          <p:cNvPr id="18" name="Text 13"/>
          <p:cNvSpPr/>
          <p:nvPr/>
        </p:nvSpPr>
        <p:spPr>
          <a:xfrm>
            <a:off x="4800600" y="4389120"/>
            <a:ext cx="3977640" cy="457200"/>
          </a:xfrm>
          <a:prstGeom prst="rect">
            <a:avLst/>
          </a:prstGeom>
          <a:noFill/>
          <a:ln/>
        </p:spPr>
        <p:txBody>
          <a:bodyPr wrap="square" rtlCol="0" anchor="ctr"/>
          <a:lstStyle/>
          <a:p>
            <a:pPr indent="0" marL="0">
              <a:buNone/>
            </a:pPr>
            <a:r>
              <a:rPr lang="en-US" sz="1000" b="1" dirty="0">
                <a:solidFill>
                  <a:srgbClr val="F78166"/>
                </a:solidFill>
                <a:latin typeface="Calibri" pitchFamily="34" charset="0"/>
                <a:ea typeface="Calibri" pitchFamily="34" charset="-122"/>
                <a:cs typeface="Calibri" pitchFamily="34" charset="-120"/>
              </a:rPr>
              <a:t>Case: </a:t>
            </a:r>
            <a:pPr indent="0" marL="0">
              <a:buNone/>
            </a:pPr>
            <a:r>
              <a:rPr lang="en-US" sz="1000" dirty="0">
                <a:solidFill>
                  <a:srgbClr val="E6EDF3"/>
                </a:solidFill>
                <a:latin typeface="Calibri" pitchFamily="34" charset="0"/>
                <a:ea typeface="Calibri" pitchFamily="34" charset="-122"/>
                <a:cs typeface="Calibri" pitchFamily="34" charset="-120"/>
              </a:rPr>
              <a:t>Wes Mantooth — Fraudulent Cheque Investigation  |  Mantooth.E01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01168"/>
            <a:ext cx="8412480" cy="566928"/>
          </a:xfrm>
          <a:prstGeom prst="rect">
            <a:avLst/>
          </a:prstGeom>
          <a:noFill/>
          <a:ln/>
        </p:spPr>
        <p:txBody>
          <a:bodyPr wrap="square" rtlCol="0" anchor="ctr"/>
          <a:lstStyle/>
          <a:p>
            <a:pPr indent="0" marL="0">
              <a:buNone/>
            </a:pPr>
            <a:r>
              <a:rPr lang="en-US" sz="2600" b="1" dirty="0">
                <a:solidFill>
                  <a:srgbClr val="E6EDF3"/>
                </a:solidFill>
                <a:latin typeface="Calibri" pitchFamily="34" charset="0"/>
                <a:ea typeface="Calibri" pitchFamily="34" charset="-122"/>
                <a:cs typeface="Calibri" pitchFamily="34" charset="-120"/>
              </a:rPr>
              <a:t>Autopsy — Your Forensic Investigation Platform</a:t>
            </a:r>
            <a:endParaRPr lang="en-US" sz="2600" dirty="0"/>
          </a:p>
        </p:txBody>
      </p:sp>
      <p:sp>
        <p:nvSpPr>
          <p:cNvPr id="3" name="Text 1"/>
          <p:cNvSpPr/>
          <p:nvPr/>
        </p:nvSpPr>
        <p:spPr>
          <a:xfrm>
            <a:off x="365760" y="822960"/>
            <a:ext cx="8412480" cy="566928"/>
          </a:xfrm>
          <a:prstGeom prst="rect">
            <a:avLst/>
          </a:prstGeom>
          <a:noFill/>
          <a:ln/>
        </p:spPr>
        <p:txBody>
          <a:bodyPr wrap="square" rtlCol="0" anchor="ctr"/>
          <a:lstStyle/>
          <a:p>
            <a:pPr indent="0" marL="0">
              <a:buNone/>
            </a:pPr>
            <a:r>
              <a:rPr lang="en-US" sz="1300" i="1" dirty="0">
                <a:solidFill>
                  <a:srgbClr val="8B949E"/>
                </a:solidFill>
                <a:latin typeface="Calibri" pitchFamily="34" charset="0"/>
                <a:ea typeface="Calibri" pitchFamily="34" charset="-122"/>
                <a:cs typeface="Calibri" pitchFamily="34" charset="-120"/>
              </a:rPr>
              <a:t>Autopsy is an open-source digital forensics platform built on The Sleuth Kit. It ingests forensic images and gives investigators a structured interface to navigate and extract evidence from every part of a disk image.</a:t>
            </a:r>
            <a:endParaRPr lang="en-US" sz="1300" dirty="0"/>
          </a:p>
        </p:txBody>
      </p:sp>
      <p:sp>
        <p:nvSpPr>
          <p:cNvPr id="4" name="Shape 2"/>
          <p:cNvSpPr/>
          <p:nvPr/>
        </p:nvSpPr>
        <p:spPr>
          <a:xfrm>
            <a:off x="274320" y="1572768"/>
            <a:ext cx="4160520" cy="146304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438912" y="2029968"/>
            <a:ext cx="502920" cy="502920"/>
          </a:xfrm>
          <a:prstGeom prst="rect">
            <a:avLst/>
          </a:prstGeom>
        </p:spPr>
      </p:pic>
      <p:sp>
        <p:nvSpPr>
          <p:cNvPr id="6" name="Text 3"/>
          <p:cNvSpPr/>
          <p:nvPr/>
        </p:nvSpPr>
        <p:spPr>
          <a:xfrm>
            <a:off x="1078992" y="1709928"/>
            <a:ext cx="3200400" cy="347472"/>
          </a:xfrm>
          <a:prstGeom prst="rect">
            <a:avLst/>
          </a:prstGeom>
          <a:noFill/>
          <a:ln/>
        </p:spPr>
        <p:txBody>
          <a:bodyPr wrap="square" rtlCol="0" anchor="ctr"/>
          <a:lstStyle/>
          <a:p>
            <a:pPr indent="0" marL="0">
              <a:buNone/>
            </a:pPr>
            <a:r>
              <a:rPr lang="en-US" sz="1300" b="1" dirty="0">
                <a:solidFill>
                  <a:srgbClr val="58A6FF"/>
                </a:solidFill>
                <a:latin typeface="Calibri" pitchFamily="34" charset="0"/>
                <a:ea typeface="Calibri" pitchFamily="34" charset="-122"/>
                <a:cs typeface="Calibri" pitchFamily="34" charset="-120"/>
              </a:rPr>
              <a:t>Image Ingestion</a:t>
            </a:r>
            <a:endParaRPr lang="en-US" sz="1300" dirty="0"/>
          </a:p>
        </p:txBody>
      </p:sp>
      <p:sp>
        <p:nvSpPr>
          <p:cNvPr id="7" name="Text 4"/>
          <p:cNvSpPr/>
          <p:nvPr/>
        </p:nvSpPr>
        <p:spPr>
          <a:xfrm>
            <a:off x="1078992" y="2048256"/>
            <a:ext cx="3200400" cy="86868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Autopsy reads forensic image formats including E01 (Expert Witness), raw DD, and virtual machine images. It decompresses and indexes the image without modifying it.</a:t>
            </a:r>
            <a:endParaRPr lang="en-US" sz="1100" dirty="0"/>
          </a:p>
        </p:txBody>
      </p:sp>
      <p:sp>
        <p:nvSpPr>
          <p:cNvPr id="8" name="Shape 5"/>
          <p:cNvSpPr/>
          <p:nvPr/>
        </p:nvSpPr>
        <p:spPr>
          <a:xfrm>
            <a:off x="4663440" y="1572768"/>
            <a:ext cx="4160520" cy="146304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9" name="Image 1" descr="preencoded.png">    </p:cNvPr>
          <p:cNvPicPr>
            <a:picLocks noChangeAspect="1"/>
          </p:cNvPicPr>
          <p:nvPr/>
        </p:nvPicPr>
        <p:blipFill>
          <a:blip r:embed="rId2"/>
          <a:stretch>
            <a:fillRect/>
          </a:stretch>
        </p:blipFill>
        <p:spPr>
          <a:xfrm>
            <a:off x="4828032" y="2029968"/>
            <a:ext cx="502920" cy="502920"/>
          </a:xfrm>
          <a:prstGeom prst="rect">
            <a:avLst/>
          </a:prstGeom>
        </p:spPr>
      </p:pic>
      <p:sp>
        <p:nvSpPr>
          <p:cNvPr id="10" name="Text 6"/>
          <p:cNvSpPr/>
          <p:nvPr/>
        </p:nvSpPr>
        <p:spPr>
          <a:xfrm>
            <a:off x="5468112" y="1709928"/>
            <a:ext cx="3200400" cy="347472"/>
          </a:xfrm>
          <a:prstGeom prst="rect">
            <a:avLst/>
          </a:prstGeom>
          <a:noFill/>
          <a:ln/>
        </p:spPr>
        <p:txBody>
          <a:bodyPr wrap="square" rtlCol="0" anchor="ctr"/>
          <a:lstStyle/>
          <a:p>
            <a:pPr indent="0" marL="0">
              <a:buNone/>
            </a:pPr>
            <a:r>
              <a:rPr lang="en-US" sz="1300" b="1" dirty="0">
                <a:solidFill>
                  <a:srgbClr val="3FB950"/>
                </a:solidFill>
                <a:latin typeface="Calibri" pitchFamily="34" charset="0"/>
                <a:ea typeface="Calibri" pitchFamily="34" charset="-122"/>
                <a:cs typeface="Calibri" pitchFamily="34" charset="-120"/>
              </a:rPr>
              <a:t>Integrity Verification</a:t>
            </a:r>
            <a:endParaRPr lang="en-US" sz="1300" dirty="0"/>
          </a:p>
        </p:txBody>
      </p:sp>
      <p:sp>
        <p:nvSpPr>
          <p:cNvPr id="11" name="Text 7"/>
          <p:cNvSpPr/>
          <p:nvPr/>
        </p:nvSpPr>
        <p:spPr>
          <a:xfrm>
            <a:off x="5468112" y="2048256"/>
            <a:ext cx="3200400" cy="86868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The Data Source Integrity module reads the embedded MD5 hash from the E01 container and re-calculates it against the image data. A match proves the image is unaltered.</a:t>
            </a:r>
            <a:endParaRPr lang="en-US" sz="1100" dirty="0"/>
          </a:p>
        </p:txBody>
      </p:sp>
      <p:sp>
        <p:nvSpPr>
          <p:cNvPr id="12" name="Shape 8"/>
          <p:cNvSpPr/>
          <p:nvPr/>
        </p:nvSpPr>
        <p:spPr>
          <a:xfrm>
            <a:off x="274320" y="3246120"/>
            <a:ext cx="4160520" cy="146304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13" name="Image 2" descr="preencoded.png">    </p:cNvPr>
          <p:cNvPicPr>
            <a:picLocks noChangeAspect="1"/>
          </p:cNvPicPr>
          <p:nvPr/>
        </p:nvPicPr>
        <p:blipFill>
          <a:blip r:embed="rId3"/>
          <a:stretch>
            <a:fillRect/>
          </a:stretch>
        </p:blipFill>
        <p:spPr>
          <a:xfrm>
            <a:off x="438912" y="3703320"/>
            <a:ext cx="502920" cy="502920"/>
          </a:xfrm>
          <a:prstGeom prst="rect">
            <a:avLst/>
          </a:prstGeom>
        </p:spPr>
      </p:pic>
      <p:sp>
        <p:nvSpPr>
          <p:cNvPr id="14" name="Text 9"/>
          <p:cNvSpPr/>
          <p:nvPr/>
        </p:nvSpPr>
        <p:spPr>
          <a:xfrm>
            <a:off x="1078992" y="3383280"/>
            <a:ext cx="3200400" cy="347472"/>
          </a:xfrm>
          <a:prstGeom prst="rect">
            <a:avLst/>
          </a:prstGeom>
          <a:noFill/>
          <a:ln/>
        </p:spPr>
        <p:txBody>
          <a:bodyPr wrap="square" rtlCol="0" anchor="ctr"/>
          <a:lstStyle/>
          <a:p>
            <a:pPr indent="0" marL="0">
              <a:buNone/>
            </a:pPr>
            <a:r>
              <a:rPr lang="en-US" sz="1300" b="1" dirty="0">
                <a:solidFill>
                  <a:srgbClr val="D2A8FF"/>
                </a:solidFill>
                <a:latin typeface="Calibri" pitchFamily="34" charset="0"/>
                <a:ea typeface="Calibri" pitchFamily="34" charset="-122"/>
                <a:cs typeface="Calibri" pitchFamily="34" charset="-120"/>
              </a:rPr>
              <a:t>Automated Ingest Modules</a:t>
            </a:r>
            <a:endParaRPr lang="en-US" sz="1300" dirty="0"/>
          </a:p>
        </p:txBody>
      </p:sp>
      <p:sp>
        <p:nvSpPr>
          <p:cNvPr id="15" name="Text 10"/>
          <p:cNvSpPr/>
          <p:nvPr/>
        </p:nvSpPr>
        <p:spPr>
          <a:xfrm>
            <a:off x="1078992" y="3721608"/>
            <a:ext cx="3200400" cy="86868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Autopsy runs modules automatically: EXIF extractor, web history parser, deleted file recovery, keyword search, hash lookup, and more. Let all modules finish before you start investigating.</a:t>
            </a:r>
            <a:endParaRPr lang="en-US" sz="1100" dirty="0"/>
          </a:p>
        </p:txBody>
      </p:sp>
      <p:sp>
        <p:nvSpPr>
          <p:cNvPr id="16" name="Shape 11"/>
          <p:cNvSpPr/>
          <p:nvPr/>
        </p:nvSpPr>
        <p:spPr>
          <a:xfrm>
            <a:off x="4663440" y="3246120"/>
            <a:ext cx="4160520" cy="146304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17" name="Image 3" descr="preencoded.png">    </p:cNvPr>
          <p:cNvPicPr>
            <a:picLocks noChangeAspect="1"/>
          </p:cNvPicPr>
          <p:nvPr/>
        </p:nvPicPr>
        <p:blipFill>
          <a:blip r:embed="rId4"/>
          <a:stretch>
            <a:fillRect/>
          </a:stretch>
        </p:blipFill>
        <p:spPr>
          <a:xfrm>
            <a:off x="4828032" y="3703320"/>
            <a:ext cx="502920" cy="502920"/>
          </a:xfrm>
          <a:prstGeom prst="rect">
            <a:avLst/>
          </a:prstGeom>
        </p:spPr>
      </p:pic>
      <p:sp>
        <p:nvSpPr>
          <p:cNvPr id="18" name="Text 12"/>
          <p:cNvSpPr/>
          <p:nvPr/>
        </p:nvSpPr>
        <p:spPr>
          <a:xfrm>
            <a:off x="5468112" y="3383280"/>
            <a:ext cx="3200400" cy="347472"/>
          </a:xfrm>
          <a:prstGeom prst="rect">
            <a:avLst/>
          </a:prstGeom>
          <a:noFill/>
          <a:ln/>
        </p:spPr>
        <p:txBody>
          <a:bodyPr wrap="square" rtlCol="0" anchor="ctr"/>
          <a:lstStyle/>
          <a:p>
            <a:pPr indent="0" marL="0">
              <a:buNone/>
            </a:pPr>
            <a:r>
              <a:rPr lang="en-US" sz="1300" b="1" dirty="0">
                <a:solidFill>
                  <a:srgbClr val="F78166"/>
                </a:solidFill>
                <a:latin typeface="Calibri" pitchFamily="34" charset="0"/>
                <a:ea typeface="Calibri" pitchFamily="34" charset="-122"/>
                <a:cs typeface="Calibri" pitchFamily="34" charset="-120"/>
              </a:rPr>
              <a:t>Structured Evidence Navigation</a:t>
            </a:r>
            <a:endParaRPr lang="en-US" sz="1300" dirty="0"/>
          </a:p>
        </p:txBody>
      </p:sp>
      <p:sp>
        <p:nvSpPr>
          <p:cNvPr id="19" name="Text 13"/>
          <p:cNvSpPr/>
          <p:nvPr/>
        </p:nvSpPr>
        <p:spPr>
          <a:xfrm>
            <a:off x="5468112" y="3721608"/>
            <a:ext cx="3200400" cy="86868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The left panel organises all findings by category: web history, deleted files, EXIF, email, recent documents. This is how you triage quickly without browsing the raw file system.</a:t>
            </a:r>
            <a:endParaRPr lang="en-US" sz="1100" dirty="0"/>
          </a:p>
        </p:txBody>
      </p:sp>
      <p:sp>
        <p:nvSpPr>
          <p:cNvPr id="20" name="Text 14"/>
          <p:cNvSpPr/>
          <p:nvPr/>
        </p:nvSpPr>
        <p:spPr>
          <a:xfrm>
            <a:off x="274320" y="4773168"/>
            <a:ext cx="8595360" cy="256032"/>
          </a:xfrm>
          <a:prstGeom prst="rect">
            <a:avLst/>
          </a:prstGeom>
          <a:noFill/>
          <a:ln/>
        </p:spPr>
        <p:txBody>
          <a:bodyPr wrap="square" rtlCol="0" anchor="ctr"/>
          <a:lstStyle/>
          <a:p>
            <a:pPr algn="ctr" indent="0" marL="0">
              <a:buNone/>
            </a:pPr>
            <a:r>
              <a:rPr lang="en-US" sz="1050" b="1" dirty="0">
                <a:solidFill>
                  <a:srgbClr val="3FB950"/>
                </a:solidFill>
                <a:latin typeface="Calibri" pitchFamily="34" charset="0"/>
                <a:ea typeface="Calibri" pitchFamily="34" charset="-122"/>
                <a:cs typeface="Calibri" pitchFamily="34" charset="-120"/>
              </a:rPr>
              <a:t>Workflow: Add data source → Set timezone to Mountain Time → Let ingest finish → Investigate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01168"/>
            <a:ext cx="8412480" cy="530352"/>
          </a:xfrm>
          <a:prstGeom prst="rect">
            <a:avLst/>
          </a:prstGeom>
          <a:noFill/>
          <a:ln/>
        </p:spPr>
        <p:txBody>
          <a:bodyPr wrap="square" rtlCol="0" anchor="ctr"/>
          <a:lstStyle/>
          <a:p>
            <a:pPr indent="0" marL="0">
              <a:buNone/>
            </a:pPr>
            <a:r>
              <a:rPr lang="en-US" sz="2600" b="1" dirty="0">
                <a:solidFill>
                  <a:srgbClr val="E6EDF3"/>
                </a:solidFill>
                <a:latin typeface="Calibri" pitchFamily="34" charset="0"/>
                <a:ea typeface="Calibri" pitchFamily="34" charset="-122"/>
                <a:cs typeface="Calibri" pitchFamily="34" charset="-120"/>
              </a:rPr>
              <a:t>The E01 Format &amp; Case Configuration</a:t>
            </a:r>
            <a:endParaRPr lang="en-US" sz="2600" dirty="0"/>
          </a:p>
        </p:txBody>
      </p:sp>
      <p:sp>
        <p:nvSpPr>
          <p:cNvPr id="3" name="Shape 1"/>
          <p:cNvSpPr/>
          <p:nvPr/>
        </p:nvSpPr>
        <p:spPr>
          <a:xfrm>
            <a:off x="274320" y="868680"/>
            <a:ext cx="4160520" cy="397764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4" name="Image 0" descr="preencoded.png">    </p:cNvPr>
          <p:cNvPicPr>
            <a:picLocks noChangeAspect="1"/>
          </p:cNvPicPr>
          <p:nvPr/>
        </p:nvPicPr>
        <p:blipFill>
          <a:blip r:embed="rId1"/>
          <a:stretch>
            <a:fillRect/>
          </a:stretch>
        </p:blipFill>
        <p:spPr>
          <a:xfrm>
            <a:off x="457200" y="960120"/>
            <a:ext cx="502920" cy="502920"/>
          </a:xfrm>
          <a:prstGeom prst="rect">
            <a:avLst/>
          </a:prstGeom>
        </p:spPr>
      </p:pic>
      <p:sp>
        <p:nvSpPr>
          <p:cNvPr id="5" name="Text 2"/>
          <p:cNvSpPr/>
          <p:nvPr/>
        </p:nvSpPr>
        <p:spPr>
          <a:xfrm>
            <a:off x="1078992" y="960120"/>
            <a:ext cx="3200400" cy="411480"/>
          </a:xfrm>
          <a:prstGeom prst="rect">
            <a:avLst/>
          </a:prstGeom>
          <a:noFill/>
          <a:ln/>
        </p:spPr>
        <p:txBody>
          <a:bodyPr wrap="square" rtlCol="0" anchor="ctr"/>
          <a:lstStyle/>
          <a:p>
            <a:pPr indent="0" marL="0">
              <a:buNone/>
            </a:pPr>
            <a:r>
              <a:rPr lang="en-US" sz="1400" b="1" dirty="0">
                <a:solidFill>
                  <a:srgbClr val="58A6FF"/>
                </a:solidFill>
                <a:latin typeface="Calibri" pitchFamily="34" charset="0"/>
                <a:ea typeface="Calibri" pitchFamily="34" charset="-122"/>
                <a:cs typeface="Calibri" pitchFamily="34" charset="-120"/>
              </a:rPr>
              <a:t>What is an E01 Image?</a:t>
            </a:r>
            <a:endParaRPr lang="en-US" sz="1400" dirty="0"/>
          </a:p>
        </p:txBody>
      </p:sp>
      <p:sp>
        <p:nvSpPr>
          <p:cNvPr id="6" name="Text 3"/>
          <p:cNvSpPr/>
          <p:nvPr/>
        </p:nvSpPr>
        <p:spPr>
          <a:xfrm>
            <a:off x="457200" y="1444752"/>
            <a:ext cx="3886200" cy="3246120"/>
          </a:xfrm>
          <a:prstGeom prst="rect">
            <a:avLst/>
          </a:prstGeom>
          <a:noFill/>
          <a:ln/>
        </p:spPr>
        <p:txBody>
          <a:bodyPr wrap="square" rtlCol="0" anchor="ctr"/>
          <a:lstStyle/>
          <a:p>
            <a:pPr indent="0" marL="0">
              <a:buNone/>
            </a:pPr>
            <a:r>
              <a:rPr lang="en-US" sz="1150" dirty="0">
                <a:solidFill>
                  <a:srgbClr val="E6EDF3"/>
                </a:solidFill>
                <a:latin typeface="Calibri" pitchFamily="34" charset="0"/>
                <a:ea typeface="Calibri" pitchFamily="34" charset="-122"/>
                <a:cs typeface="Calibri" pitchFamily="34" charset="-120"/>
              </a:rPr>
              <a:t>E01 (Expert Witness Format) is the forensic image standard used by EnCase and supported by Autopsy, FTK, and most professional tools.</a:t>
            </a:r>
            <a:endParaRPr lang="en-US" sz="1150" dirty="0"/>
          </a:p>
          <a:p>
            <a:pPr indent="0" marL="0">
              <a:buNone/>
            </a:pPr>
            <a:endParaRPr lang="en-US" sz="1150" dirty="0"/>
          </a:p>
          <a:p>
            <a:pPr indent="0" marL="0">
              <a:buNone/>
            </a:pPr>
            <a:r>
              <a:rPr lang="en-US" sz="1150" b="1" dirty="0">
                <a:solidFill>
                  <a:srgbClr val="E6EDF3"/>
                </a:solidFill>
                <a:latin typeface="Calibri" pitchFamily="34" charset="0"/>
                <a:ea typeface="Calibri" pitchFamily="34" charset="-122"/>
                <a:cs typeface="Calibri" pitchFamily="34" charset="-120"/>
              </a:rPr>
              <a:t>Key properties of E01:</a:t>
            </a:r>
            <a:endParaRPr lang="en-US" sz="1150" dirty="0"/>
          </a:p>
          <a:p>
            <a:pPr marL="342900" indent="-342900">
              <a:buSzPct val="100000"/>
              <a:buChar char="•"/>
            </a:pPr>
            <a:r>
              <a:rPr lang="en-US" sz="1150" dirty="0">
                <a:solidFill>
                  <a:srgbClr val="E6EDF3"/>
                </a:solidFill>
                <a:latin typeface="Calibri" pitchFamily="34" charset="0"/>
                <a:ea typeface="Calibri" pitchFamily="34" charset="-122"/>
                <a:cs typeface="Calibri" pitchFamily="34" charset="-120"/>
              </a:rPr>
              <a:t>Compressed and segmented — large drives split across multiple .E01/.E02 files</a:t>
            </a:r>
            <a:endParaRPr lang="en-US" sz="1150" dirty="0"/>
          </a:p>
          <a:p>
            <a:pPr marL="342900" indent="-342900">
              <a:buSzPct val="100000"/>
              <a:buChar char="•"/>
            </a:pPr>
            <a:r>
              <a:rPr lang="en-US" sz="1150" dirty="0">
                <a:solidFill>
                  <a:srgbClr val="E6EDF3"/>
                </a:solidFill>
                <a:latin typeface="Calibri" pitchFamily="34" charset="0"/>
                <a:ea typeface="Calibri" pitchFamily="34" charset="-122"/>
                <a:cs typeface="Calibri" pitchFamily="34" charset="-120"/>
              </a:rPr>
              <a:t>Embeds an MD5 hash calculated at acquisition time</a:t>
            </a:r>
            <a:endParaRPr lang="en-US" sz="1150" dirty="0"/>
          </a:p>
          <a:p>
            <a:pPr marL="342900" indent="-342900">
              <a:buSzPct val="100000"/>
              <a:buChar char="•"/>
            </a:pPr>
            <a:r>
              <a:rPr lang="en-US" sz="1150" dirty="0">
                <a:solidFill>
                  <a:srgbClr val="E6EDF3"/>
                </a:solidFill>
                <a:latin typeface="Calibri" pitchFamily="34" charset="0"/>
                <a:ea typeface="Calibri" pitchFamily="34" charset="-122"/>
                <a:cs typeface="Calibri" pitchFamily="34" charset="-120"/>
              </a:rPr>
              <a:t>Includes case metadata: examiner name, acquisition date, notes</a:t>
            </a:r>
            <a:endParaRPr lang="en-US" sz="1150" dirty="0"/>
          </a:p>
          <a:p>
            <a:pPr marL="342900" indent="-342900">
              <a:buSzPct val="100000"/>
              <a:buChar char="•"/>
            </a:pPr>
            <a:r>
              <a:rPr lang="en-US" sz="1150" dirty="0">
                <a:solidFill>
                  <a:srgbClr val="E6EDF3"/>
                </a:solidFill>
                <a:latin typeface="Calibri" pitchFamily="34" charset="0"/>
                <a:ea typeface="Calibri" pitchFamily="34" charset="-122"/>
                <a:cs typeface="Calibri" pitchFamily="34" charset="-120"/>
              </a:rPr>
              <a:t>The embedded hash is the chain of custody anchor — if the hash Autopsy calculates matches the embedded hash, the image is identical to the original evidence</a:t>
            </a:r>
            <a:endParaRPr lang="en-US" sz="1150" dirty="0"/>
          </a:p>
        </p:txBody>
      </p:sp>
      <p:sp>
        <p:nvSpPr>
          <p:cNvPr id="7" name="Shape 4"/>
          <p:cNvSpPr/>
          <p:nvPr/>
        </p:nvSpPr>
        <p:spPr>
          <a:xfrm>
            <a:off x="4709160" y="868680"/>
            <a:ext cx="4160520" cy="397764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8" name="Image 1" descr="preencoded.png">    </p:cNvPr>
          <p:cNvPicPr>
            <a:picLocks noChangeAspect="1"/>
          </p:cNvPicPr>
          <p:nvPr/>
        </p:nvPicPr>
        <p:blipFill>
          <a:blip r:embed="rId2"/>
          <a:stretch>
            <a:fillRect/>
          </a:stretch>
        </p:blipFill>
        <p:spPr>
          <a:xfrm>
            <a:off x="4873752" y="960120"/>
            <a:ext cx="502920" cy="502920"/>
          </a:xfrm>
          <a:prstGeom prst="rect">
            <a:avLst/>
          </a:prstGeom>
        </p:spPr>
      </p:pic>
      <p:sp>
        <p:nvSpPr>
          <p:cNvPr id="9" name="Text 5"/>
          <p:cNvSpPr/>
          <p:nvPr/>
        </p:nvSpPr>
        <p:spPr>
          <a:xfrm>
            <a:off x="5486400" y="960120"/>
            <a:ext cx="3200400" cy="411480"/>
          </a:xfrm>
          <a:prstGeom prst="rect">
            <a:avLst/>
          </a:prstGeom>
          <a:noFill/>
          <a:ln/>
        </p:spPr>
        <p:txBody>
          <a:bodyPr wrap="square" rtlCol="0" anchor="ctr"/>
          <a:lstStyle/>
          <a:p>
            <a:pPr indent="0" marL="0">
              <a:buNone/>
            </a:pPr>
            <a:r>
              <a:rPr lang="en-US" sz="1400" b="1" dirty="0">
                <a:solidFill>
                  <a:srgbClr val="F78166"/>
                </a:solidFill>
                <a:latin typeface="Calibri" pitchFamily="34" charset="0"/>
                <a:ea typeface="Calibri" pitchFamily="34" charset="-122"/>
                <a:cs typeface="Calibri" pitchFamily="34" charset="-120"/>
              </a:rPr>
              <a:t>Critical Case Setup Steps</a:t>
            </a:r>
            <a:endParaRPr lang="en-US" sz="1400" dirty="0"/>
          </a:p>
        </p:txBody>
      </p:sp>
      <p:sp>
        <p:nvSpPr>
          <p:cNvPr id="10" name="Shape 6"/>
          <p:cNvSpPr/>
          <p:nvPr/>
        </p:nvSpPr>
        <p:spPr>
          <a:xfrm>
            <a:off x="4846320" y="1481328"/>
            <a:ext cx="384048" cy="384048"/>
          </a:xfrm>
          <a:prstGeom prst="rect">
            <a:avLst/>
          </a:prstGeom>
          <a:solidFill>
            <a:srgbClr val="58A6FF"/>
          </a:solidFill>
          <a:ln w="12700">
            <a:solidFill>
              <a:srgbClr val="58A6FF"/>
            </a:solidFill>
            <a:prstDash val="solid"/>
          </a:ln>
        </p:spPr>
      </p:sp>
      <p:sp>
        <p:nvSpPr>
          <p:cNvPr id="11" name="Text 7"/>
          <p:cNvSpPr/>
          <p:nvPr/>
        </p:nvSpPr>
        <p:spPr>
          <a:xfrm>
            <a:off x="4846320" y="1481328"/>
            <a:ext cx="384048" cy="384048"/>
          </a:xfrm>
          <a:prstGeom prst="rect">
            <a:avLst/>
          </a:prstGeom>
          <a:noFill/>
          <a:ln/>
        </p:spPr>
        <p:txBody>
          <a:bodyPr wrap="square"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1</a:t>
            </a:r>
            <a:endParaRPr lang="en-US" sz="1400" dirty="0"/>
          </a:p>
        </p:txBody>
      </p:sp>
      <p:sp>
        <p:nvSpPr>
          <p:cNvPr id="12" name="Text 8"/>
          <p:cNvSpPr/>
          <p:nvPr/>
        </p:nvSpPr>
        <p:spPr>
          <a:xfrm>
            <a:off x="5321808" y="1481328"/>
            <a:ext cx="3401568" cy="320040"/>
          </a:xfrm>
          <a:prstGeom prst="rect">
            <a:avLst/>
          </a:prstGeom>
          <a:noFill/>
          <a:ln/>
        </p:spPr>
        <p:txBody>
          <a:bodyPr wrap="square" rtlCol="0" anchor="ctr"/>
          <a:lstStyle/>
          <a:p>
            <a:pPr indent="0" marL="0">
              <a:buNone/>
            </a:pPr>
            <a:r>
              <a:rPr lang="en-US" sz="1200" b="1" dirty="0">
                <a:solidFill>
                  <a:srgbClr val="58A6FF"/>
                </a:solidFill>
                <a:latin typeface="Calibri" pitchFamily="34" charset="0"/>
                <a:ea typeface="Calibri" pitchFamily="34" charset="-122"/>
                <a:cs typeface="Calibri" pitchFamily="34" charset="-120"/>
              </a:rPr>
              <a:t>Set Timezone FIRST</a:t>
            </a:r>
            <a:endParaRPr lang="en-US" sz="1200" dirty="0"/>
          </a:p>
        </p:txBody>
      </p:sp>
      <p:sp>
        <p:nvSpPr>
          <p:cNvPr id="13" name="Text 9"/>
          <p:cNvSpPr/>
          <p:nvPr/>
        </p:nvSpPr>
        <p:spPr>
          <a:xfrm>
            <a:off x="5321808" y="1810512"/>
            <a:ext cx="3401568" cy="640080"/>
          </a:xfrm>
          <a:prstGeom prst="rect">
            <a:avLst/>
          </a:prstGeom>
          <a:noFill/>
          <a:ln/>
        </p:spPr>
        <p:txBody>
          <a:bodyPr wrap="square" rtlCol="0" anchor="ctr"/>
          <a:lstStyle/>
          <a:p>
            <a:pPr indent="0" marL="0">
              <a:buNone/>
            </a:pPr>
            <a:r>
              <a:rPr lang="en-US" sz="1050" dirty="0">
                <a:solidFill>
                  <a:srgbClr val="E6EDF3"/>
                </a:solidFill>
                <a:latin typeface="Calibri" pitchFamily="34" charset="0"/>
                <a:ea typeface="Calibri" pitchFamily="34" charset="-122"/>
                <a:cs typeface="Calibri" pitchFamily="34" charset="-120"/>
              </a:rPr>
              <a:t>Phoenix, Arizona runs on Mountain Time (UTC-7). Set this before adding the data source. Every timestamp in the image — logons, file access, web history — depends on this setting being correct.</a:t>
            </a:r>
            <a:endParaRPr lang="en-US" sz="1050" dirty="0"/>
          </a:p>
        </p:txBody>
      </p:sp>
      <p:sp>
        <p:nvSpPr>
          <p:cNvPr id="14" name="Shape 10"/>
          <p:cNvSpPr/>
          <p:nvPr/>
        </p:nvSpPr>
        <p:spPr>
          <a:xfrm>
            <a:off x="4846320" y="2578608"/>
            <a:ext cx="384048" cy="384048"/>
          </a:xfrm>
          <a:prstGeom prst="rect">
            <a:avLst/>
          </a:prstGeom>
          <a:solidFill>
            <a:srgbClr val="3FB950"/>
          </a:solidFill>
          <a:ln w="12700">
            <a:solidFill>
              <a:srgbClr val="3FB950"/>
            </a:solidFill>
            <a:prstDash val="solid"/>
          </a:ln>
        </p:spPr>
      </p:sp>
      <p:sp>
        <p:nvSpPr>
          <p:cNvPr id="15" name="Text 11"/>
          <p:cNvSpPr/>
          <p:nvPr/>
        </p:nvSpPr>
        <p:spPr>
          <a:xfrm>
            <a:off x="4846320" y="2578608"/>
            <a:ext cx="384048" cy="384048"/>
          </a:xfrm>
          <a:prstGeom prst="rect">
            <a:avLst/>
          </a:prstGeom>
          <a:noFill/>
          <a:ln/>
        </p:spPr>
        <p:txBody>
          <a:bodyPr wrap="square"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2</a:t>
            </a:r>
            <a:endParaRPr lang="en-US" sz="1400" dirty="0"/>
          </a:p>
        </p:txBody>
      </p:sp>
      <p:sp>
        <p:nvSpPr>
          <p:cNvPr id="16" name="Text 12"/>
          <p:cNvSpPr/>
          <p:nvPr/>
        </p:nvSpPr>
        <p:spPr>
          <a:xfrm>
            <a:off x="5321808" y="2578608"/>
            <a:ext cx="3401568" cy="320040"/>
          </a:xfrm>
          <a:prstGeom prst="rect">
            <a:avLst/>
          </a:prstGeom>
          <a:noFill/>
          <a:ln/>
        </p:spPr>
        <p:txBody>
          <a:bodyPr wrap="square" rtlCol="0" anchor="ctr"/>
          <a:lstStyle/>
          <a:p>
            <a:pPr indent="0" marL="0">
              <a:buNone/>
            </a:pPr>
            <a:r>
              <a:rPr lang="en-US" sz="1200" b="1" dirty="0">
                <a:solidFill>
                  <a:srgbClr val="3FB950"/>
                </a:solidFill>
                <a:latin typeface="Calibri" pitchFamily="34" charset="0"/>
                <a:ea typeface="Calibri" pitchFamily="34" charset="-122"/>
                <a:cs typeface="Calibri" pitchFamily="34" charset="-120"/>
              </a:rPr>
              <a:t>Run Full Ingest</a:t>
            </a:r>
            <a:endParaRPr lang="en-US" sz="1200" dirty="0"/>
          </a:p>
        </p:txBody>
      </p:sp>
      <p:sp>
        <p:nvSpPr>
          <p:cNvPr id="17" name="Text 13"/>
          <p:cNvSpPr/>
          <p:nvPr/>
        </p:nvSpPr>
        <p:spPr>
          <a:xfrm>
            <a:off x="5321808" y="2907792"/>
            <a:ext cx="3401568" cy="640080"/>
          </a:xfrm>
          <a:prstGeom prst="rect">
            <a:avLst/>
          </a:prstGeom>
          <a:noFill/>
          <a:ln/>
        </p:spPr>
        <p:txBody>
          <a:bodyPr wrap="square" rtlCol="0" anchor="ctr"/>
          <a:lstStyle/>
          <a:p>
            <a:pPr indent="0" marL="0">
              <a:buNone/>
            </a:pPr>
            <a:r>
              <a:rPr lang="en-US" sz="1050" dirty="0">
                <a:solidFill>
                  <a:srgbClr val="E6EDF3"/>
                </a:solidFill>
                <a:latin typeface="Calibri" pitchFamily="34" charset="0"/>
                <a:ea typeface="Calibri" pitchFamily="34" charset="-122"/>
                <a:cs typeface="Calibri" pitchFamily="34" charset="-120"/>
              </a:rPr>
              <a:t>Let all ingest modules finish before investigating. Partial results waste time and produce incomplete evidence. Start ingest on Day 1 and let it run overnight if needed.</a:t>
            </a:r>
            <a:endParaRPr lang="en-US" sz="1050" dirty="0"/>
          </a:p>
        </p:txBody>
      </p:sp>
      <p:sp>
        <p:nvSpPr>
          <p:cNvPr id="18" name="Shape 14"/>
          <p:cNvSpPr/>
          <p:nvPr/>
        </p:nvSpPr>
        <p:spPr>
          <a:xfrm>
            <a:off x="4846320" y="3675888"/>
            <a:ext cx="384048" cy="384048"/>
          </a:xfrm>
          <a:prstGeom prst="rect">
            <a:avLst/>
          </a:prstGeom>
          <a:solidFill>
            <a:srgbClr val="D2A8FF"/>
          </a:solidFill>
          <a:ln w="12700">
            <a:solidFill>
              <a:srgbClr val="D2A8FF"/>
            </a:solidFill>
            <a:prstDash val="solid"/>
          </a:ln>
        </p:spPr>
      </p:sp>
      <p:sp>
        <p:nvSpPr>
          <p:cNvPr id="19" name="Text 15"/>
          <p:cNvSpPr/>
          <p:nvPr/>
        </p:nvSpPr>
        <p:spPr>
          <a:xfrm>
            <a:off x="4846320" y="3675888"/>
            <a:ext cx="384048" cy="384048"/>
          </a:xfrm>
          <a:prstGeom prst="rect">
            <a:avLst/>
          </a:prstGeom>
          <a:noFill/>
          <a:ln/>
        </p:spPr>
        <p:txBody>
          <a:bodyPr wrap="square"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3</a:t>
            </a:r>
            <a:endParaRPr lang="en-US" sz="1400" dirty="0"/>
          </a:p>
        </p:txBody>
      </p:sp>
      <p:sp>
        <p:nvSpPr>
          <p:cNvPr id="20" name="Text 16"/>
          <p:cNvSpPr/>
          <p:nvPr/>
        </p:nvSpPr>
        <p:spPr>
          <a:xfrm>
            <a:off x="5321808" y="3675888"/>
            <a:ext cx="3401568" cy="320040"/>
          </a:xfrm>
          <a:prstGeom prst="rect">
            <a:avLst/>
          </a:prstGeom>
          <a:noFill/>
          <a:ln/>
        </p:spPr>
        <p:txBody>
          <a:bodyPr wrap="square" rtlCol="0" anchor="ctr"/>
          <a:lstStyle/>
          <a:p>
            <a:pPr indent="0" marL="0">
              <a:buNone/>
            </a:pPr>
            <a:r>
              <a:rPr lang="en-US" sz="1200" b="1" dirty="0">
                <a:solidFill>
                  <a:srgbClr val="D2A8FF"/>
                </a:solidFill>
                <a:latin typeface="Calibri" pitchFamily="34" charset="0"/>
                <a:ea typeface="Calibri" pitchFamily="34" charset="-122"/>
                <a:cs typeface="Calibri" pitchFamily="34" charset="-120"/>
              </a:rPr>
              <a:t>Record the MD5 Hash</a:t>
            </a:r>
            <a:endParaRPr lang="en-US" sz="1200" dirty="0"/>
          </a:p>
        </p:txBody>
      </p:sp>
      <p:sp>
        <p:nvSpPr>
          <p:cNvPr id="21" name="Text 17"/>
          <p:cNvSpPr/>
          <p:nvPr/>
        </p:nvSpPr>
        <p:spPr>
          <a:xfrm>
            <a:off x="5321808" y="4005072"/>
            <a:ext cx="3401568" cy="640080"/>
          </a:xfrm>
          <a:prstGeom prst="rect">
            <a:avLst/>
          </a:prstGeom>
          <a:noFill/>
          <a:ln/>
        </p:spPr>
        <p:txBody>
          <a:bodyPr wrap="square" rtlCol="0" anchor="ctr"/>
          <a:lstStyle/>
          <a:p>
            <a:pPr indent="0" marL="0">
              <a:buNone/>
            </a:pPr>
            <a:r>
              <a:rPr lang="en-US" sz="1050" dirty="0">
                <a:solidFill>
                  <a:srgbClr val="E6EDF3"/>
                </a:solidFill>
                <a:latin typeface="Calibri" pitchFamily="34" charset="0"/>
                <a:ea typeface="Calibri" pitchFamily="34" charset="-122"/>
                <a:cs typeface="Calibri" pitchFamily="34" charset="-120"/>
              </a:rPr>
              <a:t>The hash Autopsy verifies is your evidence integrity record. It goes at the top of every report. Without it, no finding in the report is legally defensible.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01168"/>
            <a:ext cx="8412480" cy="530352"/>
          </a:xfrm>
          <a:prstGeom prst="rect">
            <a:avLst/>
          </a:prstGeom>
          <a:noFill/>
          <a:ln/>
        </p:spPr>
        <p:txBody>
          <a:bodyPr wrap="square" rtlCol="0" anchor="ctr"/>
          <a:lstStyle/>
          <a:p>
            <a:pPr indent="0" marL="0">
              <a:buNone/>
            </a:pPr>
            <a:r>
              <a:rPr lang="en-US" sz="2600" b="1" dirty="0">
                <a:solidFill>
                  <a:srgbClr val="E6EDF3"/>
                </a:solidFill>
                <a:latin typeface="Calibri" pitchFamily="34" charset="0"/>
                <a:ea typeface="Calibri" pitchFamily="34" charset="-122"/>
                <a:cs typeface="Calibri" pitchFamily="34" charset="-120"/>
              </a:rPr>
              <a:t>Digital Triage — What Investigators Look For First</a:t>
            </a:r>
            <a:endParaRPr lang="en-US" sz="2600" dirty="0"/>
          </a:p>
        </p:txBody>
      </p:sp>
      <p:sp>
        <p:nvSpPr>
          <p:cNvPr id="3" name="Text 1"/>
          <p:cNvSpPr/>
          <p:nvPr/>
        </p:nvSpPr>
        <p:spPr>
          <a:xfrm>
            <a:off x="365760" y="777240"/>
            <a:ext cx="8412480" cy="384048"/>
          </a:xfrm>
          <a:prstGeom prst="rect">
            <a:avLst/>
          </a:prstGeom>
          <a:noFill/>
          <a:ln/>
        </p:spPr>
        <p:txBody>
          <a:bodyPr wrap="square" rtlCol="0" anchor="ctr"/>
          <a:lstStyle/>
          <a:p>
            <a:pPr indent="0" marL="0">
              <a:buNone/>
            </a:pPr>
            <a:r>
              <a:rPr lang="en-US" sz="1250" i="1" dirty="0">
                <a:solidFill>
                  <a:srgbClr val="8B949E"/>
                </a:solidFill>
                <a:latin typeface="Calibri" pitchFamily="34" charset="0"/>
                <a:ea typeface="Calibri" pitchFamily="34" charset="-122"/>
                <a:cs typeface="Calibri" pitchFamily="34" charset="-120"/>
              </a:rPr>
              <a:t>Triage is a structured survey of the image before the deep dive. Autopsy's category panel is the tool. Bookmark everything significant as you go.</a:t>
            </a:r>
            <a:endParaRPr lang="en-US" sz="1250" dirty="0"/>
          </a:p>
        </p:txBody>
      </p:sp>
      <p:sp>
        <p:nvSpPr>
          <p:cNvPr id="4" name="Shape 2"/>
          <p:cNvSpPr/>
          <p:nvPr/>
        </p:nvSpPr>
        <p:spPr>
          <a:xfrm>
            <a:off x="274320" y="1298448"/>
            <a:ext cx="4160520" cy="160020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438912" y="1801368"/>
            <a:ext cx="475488" cy="475488"/>
          </a:xfrm>
          <a:prstGeom prst="rect">
            <a:avLst/>
          </a:prstGeom>
        </p:spPr>
      </p:pic>
      <p:sp>
        <p:nvSpPr>
          <p:cNvPr id="6" name="Text 3"/>
          <p:cNvSpPr/>
          <p:nvPr/>
        </p:nvSpPr>
        <p:spPr>
          <a:xfrm>
            <a:off x="1051560" y="1435608"/>
            <a:ext cx="3246120" cy="347472"/>
          </a:xfrm>
          <a:prstGeom prst="rect">
            <a:avLst/>
          </a:prstGeom>
          <a:noFill/>
          <a:ln/>
        </p:spPr>
        <p:txBody>
          <a:bodyPr wrap="square" rtlCol="0" anchor="ctr"/>
          <a:lstStyle/>
          <a:p>
            <a:pPr indent="0" marL="0">
              <a:buNone/>
            </a:pPr>
            <a:r>
              <a:rPr lang="en-US" sz="1300" b="1" dirty="0">
                <a:solidFill>
                  <a:srgbClr val="58A6FF"/>
                </a:solidFill>
                <a:latin typeface="Calibri" pitchFamily="34" charset="0"/>
                <a:ea typeface="Calibri" pitchFamily="34" charset="-122"/>
                <a:cs typeface="Calibri" pitchFamily="34" charset="-120"/>
              </a:rPr>
              <a:t>EXIF Metadata</a:t>
            </a:r>
            <a:endParaRPr lang="en-US" sz="1300" dirty="0"/>
          </a:p>
        </p:txBody>
      </p:sp>
      <p:sp>
        <p:nvSpPr>
          <p:cNvPr id="7" name="Text 4"/>
          <p:cNvSpPr/>
          <p:nvPr/>
        </p:nvSpPr>
        <p:spPr>
          <a:xfrm>
            <a:off x="1051560" y="1801368"/>
            <a:ext cx="3246120" cy="96012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Every digital photo embeds EXIF data including camera make, model, GPS coordinates, and timestamp. Autopsy's EXIF extraction module reads this automatically. In an investigation this can identify devices, establish timelines, and place a person at a location.</a:t>
            </a:r>
            <a:endParaRPr lang="en-US" sz="1100" dirty="0"/>
          </a:p>
        </p:txBody>
      </p:sp>
      <p:sp>
        <p:nvSpPr>
          <p:cNvPr id="8" name="Shape 5"/>
          <p:cNvSpPr/>
          <p:nvPr/>
        </p:nvSpPr>
        <p:spPr>
          <a:xfrm>
            <a:off x="4663440" y="1298448"/>
            <a:ext cx="4160520" cy="160020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9" name="Image 1" descr="preencoded.png">    </p:cNvPr>
          <p:cNvPicPr>
            <a:picLocks noChangeAspect="1"/>
          </p:cNvPicPr>
          <p:nvPr/>
        </p:nvPicPr>
        <p:blipFill>
          <a:blip r:embed="rId2"/>
          <a:stretch>
            <a:fillRect/>
          </a:stretch>
        </p:blipFill>
        <p:spPr>
          <a:xfrm>
            <a:off x="4828032" y="1801368"/>
            <a:ext cx="475488" cy="475488"/>
          </a:xfrm>
          <a:prstGeom prst="rect">
            <a:avLst/>
          </a:prstGeom>
        </p:spPr>
      </p:pic>
      <p:sp>
        <p:nvSpPr>
          <p:cNvPr id="10" name="Text 6"/>
          <p:cNvSpPr/>
          <p:nvPr/>
        </p:nvSpPr>
        <p:spPr>
          <a:xfrm>
            <a:off x="5440680" y="1435608"/>
            <a:ext cx="3246120" cy="347472"/>
          </a:xfrm>
          <a:prstGeom prst="rect">
            <a:avLst/>
          </a:prstGeom>
          <a:noFill/>
          <a:ln/>
        </p:spPr>
        <p:txBody>
          <a:bodyPr wrap="square" rtlCol="0" anchor="ctr"/>
          <a:lstStyle/>
          <a:p>
            <a:pPr indent="0" marL="0">
              <a:buNone/>
            </a:pPr>
            <a:r>
              <a:rPr lang="en-US" sz="1300" b="1" dirty="0">
                <a:solidFill>
                  <a:srgbClr val="F78166"/>
                </a:solidFill>
                <a:latin typeface="Calibri" pitchFamily="34" charset="0"/>
                <a:ea typeface="Calibri" pitchFamily="34" charset="-122"/>
                <a:cs typeface="Calibri" pitchFamily="34" charset="-120"/>
              </a:rPr>
              <a:t>Encrypted Files</a:t>
            </a:r>
            <a:endParaRPr lang="en-US" sz="1300" dirty="0"/>
          </a:p>
        </p:txBody>
      </p:sp>
      <p:sp>
        <p:nvSpPr>
          <p:cNvPr id="11" name="Text 7"/>
          <p:cNvSpPr/>
          <p:nvPr/>
        </p:nvSpPr>
        <p:spPr>
          <a:xfrm>
            <a:off x="5440680" y="1801368"/>
            <a:ext cx="3246120" cy="96012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Autopsy flags files that show high entropy or recognised encryption signatures. Finding encryption on a suspect's machine is significant — it may mean evidence is being deliberately concealed. Document the file name, location, and what tool appears to have encrypted it.</a:t>
            </a:r>
            <a:endParaRPr lang="en-US" sz="1100" dirty="0"/>
          </a:p>
        </p:txBody>
      </p:sp>
      <p:sp>
        <p:nvSpPr>
          <p:cNvPr id="12" name="Shape 8"/>
          <p:cNvSpPr/>
          <p:nvPr/>
        </p:nvSpPr>
        <p:spPr>
          <a:xfrm>
            <a:off x="274320" y="3090672"/>
            <a:ext cx="4160520" cy="160020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13" name="Image 2" descr="preencoded.png">    </p:cNvPr>
          <p:cNvPicPr>
            <a:picLocks noChangeAspect="1"/>
          </p:cNvPicPr>
          <p:nvPr/>
        </p:nvPicPr>
        <p:blipFill>
          <a:blip r:embed="rId3"/>
          <a:stretch>
            <a:fillRect/>
          </a:stretch>
        </p:blipFill>
        <p:spPr>
          <a:xfrm>
            <a:off x="438912" y="3593592"/>
            <a:ext cx="475488" cy="475488"/>
          </a:xfrm>
          <a:prstGeom prst="rect">
            <a:avLst/>
          </a:prstGeom>
        </p:spPr>
      </p:pic>
      <p:sp>
        <p:nvSpPr>
          <p:cNvPr id="14" name="Text 9"/>
          <p:cNvSpPr/>
          <p:nvPr/>
        </p:nvSpPr>
        <p:spPr>
          <a:xfrm>
            <a:off x="1051560" y="3227832"/>
            <a:ext cx="3246120" cy="347472"/>
          </a:xfrm>
          <a:prstGeom prst="rect">
            <a:avLst/>
          </a:prstGeom>
          <a:noFill/>
          <a:ln/>
        </p:spPr>
        <p:txBody>
          <a:bodyPr wrap="square" rtlCol="0" anchor="ctr"/>
          <a:lstStyle/>
          <a:p>
            <a:pPr indent="0" marL="0">
              <a:buNone/>
            </a:pPr>
            <a:r>
              <a:rPr lang="en-US" sz="1300" b="1" dirty="0">
                <a:solidFill>
                  <a:srgbClr val="3FB950"/>
                </a:solidFill>
                <a:latin typeface="Calibri" pitchFamily="34" charset="0"/>
                <a:ea typeface="Calibri" pitchFamily="34" charset="-122"/>
                <a:cs typeface="Calibri" pitchFamily="34" charset="-120"/>
              </a:rPr>
              <a:t>Deleted Files</a:t>
            </a:r>
            <a:endParaRPr lang="en-US" sz="1300" dirty="0"/>
          </a:p>
        </p:txBody>
      </p:sp>
      <p:sp>
        <p:nvSpPr>
          <p:cNvPr id="15" name="Text 10"/>
          <p:cNvSpPr/>
          <p:nvPr/>
        </p:nvSpPr>
        <p:spPr>
          <a:xfrm>
            <a:off x="1051560" y="3593592"/>
            <a:ext cx="3246120" cy="96012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Autopsy recovers files from unallocated space and from the Recycle Bin. A file's deletion status tells you the user tried to remove it. The ability to recover it tells you they failed. Both facts matter for the investigation.</a:t>
            </a:r>
            <a:endParaRPr lang="en-US" sz="1100" dirty="0"/>
          </a:p>
        </p:txBody>
      </p:sp>
      <p:sp>
        <p:nvSpPr>
          <p:cNvPr id="16" name="Shape 11"/>
          <p:cNvSpPr/>
          <p:nvPr/>
        </p:nvSpPr>
        <p:spPr>
          <a:xfrm>
            <a:off x="4663440" y="3090672"/>
            <a:ext cx="4160520" cy="160020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17" name="Image 3" descr="preencoded.png">    </p:cNvPr>
          <p:cNvPicPr>
            <a:picLocks noChangeAspect="1"/>
          </p:cNvPicPr>
          <p:nvPr/>
        </p:nvPicPr>
        <p:blipFill>
          <a:blip r:embed="rId4"/>
          <a:stretch>
            <a:fillRect/>
          </a:stretch>
        </p:blipFill>
        <p:spPr>
          <a:xfrm>
            <a:off x="4828032" y="3593592"/>
            <a:ext cx="475488" cy="475488"/>
          </a:xfrm>
          <a:prstGeom prst="rect">
            <a:avLst/>
          </a:prstGeom>
        </p:spPr>
      </p:pic>
      <p:sp>
        <p:nvSpPr>
          <p:cNvPr id="18" name="Text 12"/>
          <p:cNvSpPr/>
          <p:nvPr/>
        </p:nvSpPr>
        <p:spPr>
          <a:xfrm>
            <a:off x="5440680" y="3227832"/>
            <a:ext cx="3246120" cy="347472"/>
          </a:xfrm>
          <a:prstGeom prst="rect">
            <a:avLst/>
          </a:prstGeom>
          <a:noFill/>
          <a:ln/>
        </p:spPr>
        <p:txBody>
          <a:bodyPr wrap="square" rtlCol="0" anchor="ctr"/>
          <a:lstStyle/>
          <a:p>
            <a:pPr indent="0" marL="0">
              <a:buNone/>
            </a:pPr>
            <a:r>
              <a:rPr lang="en-US" sz="1300" b="1" dirty="0">
                <a:solidFill>
                  <a:srgbClr val="D2A8FF"/>
                </a:solidFill>
                <a:latin typeface="Calibri" pitchFamily="34" charset="0"/>
                <a:ea typeface="Calibri" pitchFamily="34" charset="-122"/>
                <a:cs typeface="Calibri" pitchFamily="34" charset="-120"/>
              </a:rPr>
              <a:t>Web Search History</a:t>
            </a:r>
            <a:endParaRPr lang="en-US" sz="1300" dirty="0"/>
          </a:p>
        </p:txBody>
      </p:sp>
      <p:sp>
        <p:nvSpPr>
          <p:cNvPr id="19" name="Text 13"/>
          <p:cNvSpPr/>
          <p:nvPr/>
        </p:nvSpPr>
        <p:spPr>
          <a:xfrm>
            <a:off x="5440680" y="3593592"/>
            <a:ext cx="3246120" cy="96012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The web history module extracts search queries, visited URLs, and timestamps from browser databases. Search topics can reveal intent before and after a crime. In the Mantooth case, search topics connect directly to the fraudulent activity.</a:t>
            </a:r>
            <a:endParaRPr lang="en-US" sz="1100" dirty="0"/>
          </a:p>
        </p:txBody>
      </p:sp>
      <p:sp>
        <p:nvSpPr>
          <p:cNvPr id="20" name="Text 14"/>
          <p:cNvSpPr/>
          <p:nvPr/>
        </p:nvSpPr>
        <p:spPr>
          <a:xfrm>
            <a:off x="274320" y="4754880"/>
            <a:ext cx="8595360" cy="256032"/>
          </a:xfrm>
          <a:prstGeom prst="rect">
            <a:avLst/>
          </a:prstGeom>
          <a:noFill/>
          <a:ln/>
        </p:spPr>
        <p:txBody>
          <a:bodyPr wrap="square" rtlCol="0" anchor="ctr"/>
          <a:lstStyle/>
          <a:p>
            <a:pPr algn="ctr" indent="0" marL="0">
              <a:buNone/>
            </a:pPr>
            <a:r>
              <a:rPr lang="en-US" sz="1050" b="1" dirty="0">
                <a:solidFill>
                  <a:srgbClr val="3FB950"/>
                </a:solidFill>
                <a:latin typeface="Calibri" pitchFamily="34" charset="0"/>
                <a:ea typeface="Calibri" pitchFamily="34" charset="-122"/>
                <a:cs typeface="Calibri" pitchFamily="34" charset="-120"/>
              </a:rPr>
              <a:t>Every finding needs: artifact type  •  full path  •  tool used — these three fields make your report defensible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01168"/>
            <a:ext cx="8412480" cy="530352"/>
          </a:xfrm>
          <a:prstGeom prst="rect">
            <a:avLst/>
          </a:prstGeom>
          <a:noFill/>
          <a:ln/>
        </p:spPr>
        <p:txBody>
          <a:bodyPr wrap="square" rtlCol="0" anchor="ctr"/>
          <a:lstStyle/>
          <a:p>
            <a:pPr indent="0" marL="0">
              <a:buNone/>
            </a:pPr>
            <a:r>
              <a:rPr lang="en-US" sz="2600" b="1" dirty="0">
                <a:solidFill>
                  <a:srgbClr val="E6EDF3"/>
                </a:solidFill>
                <a:latin typeface="Calibri" pitchFamily="34" charset="0"/>
                <a:ea typeface="Calibri" pitchFamily="34" charset="-122"/>
                <a:cs typeface="Calibri" pitchFamily="34" charset="-120"/>
              </a:rPr>
              <a:t>Windows Artifacts — Thumbcache &amp; Recycle Bin</a:t>
            </a:r>
            <a:endParaRPr lang="en-US" sz="2600" dirty="0"/>
          </a:p>
        </p:txBody>
      </p:sp>
      <p:sp>
        <p:nvSpPr>
          <p:cNvPr id="3" name="Shape 1"/>
          <p:cNvSpPr/>
          <p:nvPr/>
        </p:nvSpPr>
        <p:spPr>
          <a:xfrm>
            <a:off x="274320" y="822960"/>
            <a:ext cx="8595360" cy="196596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4" name="Image 0" descr="preencoded.png">    </p:cNvPr>
          <p:cNvPicPr>
            <a:picLocks noChangeAspect="1"/>
          </p:cNvPicPr>
          <p:nvPr/>
        </p:nvPicPr>
        <p:blipFill>
          <a:blip r:embed="rId1"/>
          <a:stretch>
            <a:fillRect/>
          </a:stretch>
        </p:blipFill>
        <p:spPr>
          <a:xfrm>
            <a:off x="457200" y="1234440"/>
            <a:ext cx="594360" cy="594360"/>
          </a:xfrm>
          <a:prstGeom prst="rect">
            <a:avLst/>
          </a:prstGeom>
        </p:spPr>
      </p:pic>
      <p:sp>
        <p:nvSpPr>
          <p:cNvPr id="5" name="Text 2"/>
          <p:cNvSpPr/>
          <p:nvPr/>
        </p:nvSpPr>
        <p:spPr>
          <a:xfrm>
            <a:off x="1234440" y="896112"/>
            <a:ext cx="7498080" cy="384048"/>
          </a:xfrm>
          <a:prstGeom prst="rect">
            <a:avLst/>
          </a:prstGeom>
          <a:noFill/>
          <a:ln/>
        </p:spPr>
        <p:txBody>
          <a:bodyPr wrap="square" rtlCol="0" anchor="ctr"/>
          <a:lstStyle/>
          <a:p>
            <a:pPr indent="0" marL="0">
              <a:buNone/>
            </a:pPr>
            <a:r>
              <a:rPr lang="en-US" sz="1400" b="1" dirty="0">
                <a:solidFill>
                  <a:srgbClr val="58A6FF"/>
                </a:solidFill>
                <a:latin typeface="Calibri" pitchFamily="34" charset="0"/>
                <a:ea typeface="Calibri" pitchFamily="34" charset="-122"/>
                <a:cs typeface="Calibri" pitchFamily="34" charset="-120"/>
              </a:rPr>
              <a:t>Thumbcache</a:t>
            </a:r>
            <a:endParaRPr lang="en-US" sz="1400" dirty="0"/>
          </a:p>
        </p:txBody>
      </p:sp>
      <p:sp>
        <p:nvSpPr>
          <p:cNvPr id="6" name="Text 3"/>
          <p:cNvSpPr/>
          <p:nvPr/>
        </p:nvSpPr>
        <p:spPr>
          <a:xfrm>
            <a:off x="1234440" y="1298448"/>
            <a:ext cx="7498080" cy="1353312"/>
          </a:xfrm>
          <a:prstGeom prst="rect">
            <a:avLst/>
          </a:prstGeom>
          <a:noFill/>
          <a:ln/>
        </p:spPr>
        <p:txBody>
          <a:bodyPr wrap="square" rtlCol="0" anchor="ctr"/>
          <a:lstStyle/>
          <a:p>
            <a:pPr indent="0" marL="0">
              <a:buNone/>
            </a:pPr>
            <a:r>
              <a:rPr lang="en-US" sz="1150" dirty="0">
                <a:solidFill>
                  <a:srgbClr val="E6EDF3"/>
                </a:solidFill>
                <a:latin typeface="Calibri" pitchFamily="34" charset="0"/>
                <a:ea typeface="Calibri" pitchFamily="34" charset="-122"/>
                <a:cs typeface="Calibri" pitchFamily="34" charset="-120"/>
              </a:rPr>
              <a:t>Windows generates thumbnail images when a user browses folders containing photos or media. These thumbnails are stored in a separate database in the user profile at </a:t>
            </a:r>
            <a:pPr indent="0" marL="0">
              <a:buNone/>
            </a:pPr>
            <a:r>
              <a:rPr lang="en-US" sz="1150" b="1" dirty="0">
                <a:solidFill>
                  <a:srgbClr val="D2A8FF"/>
                </a:solidFill>
                <a:latin typeface="Calibri" pitchFamily="34" charset="0"/>
                <a:ea typeface="Calibri" pitchFamily="34" charset="-122"/>
                <a:cs typeface="Calibri" pitchFamily="34" charset="-120"/>
              </a:rPr>
              <a:t>C:\Users\username\AppData\Local\Microsoft\Windows\Explorer\</a:t>
            </a:r>
            <a:pPr indent="0" marL="0">
              <a:buNone/>
            </a:pPr>
            <a:r>
              <a:rPr lang="en-US" sz="1150" dirty="0">
                <a:solidFill>
                  <a:srgbClr val="E6EDF3"/>
                </a:solidFill>
                <a:latin typeface="Calibri" pitchFamily="34" charset="0"/>
                <a:ea typeface="Calibri" pitchFamily="34" charset="-122"/>
                <a:cs typeface="Calibri" pitchFamily="34" charset="-120"/>
              </a:rPr>
              <a:t> as thumbcache_32.db, thumbcache_96.db, thumbcache_256.db and so on.</a:t>
            </a:r>
            <a:endParaRPr lang="en-US" sz="1150" dirty="0"/>
          </a:p>
          <a:p>
            <a:pPr indent="0" marL="0">
              <a:buNone/>
            </a:pPr>
            <a:endParaRPr lang="en-US" sz="1150" dirty="0"/>
          </a:p>
          <a:p>
            <a:pPr indent="0" marL="0">
              <a:buNone/>
            </a:pPr>
            <a:r>
              <a:rPr lang="en-US" sz="1150" b="1" dirty="0">
                <a:solidFill>
                  <a:srgbClr val="F78166"/>
                </a:solidFill>
                <a:latin typeface="Calibri" pitchFamily="34" charset="0"/>
                <a:ea typeface="Calibri" pitchFamily="34" charset="-122"/>
                <a:cs typeface="Calibri" pitchFamily="34" charset="-120"/>
              </a:rPr>
              <a:t>Critical point: </a:t>
            </a:r>
            <a:endParaRPr lang="en-US" sz="1150" dirty="0"/>
          </a:p>
          <a:p>
            <a:pPr indent="0" marL="0">
              <a:buNone/>
            </a:pPr>
            <a:r>
              <a:rPr lang="en-US" sz="1150" dirty="0">
                <a:solidFill>
                  <a:srgbClr val="E6EDF3"/>
                </a:solidFill>
                <a:latin typeface="Calibri" pitchFamily="34" charset="0"/>
                <a:ea typeface="Calibri" pitchFamily="34" charset="-122"/>
                <a:cs typeface="Calibri" pitchFamily="34" charset="-120"/>
              </a:rPr>
              <a:t>The thumbnails are stored independently of the original images. Deleting the images does NOT delete the thumbnails. A user can wipe a folder of photos and the thumbcache still holds visual proof of what they viewed. Thumbcache Viewer extracts and exports these thumbnails.</a:t>
            </a:r>
            <a:endParaRPr lang="en-US" sz="1150" dirty="0"/>
          </a:p>
        </p:txBody>
      </p:sp>
      <p:sp>
        <p:nvSpPr>
          <p:cNvPr id="7" name="Shape 4"/>
          <p:cNvSpPr/>
          <p:nvPr/>
        </p:nvSpPr>
        <p:spPr>
          <a:xfrm>
            <a:off x="274320" y="2907792"/>
            <a:ext cx="8595360" cy="1993392"/>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8" name="Image 1" descr="preencoded.png">    </p:cNvPr>
          <p:cNvPicPr>
            <a:picLocks noChangeAspect="1"/>
          </p:cNvPicPr>
          <p:nvPr/>
        </p:nvPicPr>
        <p:blipFill>
          <a:blip r:embed="rId2"/>
          <a:stretch>
            <a:fillRect/>
          </a:stretch>
        </p:blipFill>
        <p:spPr>
          <a:xfrm>
            <a:off x="457200" y="3319272"/>
            <a:ext cx="594360" cy="594360"/>
          </a:xfrm>
          <a:prstGeom prst="rect">
            <a:avLst/>
          </a:prstGeom>
        </p:spPr>
      </p:pic>
      <p:sp>
        <p:nvSpPr>
          <p:cNvPr id="9" name="Text 5"/>
          <p:cNvSpPr/>
          <p:nvPr/>
        </p:nvSpPr>
        <p:spPr>
          <a:xfrm>
            <a:off x="1234440" y="2971800"/>
            <a:ext cx="7498080" cy="384048"/>
          </a:xfrm>
          <a:prstGeom prst="rect">
            <a:avLst/>
          </a:prstGeom>
          <a:noFill/>
          <a:ln/>
        </p:spPr>
        <p:txBody>
          <a:bodyPr wrap="square" rtlCol="0" anchor="ctr"/>
          <a:lstStyle/>
          <a:p>
            <a:pPr indent="0" marL="0">
              <a:buNone/>
            </a:pPr>
            <a:r>
              <a:rPr lang="en-US" sz="1400" b="1" dirty="0">
                <a:solidFill>
                  <a:srgbClr val="3FB950"/>
                </a:solidFill>
                <a:latin typeface="Calibri" pitchFamily="34" charset="0"/>
                <a:ea typeface="Calibri" pitchFamily="34" charset="-122"/>
                <a:cs typeface="Calibri" pitchFamily="34" charset="-120"/>
              </a:rPr>
              <a:t>Recycle Bin — $I and $R File Pairs</a:t>
            </a:r>
            <a:endParaRPr lang="en-US" sz="1400" dirty="0"/>
          </a:p>
        </p:txBody>
      </p:sp>
      <p:sp>
        <p:nvSpPr>
          <p:cNvPr id="10" name="Text 6"/>
          <p:cNvSpPr/>
          <p:nvPr/>
        </p:nvSpPr>
        <p:spPr>
          <a:xfrm>
            <a:off x="1234440" y="3364992"/>
            <a:ext cx="7498080" cy="1444752"/>
          </a:xfrm>
          <a:prstGeom prst="rect">
            <a:avLst/>
          </a:prstGeom>
          <a:noFill/>
          <a:ln/>
        </p:spPr>
        <p:txBody>
          <a:bodyPr wrap="square" rtlCol="0" anchor="ctr"/>
          <a:lstStyle/>
          <a:p>
            <a:pPr indent="0" marL="0">
              <a:buNone/>
            </a:pPr>
            <a:r>
              <a:rPr lang="en-US" sz="1150" dirty="0">
                <a:solidFill>
                  <a:srgbClr val="E6EDF3"/>
                </a:solidFill>
                <a:latin typeface="Calibri" pitchFamily="34" charset="0"/>
                <a:ea typeface="Calibri" pitchFamily="34" charset="-122"/>
                <a:cs typeface="Calibri" pitchFamily="34" charset="-120"/>
              </a:rPr>
              <a:t>Every file deleted to the Recycle Bin creates two files in </a:t>
            </a:r>
            <a:pPr indent="0" marL="0">
              <a:buNone/>
            </a:pPr>
            <a:r>
              <a:rPr lang="en-US" sz="1150" b="1" dirty="0">
                <a:solidFill>
                  <a:srgbClr val="D2A8FF"/>
                </a:solidFill>
                <a:latin typeface="Calibri" pitchFamily="34" charset="0"/>
                <a:ea typeface="Calibri" pitchFamily="34" charset="-122"/>
                <a:cs typeface="Calibri" pitchFamily="34" charset="-120"/>
              </a:rPr>
              <a:t>C:\$Recycle.Bin\</a:t>
            </a:r>
            <a:pPr indent="0" marL="0">
              <a:buNone/>
            </a:pPr>
            <a:r>
              <a:rPr lang="en-US" sz="1150" dirty="0">
                <a:solidFill>
                  <a:srgbClr val="E6EDF3"/>
                </a:solidFill>
                <a:latin typeface="Calibri" pitchFamily="34" charset="0"/>
                <a:ea typeface="Calibri" pitchFamily="34" charset="-122"/>
                <a:cs typeface="Calibri" pitchFamily="34" charset="-120"/>
              </a:rPr>
              <a:t>  The </a:t>
            </a:r>
            <a:pPr indent="0" marL="0">
              <a:buNone/>
            </a:pPr>
            <a:r>
              <a:rPr lang="en-US" sz="1150" b="1" dirty="0">
                <a:solidFill>
                  <a:srgbClr val="58A6FF"/>
                </a:solidFill>
                <a:latin typeface="Calibri" pitchFamily="34" charset="0"/>
                <a:ea typeface="Calibri" pitchFamily="34" charset="-122"/>
                <a:cs typeface="Calibri" pitchFamily="34" charset="-120"/>
              </a:rPr>
              <a:t>$I file</a:t>
            </a:r>
            <a:pPr indent="0" marL="0">
              <a:buNone/>
            </a:pPr>
            <a:r>
              <a:rPr lang="en-US" sz="1150" dirty="0">
                <a:solidFill>
                  <a:srgbClr val="E6EDF3"/>
                </a:solidFill>
                <a:latin typeface="Calibri" pitchFamily="34" charset="0"/>
                <a:ea typeface="Calibri" pitchFamily="34" charset="-122"/>
                <a:cs typeface="Calibri" pitchFamily="34" charset="-120"/>
              </a:rPr>
              <a:t> contains the original full file path and the exact deletion timestamp. The </a:t>
            </a:r>
            <a:pPr indent="0" marL="0">
              <a:buNone/>
            </a:pPr>
            <a:r>
              <a:rPr lang="en-US" sz="1150" b="1" dirty="0">
                <a:solidFill>
                  <a:srgbClr val="3FB950"/>
                </a:solidFill>
                <a:latin typeface="Calibri" pitchFamily="34" charset="0"/>
                <a:ea typeface="Calibri" pitchFamily="34" charset="-122"/>
                <a:cs typeface="Calibri" pitchFamily="34" charset="-120"/>
              </a:rPr>
              <a:t>$R file</a:t>
            </a:r>
            <a:pPr indent="0" marL="0">
              <a:buNone/>
            </a:pPr>
            <a:r>
              <a:rPr lang="en-US" sz="1150" dirty="0">
                <a:solidFill>
                  <a:srgbClr val="E6EDF3"/>
                </a:solidFill>
                <a:latin typeface="Calibri" pitchFamily="34" charset="0"/>
                <a:ea typeface="Calibri" pitchFamily="34" charset="-122"/>
                <a:cs typeface="Calibri" pitchFamily="34" charset="-120"/>
              </a:rPr>
              <a:t> contains the actual deleted file data.</a:t>
            </a:r>
            <a:endParaRPr lang="en-US" sz="1150" dirty="0"/>
          </a:p>
          <a:p>
            <a:pPr indent="0" marL="0">
              <a:buNone/>
            </a:pPr>
            <a:endParaRPr lang="en-US" sz="1150" dirty="0"/>
          </a:p>
          <a:p>
            <a:pPr indent="0" marL="0">
              <a:buNone/>
            </a:pPr>
            <a:r>
              <a:rPr lang="en-US" sz="1150" dirty="0">
                <a:solidFill>
                  <a:srgbClr val="E6EDF3"/>
                </a:solidFill>
                <a:latin typeface="Calibri" pitchFamily="34" charset="0"/>
                <a:ea typeface="Calibri" pitchFamily="34" charset="-122"/>
                <a:cs typeface="Calibri" pitchFamily="34" charset="-120"/>
              </a:rPr>
              <a:t>Even after emptying the Recycle Bin, the file data often remains in unallocated space. </a:t>
            </a:r>
            <a:endParaRPr lang="en-US" sz="1150" dirty="0"/>
          </a:p>
          <a:p>
            <a:pPr indent="0" marL="0">
              <a:buNone/>
            </a:pPr>
            <a:r>
              <a:rPr lang="en-US" sz="1150" b="1" dirty="0">
                <a:solidFill>
                  <a:srgbClr val="F78166"/>
                </a:solidFill>
                <a:latin typeface="Calibri" pitchFamily="34" charset="0"/>
                <a:ea typeface="Calibri" pitchFamily="34" charset="-122"/>
                <a:cs typeface="Calibri" pitchFamily="34" charset="-120"/>
              </a:rPr>
              <a:t>In the Mantooth case: Camerashy.exe was found here. Camerashy is a steganography tool used to hide data inside image files — its presence directly connects to the investigation.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01168"/>
            <a:ext cx="8412480" cy="530352"/>
          </a:xfrm>
          <a:prstGeom prst="rect">
            <a:avLst/>
          </a:prstGeom>
          <a:noFill/>
          <a:ln/>
        </p:spPr>
        <p:txBody>
          <a:bodyPr wrap="square" rtlCol="0" anchor="ctr"/>
          <a:lstStyle/>
          <a:p>
            <a:pPr indent="0" marL="0">
              <a:buNone/>
            </a:pPr>
            <a:r>
              <a:rPr lang="en-US" sz="2600" b="1" dirty="0">
                <a:solidFill>
                  <a:srgbClr val="E6EDF3"/>
                </a:solidFill>
                <a:latin typeface="Calibri" pitchFamily="34" charset="0"/>
                <a:ea typeface="Calibri" pitchFamily="34" charset="-122"/>
                <a:cs typeface="Calibri" pitchFamily="34" charset="-120"/>
              </a:rPr>
              <a:t>Windows Artifacts — Prefetch, LNK Files &amp; Spool</a:t>
            </a:r>
            <a:endParaRPr lang="en-US" sz="2600" dirty="0"/>
          </a:p>
        </p:txBody>
      </p:sp>
      <p:sp>
        <p:nvSpPr>
          <p:cNvPr id="3" name="Shape 1"/>
          <p:cNvSpPr/>
          <p:nvPr/>
        </p:nvSpPr>
        <p:spPr>
          <a:xfrm>
            <a:off x="274320" y="868680"/>
            <a:ext cx="8595360" cy="1298448"/>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4" name="Image 0" descr="preencoded.png">    </p:cNvPr>
          <p:cNvPicPr>
            <a:picLocks noChangeAspect="1"/>
          </p:cNvPicPr>
          <p:nvPr/>
        </p:nvPicPr>
        <p:blipFill>
          <a:blip r:embed="rId1"/>
          <a:stretch>
            <a:fillRect/>
          </a:stretch>
        </p:blipFill>
        <p:spPr>
          <a:xfrm>
            <a:off x="475488" y="1252728"/>
            <a:ext cx="502920" cy="502920"/>
          </a:xfrm>
          <a:prstGeom prst="rect">
            <a:avLst/>
          </a:prstGeom>
        </p:spPr>
      </p:pic>
      <p:sp>
        <p:nvSpPr>
          <p:cNvPr id="5" name="Text 2"/>
          <p:cNvSpPr/>
          <p:nvPr/>
        </p:nvSpPr>
        <p:spPr>
          <a:xfrm>
            <a:off x="1143000" y="960120"/>
            <a:ext cx="4114800" cy="329184"/>
          </a:xfrm>
          <a:prstGeom prst="rect">
            <a:avLst/>
          </a:prstGeom>
          <a:noFill/>
          <a:ln/>
        </p:spPr>
        <p:txBody>
          <a:bodyPr wrap="square" rtlCol="0" anchor="ctr"/>
          <a:lstStyle/>
          <a:p>
            <a:pPr indent="0" marL="0">
              <a:buNone/>
            </a:pPr>
            <a:r>
              <a:rPr lang="en-US" sz="1300" b="1" dirty="0">
                <a:solidFill>
                  <a:srgbClr val="D2A8FF"/>
                </a:solidFill>
                <a:latin typeface="Calibri" pitchFamily="34" charset="0"/>
                <a:ea typeface="Calibri" pitchFamily="34" charset="-122"/>
                <a:cs typeface="Calibri" pitchFamily="34" charset="-120"/>
              </a:rPr>
              <a:t>Prefetch Files</a:t>
            </a:r>
            <a:endParaRPr lang="en-US" sz="1300" dirty="0"/>
          </a:p>
        </p:txBody>
      </p:sp>
      <p:sp>
        <p:nvSpPr>
          <p:cNvPr id="6" name="Text 3"/>
          <p:cNvSpPr/>
          <p:nvPr/>
        </p:nvSpPr>
        <p:spPr>
          <a:xfrm>
            <a:off x="5349240" y="960120"/>
            <a:ext cx="3383280" cy="274320"/>
          </a:xfrm>
          <a:prstGeom prst="rect">
            <a:avLst/>
          </a:prstGeom>
          <a:noFill/>
          <a:ln/>
        </p:spPr>
        <p:txBody>
          <a:bodyPr wrap="square" rtlCol="0" anchor="ctr"/>
          <a:lstStyle/>
          <a:p>
            <a:pPr indent="0" marL="0">
              <a:buNone/>
            </a:pPr>
            <a:r>
              <a:rPr lang="en-US" sz="1000" dirty="0">
                <a:solidFill>
                  <a:srgbClr val="D2A8FF"/>
                </a:solidFill>
                <a:latin typeface="Consolas" pitchFamily="34" charset="0"/>
                <a:ea typeface="Consolas" pitchFamily="34" charset="-122"/>
                <a:cs typeface="Consolas" pitchFamily="34" charset="-120"/>
              </a:rPr>
              <a:t>C:\Windows\Prefetch\</a:t>
            </a:r>
            <a:endParaRPr lang="en-US" sz="1000" dirty="0"/>
          </a:p>
        </p:txBody>
      </p:sp>
      <p:sp>
        <p:nvSpPr>
          <p:cNvPr id="7" name="Text 4"/>
          <p:cNvSpPr/>
          <p:nvPr/>
        </p:nvSpPr>
        <p:spPr>
          <a:xfrm>
            <a:off x="1143000" y="1307592"/>
            <a:ext cx="7589520" cy="77724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Windows creates a prefetch file every time a program runs. It records the executable name, the full path it ran from, how many times it ran, and the last run timestamp. These files survive even after the program itself is deleted. In this investigation, Xcopy appears in prefetch. Xcopy is a bulk file copying utility — its presence suggests large amounts of data were moved, potentially to an external drive.</a:t>
            </a:r>
            <a:endParaRPr lang="en-US" sz="1100" dirty="0"/>
          </a:p>
        </p:txBody>
      </p:sp>
      <p:sp>
        <p:nvSpPr>
          <p:cNvPr id="8" name="Shape 5"/>
          <p:cNvSpPr/>
          <p:nvPr/>
        </p:nvSpPr>
        <p:spPr>
          <a:xfrm>
            <a:off x="274320" y="2331720"/>
            <a:ext cx="8595360" cy="1298448"/>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9" name="Image 1" descr="preencoded.png">    </p:cNvPr>
          <p:cNvPicPr>
            <a:picLocks noChangeAspect="1"/>
          </p:cNvPicPr>
          <p:nvPr/>
        </p:nvPicPr>
        <p:blipFill>
          <a:blip r:embed="rId2"/>
          <a:stretch>
            <a:fillRect/>
          </a:stretch>
        </p:blipFill>
        <p:spPr>
          <a:xfrm>
            <a:off x="475488" y="2715768"/>
            <a:ext cx="502920" cy="502920"/>
          </a:xfrm>
          <a:prstGeom prst="rect">
            <a:avLst/>
          </a:prstGeom>
        </p:spPr>
      </p:pic>
      <p:sp>
        <p:nvSpPr>
          <p:cNvPr id="10" name="Text 6"/>
          <p:cNvSpPr/>
          <p:nvPr/>
        </p:nvSpPr>
        <p:spPr>
          <a:xfrm>
            <a:off x="1143000" y="2423160"/>
            <a:ext cx="4114800" cy="329184"/>
          </a:xfrm>
          <a:prstGeom prst="rect">
            <a:avLst/>
          </a:prstGeom>
          <a:noFill/>
          <a:ln/>
        </p:spPr>
        <p:txBody>
          <a:bodyPr wrap="square" rtlCol="0" anchor="ctr"/>
          <a:lstStyle/>
          <a:p>
            <a:pPr indent="0" marL="0">
              <a:buNone/>
            </a:pPr>
            <a:r>
              <a:rPr lang="en-US" sz="1300" b="1" dirty="0">
                <a:solidFill>
                  <a:srgbClr val="58A6FF"/>
                </a:solidFill>
                <a:latin typeface="Calibri" pitchFamily="34" charset="0"/>
                <a:ea typeface="Calibri" pitchFamily="34" charset="-122"/>
                <a:cs typeface="Calibri" pitchFamily="34" charset="-120"/>
              </a:rPr>
              <a:t>LNK Shortcut Files</a:t>
            </a:r>
            <a:endParaRPr lang="en-US" sz="1300" dirty="0"/>
          </a:p>
        </p:txBody>
      </p:sp>
      <p:sp>
        <p:nvSpPr>
          <p:cNvPr id="11" name="Text 7"/>
          <p:cNvSpPr/>
          <p:nvPr/>
        </p:nvSpPr>
        <p:spPr>
          <a:xfrm>
            <a:off x="5349240" y="2423160"/>
            <a:ext cx="3383280" cy="274320"/>
          </a:xfrm>
          <a:prstGeom prst="rect">
            <a:avLst/>
          </a:prstGeom>
          <a:noFill/>
          <a:ln/>
        </p:spPr>
        <p:txBody>
          <a:bodyPr wrap="square" rtlCol="0" anchor="ctr"/>
          <a:lstStyle/>
          <a:p>
            <a:pPr indent="0" marL="0">
              <a:buNone/>
            </a:pPr>
            <a:r>
              <a:rPr lang="en-US" sz="1000" dirty="0">
                <a:solidFill>
                  <a:srgbClr val="D2A8FF"/>
                </a:solidFill>
                <a:latin typeface="Consolas" pitchFamily="34" charset="0"/>
                <a:ea typeface="Consolas" pitchFamily="34" charset="-122"/>
                <a:cs typeface="Consolas" pitchFamily="34" charset="-120"/>
              </a:rPr>
              <a:t>C:\Users\username\AppData\Roaming\Microsoft\Windows\Recent\</a:t>
            </a:r>
            <a:endParaRPr lang="en-US" sz="1000" dirty="0"/>
          </a:p>
        </p:txBody>
      </p:sp>
      <p:sp>
        <p:nvSpPr>
          <p:cNvPr id="12" name="Text 8"/>
          <p:cNvSpPr/>
          <p:nvPr/>
        </p:nvSpPr>
        <p:spPr>
          <a:xfrm>
            <a:off x="1143000" y="2770632"/>
            <a:ext cx="7589520" cy="77724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Windows automatically creates LNK (shortcut) files whenever a user opens a file or folder. The LNK stores the full target path, volume information, and timestamps. LNK files persist after the target is deleted — a LNK pointing to a file that no longer exists proves the file existed and was opened. This makes LNK files one of the most reliable evidence sources for user file access activity.</a:t>
            </a:r>
            <a:endParaRPr lang="en-US" sz="1100" dirty="0"/>
          </a:p>
        </p:txBody>
      </p:sp>
      <p:sp>
        <p:nvSpPr>
          <p:cNvPr id="13" name="Shape 9"/>
          <p:cNvSpPr/>
          <p:nvPr/>
        </p:nvSpPr>
        <p:spPr>
          <a:xfrm>
            <a:off x="274320" y="3794760"/>
            <a:ext cx="8595360" cy="1298448"/>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14" name="Image 2" descr="preencoded.png">    </p:cNvPr>
          <p:cNvPicPr>
            <a:picLocks noChangeAspect="1"/>
          </p:cNvPicPr>
          <p:nvPr/>
        </p:nvPicPr>
        <p:blipFill>
          <a:blip r:embed="rId3"/>
          <a:stretch>
            <a:fillRect/>
          </a:stretch>
        </p:blipFill>
        <p:spPr>
          <a:xfrm>
            <a:off x="475488" y="4178808"/>
            <a:ext cx="502920" cy="502920"/>
          </a:xfrm>
          <a:prstGeom prst="rect">
            <a:avLst/>
          </a:prstGeom>
        </p:spPr>
      </p:pic>
      <p:sp>
        <p:nvSpPr>
          <p:cNvPr id="15" name="Text 10"/>
          <p:cNvSpPr/>
          <p:nvPr/>
        </p:nvSpPr>
        <p:spPr>
          <a:xfrm>
            <a:off x="1143000" y="3886200"/>
            <a:ext cx="4114800" cy="329184"/>
          </a:xfrm>
          <a:prstGeom prst="rect">
            <a:avLst/>
          </a:prstGeom>
          <a:noFill/>
          <a:ln/>
        </p:spPr>
        <p:txBody>
          <a:bodyPr wrap="square" rtlCol="0" anchor="ctr"/>
          <a:lstStyle/>
          <a:p>
            <a:pPr indent="0" marL="0">
              <a:buNone/>
            </a:pPr>
            <a:r>
              <a:rPr lang="en-US" sz="1300" b="1" dirty="0">
                <a:solidFill>
                  <a:srgbClr val="3FB950"/>
                </a:solidFill>
                <a:latin typeface="Calibri" pitchFamily="34" charset="0"/>
                <a:ea typeface="Calibri" pitchFamily="34" charset="-122"/>
                <a:cs typeface="Calibri" pitchFamily="34" charset="-120"/>
              </a:rPr>
              <a:t>Print Spool Files</a:t>
            </a:r>
            <a:endParaRPr lang="en-US" sz="1300" dirty="0"/>
          </a:p>
        </p:txBody>
      </p:sp>
      <p:sp>
        <p:nvSpPr>
          <p:cNvPr id="16" name="Text 11"/>
          <p:cNvSpPr/>
          <p:nvPr/>
        </p:nvSpPr>
        <p:spPr>
          <a:xfrm>
            <a:off x="5349240" y="3886200"/>
            <a:ext cx="3383280" cy="274320"/>
          </a:xfrm>
          <a:prstGeom prst="rect">
            <a:avLst/>
          </a:prstGeom>
          <a:noFill/>
          <a:ln/>
        </p:spPr>
        <p:txBody>
          <a:bodyPr wrap="square" rtlCol="0" anchor="ctr"/>
          <a:lstStyle/>
          <a:p>
            <a:pPr indent="0" marL="0">
              <a:buNone/>
            </a:pPr>
            <a:r>
              <a:rPr lang="en-US" sz="1000" dirty="0">
                <a:solidFill>
                  <a:srgbClr val="D2A8FF"/>
                </a:solidFill>
                <a:latin typeface="Consolas" pitchFamily="34" charset="0"/>
                <a:ea typeface="Consolas" pitchFamily="34" charset="-122"/>
                <a:cs typeface="Consolas" pitchFamily="34" charset="-120"/>
              </a:rPr>
              <a:t>C:\Windows\System32\spool\PRINTERS\</a:t>
            </a:r>
            <a:endParaRPr lang="en-US" sz="1000" dirty="0"/>
          </a:p>
        </p:txBody>
      </p:sp>
      <p:sp>
        <p:nvSpPr>
          <p:cNvPr id="17" name="Text 12"/>
          <p:cNvSpPr/>
          <p:nvPr/>
        </p:nvSpPr>
        <p:spPr>
          <a:xfrm>
            <a:off x="1143000" y="4233672"/>
            <a:ext cx="7589520" cy="77724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When a document is sent to a printer, Windows temporarily stores it as a spool file. These files can persist after printing completes, especially if a job failed or was cancelled. Spool files can reveal documents that were prepared for printing but never saved to disk — making them a unique source of evidence about content the user intended to produce physically.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01168"/>
            <a:ext cx="8412480" cy="530352"/>
          </a:xfrm>
          <a:prstGeom prst="rect">
            <a:avLst/>
          </a:prstGeom>
          <a:noFill/>
          <a:ln/>
        </p:spPr>
        <p:txBody>
          <a:bodyPr wrap="square" rtlCol="0" anchor="ctr"/>
          <a:lstStyle/>
          <a:p>
            <a:pPr indent="0" marL="0">
              <a:buNone/>
            </a:pPr>
            <a:r>
              <a:rPr lang="en-US" sz="2600" b="1" dirty="0">
                <a:solidFill>
                  <a:srgbClr val="E6EDF3"/>
                </a:solidFill>
                <a:latin typeface="Calibri" pitchFamily="34" charset="0"/>
                <a:ea typeface="Calibri" pitchFamily="34" charset="-122"/>
                <a:cs typeface="Calibri" pitchFamily="34" charset="-120"/>
              </a:rPr>
              <a:t>Windows Event Logs in a Forensic Context</a:t>
            </a:r>
            <a:endParaRPr lang="en-US" sz="2600" dirty="0"/>
          </a:p>
        </p:txBody>
      </p:sp>
      <p:sp>
        <p:nvSpPr>
          <p:cNvPr id="3" name="Text 1"/>
          <p:cNvSpPr/>
          <p:nvPr/>
        </p:nvSpPr>
        <p:spPr>
          <a:xfrm>
            <a:off x="365760" y="777240"/>
            <a:ext cx="8412480" cy="402336"/>
          </a:xfrm>
          <a:prstGeom prst="rect">
            <a:avLst/>
          </a:prstGeom>
          <a:noFill/>
          <a:ln/>
        </p:spPr>
        <p:txBody>
          <a:bodyPr wrap="square" rtlCol="0" anchor="ctr"/>
          <a:lstStyle/>
          <a:p>
            <a:pPr indent="0" marL="0">
              <a:buNone/>
            </a:pPr>
            <a:r>
              <a:rPr lang="en-US" sz="1250" i="1" dirty="0">
                <a:solidFill>
                  <a:srgbClr val="8B949E"/>
                </a:solidFill>
                <a:latin typeface="Calibri" pitchFamily="34" charset="0"/>
                <a:ea typeface="Calibri" pitchFamily="34" charset="-122"/>
                <a:cs typeface="Calibri" pitchFamily="34" charset="-120"/>
              </a:rPr>
              <a:t>The Security.evtx file is the authoritative record of authentication events. In a forensic image it tells you exactly when a user logged on and off, and how.</a:t>
            </a:r>
            <a:endParaRPr lang="en-US" sz="1250" dirty="0"/>
          </a:p>
        </p:txBody>
      </p:sp>
      <p:sp>
        <p:nvSpPr>
          <p:cNvPr id="4" name="Shape 2"/>
          <p:cNvSpPr/>
          <p:nvPr/>
        </p:nvSpPr>
        <p:spPr>
          <a:xfrm>
            <a:off x="274320" y="1325880"/>
            <a:ext cx="8595360" cy="804672"/>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sp>
        <p:nvSpPr>
          <p:cNvPr id="5" name="Shape 3"/>
          <p:cNvSpPr/>
          <p:nvPr/>
        </p:nvSpPr>
        <p:spPr>
          <a:xfrm>
            <a:off x="274320" y="1325880"/>
            <a:ext cx="1051560" cy="804672"/>
          </a:xfrm>
          <a:prstGeom prst="rect">
            <a:avLst/>
          </a:prstGeom>
          <a:solidFill>
            <a:srgbClr val="3FB950"/>
          </a:solidFill>
          <a:ln w="12700">
            <a:solidFill>
              <a:srgbClr val="3FB950"/>
            </a:solidFill>
            <a:prstDash val="solid"/>
          </a:ln>
        </p:spPr>
      </p:sp>
      <p:sp>
        <p:nvSpPr>
          <p:cNvPr id="6" name="Text 4"/>
          <p:cNvSpPr/>
          <p:nvPr/>
        </p:nvSpPr>
        <p:spPr>
          <a:xfrm>
            <a:off x="274320" y="1325880"/>
            <a:ext cx="1051560" cy="804672"/>
          </a:xfrm>
          <a:prstGeom prst="rect">
            <a:avLst/>
          </a:prstGeom>
          <a:noFill/>
          <a:ln/>
        </p:spPr>
        <p:txBody>
          <a:bodyPr wrap="square" rtlCol="0" anchor="ctr"/>
          <a:lstStyle/>
          <a:p>
            <a:pPr algn="ctr" indent="0" marL="0">
              <a:buNone/>
            </a:pPr>
            <a:r>
              <a:rPr lang="en-US" sz="1800" b="1" dirty="0">
                <a:solidFill>
                  <a:srgbClr val="0D1117"/>
                </a:solidFill>
                <a:latin typeface="Calibri" pitchFamily="34" charset="0"/>
                <a:ea typeface="Calibri" pitchFamily="34" charset="-122"/>
                <a:cs typeface="Calibri" pitchFamily="34" charset="-120"/>
              </a:rPr>
              <a:t>4624</a:t>
            </a:r>
            <a:endParaRPr lang="en-US" sz="1800" dirty="0"/>
          </a:p>
        </p:txBody>
      </p:sp>
      <p:sp>
        <p:nvSpPr>
          <p:cNvPr id="7" name="Text 5"/>
          <p:cNvSpPr/>
          <p:nvPr/>
        </p:nvSpPr>
        <p:spPr>
          <a:xfrm>
            <a:off x="1481328" y="1417320"/>
            <a:ext cx="7178040" cy="292608"/>
          </a:xfrm>
          <a:prstGeom prst="rect">
            <a:avLst/>
          </a:prstGeom>
          <a:noFill/>
          <a:ln/>
        </p:spPr>
        <p:txBody>
          <a:bodyPr wrap="square" rtlCol="0" anchor="ctr"/>
          <a:lstStyle/>
          <a:p>
            <a:pPr indent="0" marL="0">
              <a:buNone/>
            </a:pPr>
            <a:r>
              <a:rPr lang="en-US" sz="1300" b="1" dirty="0">
                <a:solidFill>
                  <a:srgbClr val="3FB950"/>
                </a:solidFill>
                <a:latin typeface="Calibri" pitchFamily="34" charset="0"/>
                <a:ea typeface="Calibri" pitchFamily="34" charset="-122"/>
                <a:cs typeface="Calibri" pitchFamily="34" charset="-120"/>
              </a:rPr>
              <a:t>Successful Logon</a:t>
            </a:r>
            <a:endParaRPr lang="en-US" sz="1300" dirty="0"/>
          </a:p>
        </p:txBody>
      </p:sp>
      <p:sp>
        <p:nvSpPr>
          <p:cNvPr id="8" name="Text 6"/>
          <p:cNvSpPr/>
          <p:nvPr/>
        </p:nvSpPr>
        <p:spPr>
          <a:xfrm>
            <a:off x="1481328" y="1719072"/>
            <a:ext cx="7178040" cy="36576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Records username, logon type, source IP, workstation. The logon type tells you HOW the user accessed the machine — interactive keyboard (Type 2) vs Remote Desktop (Type 10).</a:t>
            </a:r>
            <a:endParaRPr lang="en-US" sz="1100" dirty="0"/>
          </a:p>
        </p:txBody>
      </p:sp>
      <p:sp>
        <p:nvSpPr>
          <p:cNvPr id="9" name="Shape 7"/>
          <p:cNvSpPr/>
          <p:nvPr/>
        </p:nvSpPr>
        <p:spPr>
          <a:xfrm>
            <a:off x="274320" y="2240280"/>
            <a:ext cx="8595360" cy="804672"/>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sp>
        <p:nvSpPr>
          <p:cNvPr id="10" name="Shape 8"/>
          <p:cNvSpPr/>
          <p:nvPr/>
        </p:nvSpPr>
        <p:spPr>
          <a:xfrm>
            <a:off x="274320" y="2240280"/>
            <a:ext cx="1051560" cy="804672"/>
          </a:xfrm>
          <a:prstGeom prst="rect">
            <a:avLst/>
          </a:prstGeom>
          <a:solidFill>
            <a:srgbClr val="58A6FF"/>
          </a:solidFill>
          <a:ln w="12700">
            <a:solidFill>
              <a:srgbClr val="58A6FF"/>
            </a:solidFill>
            <a:prstDash val="solid"/>
          </a:ln>
        </p:spPr>
      </p:sp>
      <p:sp>
        <p:nvSpPr>
          <p:cNvPr id="11" name="Text 9"/>
          <p:cNvSpPr/>
          <p:nvPr/>
        </p:nvSpPr>
        <p:spPr>
          <a:xfrm>
            <a:off x="274320" y="2240280"/>
            <a:ext cx="1051560" cy="804672"/>
          </a:xfrm>
          <a:prstGeom prst="rect">
            <a:avLst/>
          </a:prstGeom>
          <a:noFill/>
          <a:ln/>
        </p:spPr>
        <p:txBody>
          <a:bodyPr wrap="square" rtlCol="0" anchor="ctr"/>
          <a:lstStyle/>
          <a:p>
            <a:pPr algn="ctr" indent="0" marL="0">
              <a:buNone/>
            </a:pPr>
            <a:r>
              <a:rPr lang="en-US" sz="1800" b="1" dirty="0">
                <a:solidFill>
                  <a:srgbClr val="0D1117"/>
                </a:solidFill>
                <a:latin typeface="Calibri" pitchFamily="34" charset="0"/>
                <a:ea typeface="Calibri" pitchFamily="34" charset="-122"/>
                <a:cs typeface="Calibri" pitchFamily="34" charset="-120"/>
              </a:rPr>
              <a:t>4634</a:t>
            </a:r>
            <a:endParaRPr lang="en-US" sz="1800" dirty="0"/>
          </a:p>
        </p:txBody>
      </p:sp>
      <p:sp>
        <p:nvSpPr>
          <p:cNvPr id="12" name="Text 10"/>
          <p:cNvSpPr/>
          <p:nvPr/>
        </p:nvSpPr>
        <p:spPr>
          <a:xfrm>
            <a:off x="1481328" y="2331720"/>
            <a:ext cx="7178040" cy="292608"/>
          </a:xfrm>
          <a:prstGeom prst="rect">
            <a:avLst/>
          </a:prstGeom>
          <a:noFill/>
          <a:ln/>
        </p:spPr>
        <p:txBody>
          <a:bodyPr wrap="square" rtlCol="0" anchor="ctr"/>
          <a:lstStyle/>
          <a:p>
            <a:pPr indent="0" marL="0">
              <a:buNone/>
            </a:pPr>
            <a:r>
              <a:rPr lang="en-US" sz="1300" b="1" dirty="0">
                <a:solidFill>
                  <a:srgbClr val="58A6FF"/>
                </a:solidFill>
                <a:latin typeface="Calibri" pitchFamily="34" charset="0"/>
                <a:ea typeface="Calibri" pitchFamily="34" charset="-122"/>
                <a:cs typeface="Calibri" pitchFamily="34" charset="-120"/>
              </a:rPr>
              <a:t>Logoff</a:t>
            </a:r>
            <a:endParaRPr lang="en-US" sz="1300" dirty="0"/>
          </a:p>
        </p:txBody>
      </p:sp>
      <p:sp>
        <p:nvSpPr>
          <p:cNvPr id="13" name="Text 11"/>
          <p:cNvSpPr/>
          <p:nvPr/>
        </p:nvSpPr>
        <p:spPr>
          <a:xfrm>
            <a:off x="1481328" y="2633472"/>
            <a:ext cx="7178040" cy="36576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Records when a session ended. Pair with 4624 to calculate session duration — how long was the user active on the machine during each session?</a:t>
            </a:r>
            <a:endParaRPr lang="en-US" sz="1100" dirty="0"/>
          </a:p>
        </p:txBody>
      </p:sp>
      <p:sp>
        <p:nvSpPr>
          <p:cNvPr id="14" name="Shape 12"/>
          <p:cNvSpPr/>
          <p:nvPr/>
        </p:nvSpPr>
        <p:spPr>
          <a:xfrm>
            <a:off x="274320" y="3154680"/>
            <a:ext cx="8595360" cy="804672"/>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sp>
        <p:nvSpPr>
          <p:cNvPr id="15" name="Shape 13"/>
          <p:cNvSpPr/>
          <p:nvPr/>
        </p:nvSpPr>
        <p:spPr>
          <a:xfrm>
            <a:off x="274320" y="3154680"/>
            <a:ext cx="1051560" cy="804672"/>
          </a:xfrm>
          <a:prstGeom prst="rect">
            <a:avLst/>
          </a:prstGeom>
          <a:solidFill>
            <a:srgbClr val="F78166"/>
          </a:solidFill>
          <a:ln w="12700">
            <a:solidFill>
              <a:srgbClr val="F78166"/>
            </a:solidFill>
            <a:prstDash val="solid"/>
          </a:ln>
        </p:spPr>
      </p:sp>
      <p:sp>
        <p:nvSpPr>
          <p:cNvPr id="16" name="Text 14"/>
          <p:cNvSpPr/>
          <p:nvPr/>
        </p:nvSpPr>
        <p:spPr>
          <a:xfrm>
            <a:off x="274320" y="3154680"/>
            <a:ext cx="1051560" cy="804672"/>
          </a:xfrm>
          <a:prstGeom prst="rect">
            <a:avLst/>
          </a:prstGeom>
          <a:noFill/>
          <a:ln/>
        </p:spPr>
        <p:txBody>
          <a:bodyPr wrap="square" rtlCol="0" anchor="ctr"/>
          <a:lstStyle/>
          <a:p>
            <a:pPr algn="ctr" indent="0" marL="0">
              <a:buNone/>
            </a:pPr>
            <a:r>
              <a:rPr lang="en-US" sz="1800" b="1" dirty="0">
                <a:solidFill>
                  <a:srgbClr val="0D1117"/>
                </a:solidFill>
                <a:latin typeface="Calibri" pitchFamily="34" charset="0"/>
                <a:ea typeface="Calibri" pitchFamily="34" charset="-122"/>
                <a:cs typeface="Calibri" pitchFamily="34" charset="-120"/>
              </a:rPr>
              <a:t>4625</a:t>
            </a:r>
            <a:endParaRPr lang="en-US" sz="1800" dirty="0"/>
          </a:p>
        </p:txBody>
      </p:sp>
      <p:sp>
        <p:nvSpPr>
          <p:cNvPr id="17" name="Text 15"/>
          <p:cNvSpPr/>
          <p:nvPr/>
        </p:nvSpPr>
        <p:spPr>
          <a:xfrm>
            <a:off x="1481328" y="3246120"/>
            <a:ext cx="7178040" cy="292608"/>
          </a:xfrm>
          <a:prstGeom prst="rect">
            <a:avLst/>
          </a:prstGeom>
          <a:noFill/>
          <a:ln/>
        </p:spPr>
        <p:txBody>
          <a:bodyPr wrap="square" rtlCol="0" anchor="ctr"/>
          <a:lstStyle/>
          <a:p>
            <a:pPr indent="0" marL="0">
              <a:buNone/>
            </a:pPr>
            <a:r>
              <a:rPr lang="en-US" sz="1300" b="1" dirty="0">
                <a:solidFill>
                  <a:srgbClr val="F78166"/>
                </a:solidFill>
                <a:latin typeface="Calibri" pitchFamily="34" charset="0"/>
                <a:ea typeface="Calibri" pitchFamily="34" charset="-122"/>
                <a:cs typeface="Calibri" pitchFamily="34" charset="-120"/>
              </a:rPr>
              <a:t>Failed Logon</a:t>
            </a:r>
            <a:endParaRPr lang="en-US" sz="1300" dirty="0"/>
          </a:p>
        </p:txBody>
      </p:sp>
      <p:sp>
        <p:nvSpPr>
          <p:cNvPr id="18" name="Text 16"/>
          <p:cNvSpPr/>
          <p:nvPr/>
        </p:nvSpPr>
        <p:spPr>
          <a:xfrm>
            <a:off x="1481328" y="3547872"/>
            <a:ext cx="7178040" cy="36576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Failed authentication attempt with failure reason. Multiple 4625 events from the same source targeting the same account is a brute force signature.</a:t>
            </a:r>
            <a:endParaRPr lang="en-US" sz="1100" dirty="0"/>
          </a:p>
        </p:txBody>
      </p:sp>
      <p:sp>
        <p:nvSpPr>
          <p:cNvPr id="19" name="Shape 17"/>
          <p:cNvSpPr/>
          <p:nvPr/>
        </p:nvSpPr>
        <p:spPr>
          <a:xfrm>
            <a:off x="274320" y="4069080"/>
            <a:ext cx="8595360" cy="804672"/>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sp>
        <p:nvSpPr>
          <p:cNvPr id="20" name="Shape 18"/>
          <p:cNvSpPr/>
          <p:nvPr/>
        </p:nvSpPr>
        <p:spPr>
          <a:xfrm>
            <a:off x="274320" y="4069080"/>
            <a:ext cx="1051560" cy="804672"/>
          </a:xfrm>
          <a:prstGeom prst="rect">
            <a:avLst/>
          </a:prstGeom>
          <a:solidFill>
            <a:srgbClr val="D2A8FF"/>
          </a:solidFill>
          <a:ln w="12700">
            <a:solidFill>
              <a:srgbClr val="D2A8FF"/>
            </a:solidFill>
            <a:prstDash val="solid"/>
          </a:ln>
        </p:spPr>
      </p:sp>
      <p:sp>
        <p:nvSpPr>
          <p:cNvPr id="21" name="Text 19"/>
          <p:cNvSpPr/>
          <p:nvPr/>
        </p:nvSpPr>
        <p:spPr>
          <a:xfrm>
            <a:off x="274320" y="4069080"/>
            <a:ext cx="1051560" cy="804672"/>
          </a:xfrm>
          <a:prstGeom prst="rect">
            <a:avLst/>
          </a:prstGeom>
          <a:noFill/>
          <a:ln/>
        </p:spPr>
        <p:txBody>
          <a:bodyPr wrap="square" rtlCol="0" anchor="ctr"/>
          <a:lstStyle/>
          <a:p>
            <a:pPr algn="ctr" indent="0" marL="0">
              <a:buNone/>
            </a:pPr>
            <a:r>
              <a:rPr lang="en-US" sz="1800" b="1" dirty="0">
                <a:solidFill>
                  <a:srgbClr val="0D1117"/>
                </a:solidFill>
                <a:latin typeface="Calibri" pitchFamily="34" charset="0"/>
                <a:ea typeface="Calibri" pitchFamily="34" charset="-122"/>
                <a:cs typeface="Calibri" pitchFamily="34" charset="-120"/>
              </a:rPr>
              <a:t>4672</a:t>
            </a:r>
            <a:endParaRPr lang="en-US" sz="1800" dirty="0"/>
          </a:p>
        </p:txBody>
      </p:sp>
      <p:sp>
        <p:nvSpPr>
          <p:cNvPr id="22" name="Text 20"/>
          <p:cNvSpPr/>
          <p:nvPr/>
        </p:nvSpPr>
        <p:spPr>
          <a:xfrm>
            <a:off x="1481328" y="4160520"/>
            <a:ext cx="7178040" cy="292608"/>
          </a:xfrm>
          <a:prstGeom prst="rect">
            <a:avLst/>
          </a:prstGeom>
          <a:noFill/>
          <a:ln/>
        </p:spPr>
        <p:txBody>
          <a:bodyPr wrap="square" rtlCol="0" anchor="ctr"/>
          <a:lstStyle/>
          <a:p>
            <a:pPr indent="0" marL="0">
              <a:buNone/>
            </a:pPr>
            <a:r>
              <a:rPr lang="en-US" sz="1300" b="1" dirty="0">
                <a:solidFill>
                  <a:srgbClr val="D2A8FF"/>
                </a:solidFill>
                <a:latin typeface="Calibri" pitchFamily="34" charset="0"/>
                <a:ea typeface="Calibri" pitchFamily="34" charset="-122"/>
                <a:cs typeface="Calibri" pitchFamily="34" charset="-120"/>
              </a:rPr>
              <a:t>Special Privileges</a:t>
            </a:r>
            <a:endParaRPr lang="en-US" sz="1300" dirty="0"/>
          </a:p>
        </p:txBody>
      </p:sp>
      <p:sp>
        <p:nvSpPr>
          <p:cNvPr id="23" name="Text 21"/>
          <p:cNvSpPr/>
          <p:nvPr/>
        </p:nvSpPr>
        <p:spPr>
          <a:xfrm>
            <a:off x="1481328" y="4462272"/>
            <a:ext cx="7178040" cy="36576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Fires when a privileged account logs in. Cross-reference with 4624 to identify which sessions had administrator access.</a:t>
            </a:r>
            <a:endParaRPr lang="en-US" sz="1100" dirty="0"/>
          </a:p>
        </p:txBody>
      </p:sp>
      <p:sp>
        <p:nvSpPr>
          <p:cNvPr id="24" name="Shape 22"/>
          <p:cNvSpPr/>
          <p:nvPr/>
        </p:nvSpPr>
        <p:spPr>
          <a:xfrm>
            <a:off x="274320" y="4736592"/>
            <a:ext cx="8595360" cy="274320"/>
          </a:xfrm>
          <a:prstGeom prst="rect">
            <a:avLst/>
          </a:prstGeom>
          <a:solidFill>
            <a:srgbClr val="001800"/>
          </a:solidFill>
          <a:ln w="12700">
            <a:solidFill>
              <a:srgbClr val="3FB950"/>
            </a:solidFill>
            <a:prstDash val="solid"/>
          </a:ln>
        </p:spPr>
      </p:sp>
      <p:sp>
        <p:nvSpPr>
          <p:cNvPr id="25" name="Text 23"/>
          <p:cNvSpPr/>
          <p:nvPr/>
        </p:nvSpPr>
        <p:spPr>
          <a:xfrm>
            <a:off x="457200" y="4754880"/>
            <a:ext cx="8321040" cy="256032"/>
          </a:xfrm>
          <a:prstGeom prst="rect">
            <a:avLst/>
          </a:prstGeom>
          <a:noFill/>
          <a:ln/>
        </p:spPr>
        <p:txBody>
          <a:bodyPr wrap="square" rtlCol="0" anchor="ctr"/>
          <a:lstStyle/>
          <a:p>
            <a:pPr indent="0" marL="0">
              <a:buNone/>
            </a:pPr>
            <a:r>
              <a:rPr lang="en-US" sz="1000" b="1" dirty="0">
                <a:solidFill>
                  <a:srgbClr val="3FB950"/>
                </a:solidFill>
                <a:latin typeface="Consolas" pitchFamily="34" charset="0"/>
                <a:ea typeface="Consolas" pitchFamily="34" charset="-122"/>
                <a:cs typeface="Consolas" pitchFamily="34" charset="-120"/>
              </a:rPr>
              <a:t>Path in forensic image: C:\Windows\System32\winevt\Logs\Security.evtx  |  Parse with EvtxECmd → CSV → filter in spreadsheet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01168"/>
            <a:ext cx="8412480" cy="530352"/>
          </a:xfrm>
          <a:prstGeom prst="rect">
            <a:avLst/>
          </a:prstGeom>
          <a:noFill/>
          <a:ln/>
        </p:spPr>
        <p:txBody>
          <a:bodyPr wrap="square" rtlCol="0" anchor="ctr"/>
          <a:lstStyle/>
          <a:p>
            <a:pPr indent="0" marL="0">
              <a:buNone/>
            </a:pPr>
            <a:r>
              <a:rPr lang="en-US" sz="2600" b="1" dirty="0">
                <a:solidFill>
                  <a:srgbClr val="E6EDF3"/>
                </a:solidFill>
                <a:latin typeface="Calibri" pitchFamily="34" charset="0"/>
                <a:ea typeface="Calibri" pitchFamily="34" charset="-122"/>
                <a:cs typeface="Calibri" pitchFamily="34" charset="-120"/>
              </a:rPr>
              <a:t>The Windows Registry — Structure and Investigative Value</a:t>
            </a:r>
            <a:endParaRPr lang="en-US" sz="2600" dirty="0"/>
          </a:p>
        </p:txBody>
      </p:sp>
      <p:sp>
        <p:nvSpPr>
          <p:cNvPr id="3" name="Text 1"/>
          <p:cNvSpPr/>
          <p:nvPr/>
        </p:nvSpPr>
        <p:spPr>
          <a:xfrm>
            <a:off x="365760" y="777240"/>
            <a:ext cx="8412480" cy="347472"/>
          </a:xfrm>
          <a:prstGeom prst="rect">
            <a:avLst/>
          </a:prstGeom>
          <a:noFill/>
          <a:ln/>
        </p:spPr>
        <p:txBody>
          <a:bodyPr wrap="square" rtlCol="0" anchor="ctr"/>
          <a:lstStyle/>
          <a:p>
            <a:pPr indent="0" marL="0">
              <a:buNone/>
            </a:pPr>
            <a:r>
              <a:rPr lang="en-US" sz="1250" i="1" dirty="0">
                <a:solidFill>
                  <a:srgbClr val="8B949E"/>
                </a:solidFill>
                <a:latin typeface="Calibri" pitchFamily="34" charset="0"/>
                <a:ea typeface="Calibri" pitchFamily="34" charset="-122"/>
                <a:cs typeface="Calibri" pitchFamily="34" charset="-120"/>
              </a:rPr>
              <a:t>The registry is the central configuration database of Windows. Almost everything a user does leaves a trace in one of its hives.</a:t>
            </a:r>
            <a:endParaRPr lang="en-US" sz="1250" dirty="0"/>
          </a:p>
        </p:txBody>
      </p:sp>
      <p:sp>
        <p:nvSpPr>
          <p:cNvPr id="4" name="Shape 2"/>
          <p:cNvSpPr/>
          <p:nvPr/>
        </p:nvSpPr>
        <p:spPr>
          <a:xfrm>
            <a:off x="274320" y="1207008"/>
            <a:ext cx="8595360" cy="86868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sp>
        <p:nvSpPr>
          <p:cNvPr id="5" name="Shape 3"/>
          <p:cNvSpPr/>
          <p:nvPr/>
        </p:nvSpPr>
        <p:spPr>
          <a:xfrm>
            <a:off x="274320" y="1207008"/>
            <a:ext cx="1417320" cy="868680"/>
          </a:xfrm>
          <a:prstGeom prst="rect">
            <a:avLst/>
          </a:prstGeom>
          <a:solidFill>
            <a:srgbClr val="000000"/>
          </a:solidFill>
          <a:ln w="12700">
            <a:solidFill>
              <a:srgbClr val="F78166"/>
            </a:solidFill>
            <a:prstDash val="solid"/>
          </a:ln>
        </p:spPr>
      </p:sp>
      <p:sp>
        <p:nvSpPr>
          <p:cNvPr id="6" name="Text 4"/>
          <p:cNvSpPr/>
          <p:nvPr/>
        </p:nvSpPr>
        <p:spPr>
          <a:xfrm>
            <a:off x="274320" y="1207008"/>
            <a:ext cx="1417320" cy="868680"/>
          </a:xfrm>
          <a:prstGeom prst="rect">
            <a:avLst/>
          </a:prstGeom>
          <a:noFill/>
          <a:ln/>
        </p:spPr>
        <p:txBody>
          <a:bodyPr wrap="square" rtlCol="0" anchor="ctr"/>
          <a:lstStyle/>
          <a:p>
            <a:pPr algn="ctr" indent="0" marL="0">
              <a:buNone/>
            </a:pPr>
            <a:r>
              <a:rPr lang="en-US" sz="1300" b="1" dirty="0">
                <a:solidFill>
                  <a:srgbClr val="F78166"/>
                </a:solidFill>
                <a:latin typeface="Calibri" pitchFamily="34" charset="0"/>
                <a:ea typeface="Calibri" pitchFamily="34" charset="-122"/>
                <a:cs typeface="Calibri" pitchFamily="34" charset="-120"/>
              </a:rPr>
              <a:t>SYSTEM</a:t>
            </a:r>
            <a:endParaRPr lang="en-US" sz="1300" dirty="0"/>
          </a:p>
        </p:txBody>
      </p:sp>
      <p:sp>
        <p:nvSpPr>
          <p:cNvPr id="7" name="Text 5"/>
          <p:cNvSpPr/>
          <p:nvPr/>
        </p:nvSpPr>
        <p:spPr>
          <a:xfrm>
            <a:off x="1874520" y="1298448"/>
            <a:ext cx="6858000" cy="256032"/>
          </a:xfrm>
          <a:prstGeom prst="rect">
            <a:avLst/>
          </a:prstGeom>
          <a:noFill/>
          <a:ln/>
        </p:spPr>
        <p:txBody>
          <a:bodyPr wrap="square" rtlCol="0" anchor="ctr"/>
          <a:lstStyle/>
          <a:p>
            <a:pPr indent="0" marL="0">
              <a:buNone/>
            </a:pPr>
            <a:r>
              <a:rPr lang="en-US" sz="1000" dirty="0">
                <a:solidFill>
                  <a:srgbClr val="D2A8FF"/>
                </a:solidFill>
                <a:latin typeface="Consolas" pitchFamily="34" charset="0"/>
                <a:ea typeface="Consolas" pitchFamily="34" charset="-122"/>
                <a:cs typeface="Consolas" pitchFamily="34" charset="-120"/>
              </a:rPr>
              <a:t>C:\Windows\System32\Config\SYSTEM</a:t>
            </a:r>
            <a:endParaRPr lang="en-US" sz="1000" dirty="0"/>
          </a:p>
        </p:txBody>
      </p:sp>
      <p:sp>
        <p:nvSpPr>
          <p:cNvPr id="8" name="Text 6"/>
          <p:cNvSpPr/>
          <p:nvPr/>
        </p:nvSpPr>
        <p:spPr>
          <a:xfrm>
            <a:off x="1874520" y="1591056"/>
            <a:ext cx="6858000" cy="41148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Hardware config, timezone, network settings, USB device history, service configurations, last shutdown time</a:t>
            </a:r>
            <a:endParaRPr lang="en-US" sz="1100" dirty="0"/>
          </a:p>
        </p:txBody>
      </p:sp>
      <p:sp>
        <p:nvSpPr>
          <p:cNvPr id="9" name="Shape 7"/>
          <p:cNvSpPr/>
          <p:nvPr/>
        </p:nvSpPr>
        <p:spPr>
          <a:xfrm>
            <a:off x="274320" y="2194560"/>
            <a:ext cx="8595360" cy="86868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sp>
        <p:nvSpPr>
          <p:cNvPr id="10" name="Shape 8"/>
          <p:cNvSpPr/>
          <p:nvPr/>
        </p:nvSpPr>
        <p:spPr>
          <a:xfrm>
            <a:off x="274320" y="2194560"/>
            <a:ext cx="1417320" cy="868680"/>
          </a:xfrm>
          <a:prstGeom prst="rect">
            <a:avLst/>
          </a:prstGeom>
          <a:solidFill>
            <a:srgbClr val="000000"/>
          </a:solidFill>
          <a:ln w="12700">
            <a:solidFill>
              <a:srgbClr val="58A6FF"/>
            </a:solidFill>
            <a:prstDash val="solid"/>
          </a:ln>
        </p:spPr>
      </p:sp>
      <p:sp>
        <p:nvSpPr>
          <p:cNvPr id="11" name="Text 9"/>
          <p:cNvSpPr/>
          <p:nvPr/>
        </p:nvSpPr>
        <p:spPr>
          <a:xfrm>
            <a:off x="274320" y="2194560"/>
            <a:ext cx="1417320" cy="868680"/>
          </a:xfrm>
          <a:prstGeom prst="rect">
            <a:avLst/>
          </a:prstGeom>
          <a:noFill/>
          <a:ln/>
        </p:spPr>
        <p:txBody>
          <a:bodyPr wrap="square" rtlCol="0" anchor="ctr"/>
          <a:lstStyle/>
          <a:p>
            <a:pPr algn="ctr" indent="0" marL="0">
              <a:buNone/>
            </a:pPr>
            <a:r>
              <a:rPr lang="en-US" sz="1300" b="1" dirty="0">
                <a:solidFill>
                  <a:srgbClr val="58A6FF"/>
                </a:solidFill>
                <a:latin typeface="Calibri" pitchFamily="34" charset="0"/>
                <a:ea typeface="Calibri" pitchFamily="34" charset="-122"/>
                <a:cs typeface="Calibri" pitchFamily="34" charset="-120"/>
              </a:rPr>
              <a:t>SOFTWARE</a:t>
            </a:r>
            <a:endParaRPr lang="en-US" sz="1300" dirty="0"/>
          </a:p>
        </p:txBody>
      </p:sp>
      <p:sp>
        <p:nvSpPr>
          <p:cNvPr id="12" name="Text 10"/>
          <p:cNvSpPr/>
          <p:nvPr/>
        </p:nvSpPr>
        <p:spPr>
          <a:xfrm>
            <a:off x="1874520" y="2286000"/>
            <a:ext cx="6858000" cy="256032"/>
          </a:xfrm>
          <a:prstGeom prst="rect">
            <a:avLst/>
          </a:prstGeom>
          <a:noFill/>
          <a:ln/>
        </p:spPr>
        <p:txBody>
          <a:bodyPr wrap="square" rtlCol="0" anchor="ctr"/>
          <a:lstStyle/>
          <a:p>
            <a:pPr indent="0" marL="0">
              <a:buNone/>
            </a:pPr>
            <a:r>
              <a:rPr lang="en-US" sz="1000" dirty="0">
                <a:solidFill>
                  <a:srgbClr val="D2A8FF"/>
                </a:solidFill>
                <a:latin typeface="Consolas" pitchFamily="34" charset="0"/>
                <a:ea typeface="Consolas" pitchFamily="34" charset="-122"/>
                <a:cs typeface="Consolas" pitchFamily="34" charset="-120"/>
              </a:rPr>
              <a:t>C:\Windows\System32\Config\SOFTWARE</a:t>
            </a:r>
            <a:endParaRPr lang="en-US" sz="1000" dirty="0"/>
          </a:p>
        </p:txBody>
      </p:sp>
      <p:sp>
        <p:nvSpPr>
          <p:cNvPr id="13" name="Text 11"/>
          <p:cNvSpPr/>
          <p:nvPr/>
        </p:nvSpPr>
        <p:spPr>
          <a:xfrm>
            <a:off x="1874520" y="2578608"/>
            <a:ext cx="6858000" cy="41148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Installed programs and timestamps, OS registration details, default browser, IE settings, wireless network profiles</a:t>
            </a:r>
            <a:endParaRPr lang="en-US" sz="1100" dirty="0"/>
          </a:p>
        </p:txBody>
      </p:sp>
      <p:sp>
        <p:nvSpPr>
          <p:cNvPr id="14" name="Shape 12"/>
          <p:cNvSpPr/>
          <p:nvPr/>
        </p:nvSpPr>
        <p:spPr>
          <a:xfrm>
            <a:off x="274320" y="3182112"/>
            <a:ext cx="8595360" cy="86868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sp>
        <p:nvSpPr>
          <p:cNvPr id="15" name="Shape 13"/>
          <p:cNvSpPr/>
          <p:nvPr/>
        </p:nvSpPr>
        <p:spPr>
          <a:xfrm>
            <a:off x="274320" y="3182112"/>
            <a:ext cx="1417320" cy="868680"/>
          </a:xfrm>
          <a:prstGeom prst="rect">
            <a:avLst/>
          </a:prstGeom>
          <a:solidFill>
            <a:srgbClr val="000000"/>
          </a:solidFill>
          <a:ln w="12700">
            <a:solidFill>
              <a:srgbClr val="D2A8FF"/>
            </a:solidFill>
            <a:prstDash val="solid"/>
          </a:ln>
        </p:spPr>
      </p:sp>
      <p:sp>
        <p:nvSpPr>
          <p:cNvPr id="16" name="Text 14"/>
          <p:cNvSpPr/>
          <p:nvPr/>
        </p:nvSpPr>
        <p:spPr>
          <a:xfrm>
            <a:off x="274320" y="3182112"/>
            <a:ext cx="1417320" cy="868680"/>
          </a:xfrm>
          <a:prstGeom prst="rect">
            <a:avLst/>
          </a:prstGeom>
          <a:noFill/>
          <a:ln/>
        </p:spPr>
        <p:txBody>
          <a:bodyPr wrap="square" rtlCol="0" anchor="ctr"/>
          <a:lstStyle/>
          <a:p>
            <a:pPr algn="ctr" indent="0" marL="0">
              <a:buNone/>
            </a:pPr>
            <a:r>
              <a:rPr lang="en-US" sz="1300" b="1" dirty="0">
                <a:solidFill>
                  <a:srgbClr val="D2A8FF"/>
                </a:solidFill>
                <a:latin typeface="Calibri" pitchFamily="34" charset="0"/>
                <a:ea typeface="Calibri" pitchFamily="34" charset="-122"/>
                <a:cs typeface="Calibri" pitchFamily="34" charset="-120"/>
              </a:rPr>
              <a:t>SAM</a:t>
            </a:r>
            <a:endParaRPr lang="en-US" sz="1300" dirty="0"/>
          </a:p>
        </p:txBody>
      </p:sp>
      <p:sp>
        <p:nvSpPr>
          <p:cNvPr id="17" name="Text 15"/>
          <p:cNvSpPr/>
          <p:nvPr/>
        </p:nvSpPr>
        <p:spPr>
          <a:xfrm>
            <a:off x="1874520" y="3273552"/>
            <a:ext cx="6858000" cy="256032"/>
          </a:xfrm>
          <a:prstGeom prst="rect">
            <a:avLst/>
          </a:prstGeom>
          <a:noFill/>
          <a:ln/>
        </p:spPr>
        <p:txBody>
          <a:bodyPr wrap="square" rtlCol="0" anchor="ctr"/>
          <a:lstStyle/>
          <a:p>
            <a:pPr indent="0" marL="0">
              <a:buNone/>
            </a:pPr>
            <a:r>
              <a:rPr lang="en-US" sz="1000" dirty="0">
                <a:solidFill>
                  <a:srgbClr val="D2A8FF"/>
                </a:solidFill>
                <a:latin typeface="Consolas" pitchFamily="34" charset="0"/>
                <a:ea typeface="Consolas" pitchFamily="34" charset="-122"/>
                <a:cs typeface="Consolas" pitchFamily="34" charset="-120"/>
              </a:rPr>
              <a:t>C:\Windows\System32\Config\SAM</a:t>
            </a:r>
            <a:endParaRPr lang="en-US" sz="1000" dirty="0"/>
          </a:p>
        </p:txBody>
      </p:sp>
      <p:sp>
        <p:nvSpPr>
          <p:cNvPr id="18" name="Text 16"/>
          <p:cNvSpPr/>
          <p:nvPr/>
        </p:nvSpPr>
        <p:spPr>
          <a:xfrm>
            <a:off x="1874520" y="3566160"/>
            <a:ext cx="6858000" cy="41148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Local user accounts, password hashes, login counts, account creation dates, last login times. Requires SYSTEM hive for decryption.</a:t>
            </a:r>
            <a:endParaRPr lang="en-US" sz="1100" dirty="0"/>
          </a:p>
        </p:txBody>
      </p:sp>
      <p:sp>
        <p:nvSpPr>
          <p:cNvPr id="19" name="Shape 17"/>
          <p:cNvSpPr/>
          <p:nvPr/>
        </p:nvSpPr>
        <p:spPr>
          <a:xfrm>
            <a:off x="274320" y="4169664"/>
            <a:ext cx="8595360" cy="86868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sp>
        <p:nvSpPr>
          <p:cNvPr id="20" name="Shape 18"/>
          <p:cNvSpPr/>
          <p:nvPr/>
        </p:nvSpPr>
        <p:spPr>
          <a:xfrm>
            <a:off x="274320" y="4169664"/>
            <a:ext cx="1417320" cy="868680"/>
          </a:xfrm>
          <a:prstGeom prst="rect">
            <a:avLst/>
          </a:prstGeom>
          <a:solidFill>
            <a:srgbClr val="000000"/>
          </a:solidFill>
          <a:ln w="12700">
            <a:solidFill>
              <a:srgbClr val="3FB950"/>
            </a:solidFill>
            <a:prstDash val="solid"/>
          </a:ln>
        </p:spPr>
      </p:sp>
      <p:sp>
        <p:nvSpPr>
          <p:cNvPr id="21" name="Text 19"/>
          <p:cNvSpPr/>
          <p:nvPr/>
        </p:nvSpPr>
        <p:spPr>
          <a:xfrm>
            <a:off x="274320" y="4169664"/>
            <a:ext cx="1417320" cy="868680"/>
          </a:xfrm>
          <a:prstGeom prst="rect">
            <a:avLst/>
          </a:prstGeom>
          <a:noFill/>
          <a:ln/>
        </p:spPr>
        <p:txBody>
          <a:bodyPr wrap="square" rtlCol="0" anchor="ctr"/>
          <a:lstStyle/>
          <a:p>
            <a:pPr algn="ctr" indent="0" marL="0">
              <a:buNone/>
            </a:pPr>
            <a:r>
              <a:rPr lang="en-US" sz="1300" b="1" dirty="0">
                <a:solidFill>
                  <a:srgbClr val="3FB950"/>
                </a:solidFill>
                <a:latin typeface="Calibri" pitchFamily="34" charset="0"/>
                <a:ea typeface="Calibri" pitchFamily="34" charset="-122"/>
                <a:cs typeface="Calibri" pitchFamily="34" charset="-120"/>
              </a:rPr>
              <a:t>NTUSER.DAT</a:t>
            </a:r>
            <a:endParaRPr lang="en-US" sz="1300" dirty="0"/>
          </a:p>
        </p:txBody>
      </p:sp>
      <p:sp>
        <p:nvSpPr>
          <p:cNvPr id="22" name="Text 20"/>
          <p:cNvSpPr/>
          <p:nvPr/>
        </p:nvSpPr>
        <p:spPr>
          <a:xfrm>
            <a:off x="1874520" y="4261104"/>
            <a:ext cx="6858000" cy="256032"/>
          </a:xfrm>
          <a:prstGeom prst="rect">
            <a:avLst/>
          </a:prstGeom>
          <a:noFill/>
          <a:ln/>
        </p:spPr>
        <p:txBody>
          <a:bodyPr wrap="square" rtlCol="0" anchor="ctr"/>
          <a:lstStyle/>
          <a:p>
            <a:pPr indent="0" marL="0">
              <a:buNone/>
            </a:pPr>
            <a:r>
              <a:rPr lang="en-US" sz="1000" dirty="0">
                <a:solidFill>
                  <a:srgbClr val="D2A8FF"/>
                </a:solidFill>
                <a:latin typeface="Consolas" pitchFamily="34" charset="0"/>
                <a:ea typeface="Consolas" pitchFamily="34" charset="-122"/>
                <a:cs typeface="Consolas" pitchFamily="34" charset="-120"/>
              </a:rPr>
              <a:t>C:\Users\username\NTUSER.DAT</a:t>
            </a:r>
            <a:endParaRPr lang="en-US" sz="1000" dirty="0"/>
          </a:p>
        </p:txBody>
      </p:sp>
      <p:sp>
        <p:nvSpPr>
          <p:cNvPr id="23" name="Text 21"/>
          <p:cNvSpPr/>
          <p:nvPr/>
        </p:nvSpPr>
        <p:spPr>
          <a:xfrm>
            <a:off x="1874520" y="4553712"/>
            <a:ext cx="6858000" cy="41148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Per-user activity: recently opened files, MRU lists for every application, typed URLs, Run dialog history, printer settings, app passwords</a:t>
            </a:r>
            <a:endParaRPr lang="en-US" sz="1100" dirty="0"/>
          </a:p>
        </p:txBody>
      </p:sp>
      <p:sp>
        <p:nvSpPr>
          <p:cNvPr id="24" name="Text 22"/>
          <p:cNvSpPr/>
          <p:nvPr/>
        </p:nvSpPr>
        <p:spPr>
          <a:xfrm>
            <a:off x="274320" y="4828032"/>
            <a:ext cx="8595360" cy="201168"/>
          </a:xfrm>
          <a:prstGeom prst="rect">
            <a:avLst/>
          </a:prstGeom>
          <a:noFill/>
          <a:ln/>
        </p:spPr>
        <p:txBody>
          <a:bodyPr wrap="square" rtlCol="0" anchor="ctr"/>
          <a:lstStyle/>
          <a:p>
            <a:pPr algn="ctr" indent="0" marL="0">
              <a:buNone/>
            </a:pPr>
            <a:r>
              <a:rPr lang="en-US" sz="1000" i="1" dirty="0">
                <a:solidFill>
                  <a:srgbClr val="8B949E"/>
                </a:solidFill>
                <a:latin typeface="Calibri" pitchFamily="34" charset="0"/>
                <a:ea typeface="Calibri" pitchFamily="34" charset="-122"/>
                <a:cs typeface="Calibri" pitchFamily="34" charset="-120"/>
              </a:rPr>
              <a:t>To use an external tool: extract hive files from Autopsy via right-click → Extract File, then open in Registry Explorer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01168"/>
            <a:ext cx="8412480" cy="530352"/>
          </a:xfrm>
          <a:prstGeom prst="rect">
            <a:avLst/>
          </a:prstGeom>
          <a:noFill/>
          <a:ln/>
        </p:spPr>
        <p:txBody>
          <a:bodyPr wrap="square" rtlCol="0" anchor="ctr"/>
          <a:lstStyle/>
          <a:p>
            <a:pPr indent="0" marL="0">
              <a:buNone/>
            </a:pPr>
            <a:r>
              <a:rPr lang="en-US" sz="2600" b="1" dirty="0">
                <a:solidFill>
                  <a:srgbClr val="E6EDF3"/>
                </a:solidFill>
                <a:latin typeface="Calibri" pitchFamily="34" charset="0"/>
                <a:ea typeface="Calibri" pitchFamily="34" charset="-122"/>
                <a:cs typeface="Calibri" pitchFamily="34" charset="-120"/>
              </a:rPr>
              <a:t>Registry: System Configuration &amp; Network Info</a:t>
            </a:r>
            <a:endParaRPr lang="en-US" sz="2600" dirty="0"/>
          </a:p>
        </p:txBody>
      </p:sp>
      <p:sp>
        <p:nvSpPr>
          <p:cNvPr id="3" name="Text 1"/>
          <p:cNvSpPr/>
          <p:nvPr/>
        </p:nvSpPr>
        <p:spPr>
          <a:xfrm>
            <a:off x="365760" y="777240"/>
            <a:ext cx="8412480" cy="347472"/>
          </a:xfrm>
          <a:prstGeom prst="rect">
            <a:avLst/>
          </a:prstGeom>
          <a:noFill/>
          <a:ln/>
        </p:spPr>
        <p:txBody>
          <a:bodyPr wrap="square" rtlCol="0" anchor="ctr"/>
          <a:lstStyle/>
          <a:p>
            <a:pPr indent="0" marL="0">
              <a:buNone/>
            </a:pPr>
            <a:r>
              <a:rPr lang="en-US" sz="1250" i="1" dirty="0">
                <a:solidFill>
                  <a:srgbClr val="8B949E"/>
                </a:solidFill>
                <a:latin typeface="Calibri" pitchFamily="34" charset="0"/>
                <a:ea typeface="Calibri" pitchFamily="34" charset="-122"/>
                <a:cs typeface="Calibri" pitchFamily="34" charset="-120"/>
              </a:rPr>
              <a:t>The SYSTEM hive is the foundation of the forensic baseline — it links the image to a specific machine, network, and time.</a:t>
            </a:r>
            <a:endParaRPr lang="en-US" sz="1250" dirty="0"/>
          </a:p>
        </p:txBody>
      </p:sp>
      <p:sp>
        <p:nvSpPr>
          <p:cNvPr id="4" name="Shape 2"/>
          <p:cNvSpPr/>
          <p:nvPr/>
        </p:nvSpPr>
        <p:spPr>
          <a:xfrm>
            <a:off x="274320" y="1207008"/>
            <a:ext cx="4114800" cy="749808"/>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sp>
        <p:nvSpPr>
          <p:cNvPr id="5" name="Shape 3"/>
          <p:cNvSpPr/>
          <p:nvPr/>
        </p:nvSpPr>
        <p:spPr>
          <a:xfrm>
            <a:off x="274320" y="1207008"/>
            <a:ext cx="109728" cy="749808"/>
          </a:xfrm>
          <a:prstGeom prst="rect">
            <a:avLst/>
          </a:prstGeom>
          <a:solidFill>
            <a:srgbClr val="F78166"/>
          </a:solidFill>
          <a:ln w="12700">
            <a:solidFill>
              <a:srgbClr val="F78166"/>
            </a:solidFill>
            <a:prstDash val="solid"/>
          </a:ln>
        </p:spPr>
      </p:sp>
      <p:sp>
        <p:nvSpPr>
          <p:cNvPr id="6" name="Text 4"/>
          <p:cNvSpPr/>
          <p:nvPr/>
        </p:nvSpPr>
        <p:spPr>
          <a:xfrm>
            <a:off x="475488" y="1271016"/>
            <a:ext cx="3794760" cy="274320"/>
          </a:xfrm>
          <a:prstGeom prst="rect">
            <a:avLst/>
          </a:prstGeom>
          <a:noFill/>
          <a:ln/>
        </p:spPr>
        <p:txBody>
          <a:bodyPr wrap="square" rtlCol="0" anchor="ctr"/>
          <a:lstStyle/>
          <a:p>
            <a:pPr indent="0" marL="0">
              <a:buNone/>
            </a:pPr>
            <a:r>
              <a:rPr lang="en-US" sz="1200" b="1" dirty="0">
                <a:solidFill>
                  <a:srgbClr val="F78166"/>
                </a:solidFill>
                <a:latin typeface="Calibri" pitchFamily="34" charset="0"/>
                <a:ea typeface="Calibri" pitchFamily="34" charset="-122"/>
                <a:cs typeface="Calibri" pitchFamily="34" charset="-120"/>
              </a:rPr>
              <a:t>Computer Name</a:t>
            </a:r>
            <a:endParaRPr lang="en-US" sz="1200" dirty="0"/>
          </a:p>
        </p:txBody>
      </p:sp>
      <p:sp>
        <p:nvSpPr>
          <p:cNvPr id="7" name="Text 5"/>
          <p:cNvSpPr/>
          <p:nvPr/>
        </p:nvSpPr>
        <p:spPr>
          <a:xfrm>
            <a:off x="475488" y="1554480"/>
            <a:ext cx="3794760" cy="347472"/>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Links the image to a specific physical device. Essential for chain of custody.</a:t>
            </a:r>
            <a:endParaRPr lang="en-US" sz="1000" dirty="0"/>
          </a:p>
        </p:txBody>
      </p:sp>
      <p:sp>
        <p:nvSpPr>
          <p:cNvPr id="8" name="Shape 6"/>
          <p:cNvSpPr/>
          <p:nvPr/>
        </p:nvSpPr>
        <p:spPr>
          <a:xfrm>
            <a:off x="4572000" y="1207008"/>
            <a:ext cx="4114800" cy="749808"/>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sp>
        <p:nvSpPr>
          <p:cNvPr id="9" name="Shape 7"/>
          <p:cNvSpPr/>
          <p:nvPr/>
        </p:nvSpPr>
        <p:spPr>
          <a:xfrm>
            <a:off x="4572000" y="1207008"/>
            <a:ext cx="109728" cy="749808"/>
          </a:xfrm>
          <a:prstGeom prst="rect">
            <a:avLst/>
          </a:prstGeom>
          <a:solidFill>
            <a:srgbClr val="F78166"/>
          </a:solidFill>
          <a:ln w="12700">
            <a:solidFill>
              <a:srgbClr val="F78166"/>
            </a:solidFill>
            <a:prstDash val="solid"/>
          </a:ln>
        </p:spPr>
      </p:sp>
      <p:sp>
        <p:nvSpPr>
          <p:cNvPr id="10" name="Text 8"/>
          <p:cNvSpPr/>
          <p:nvPr/>
        </p:nvSpPr>
        <p:spPr>
          <a:xfrm>
            <a:off x="4773168" y="1271016"/>
            <a:ext cx="3794760" cy="274320"/>
          </a:xfrm>
          <a:prstGeom prst="rect">
            <a:avLst/>
          </a:prstGeom>
          <a:noFill/>
          <a:ln/>
        </p:spPr>
        <p:txBody>
          <a:bodyPr wrap="square" rtlCol="0" anchor="ctr"/>
          <a:lstStyle/>
          <a:p>
            <a:pPr indent="0" marL="0">
              <a:buNone/>
            </a:pPr>
            <a:r>
              <a:rPr lang="en-US" sz="1200" b="1" dirty="0">
                <a:solidFill>
                  <a:srgbClr val="F78166"/>
                </a:solidFill>
                <a:latin typeface="Calibri" pitchFamily="34" charset="0"/>
                <a:ea typeface="Calibri" pitchFamily="34" charset="-122"/>
                <a:cs typeface="Calibri" pitchFamily="34" charset="-120"/>
              </a:rPr>
              <a:t>Time Zone</a:t>
            </a:r>
            <a:endParaRPr lang="en-US" sz="1200" dirty="0"/>
          </a:p>
        </p:txBody>
      </p:sp>
      <p:sp>
        <p:nvSpPr>
          <p:cNvPr id="11" name="Text 9"/>
          <p:cNvSpPr/>
          <p:nvPr/>
        </p:nvSpPr>
        <p:spPr>
          <a:xfrm>
            <a:off x="4773168" y="1554480"/>
            <a:ext cx="3794760" cy="347472"/>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Cross-reference with Autopsy's timezone setting. Discrepancies need to be documented.</a:t>
            </a:r>
            <a:endParaRPr lang="en-US" sz="1000" dirty="0"/>
          </a:p>
        </p:txBody>
      </p:sp>
      <p:sp>
        <p:nvSpPr>
          <p:cNvPr id="12" name="Shape 10"/>
          <p:cNvSpPr/>
          <p:nvPr/>
        </p:nvSpPr>
        <p:spPr>
          <a:xfrm>
            <a:off x="274320" y="2048256"/>
            <a:ext cx="4114800" cy="749808"/>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sp>
        <p:nvSpPr>
          <p:cNvPr id="13" name="Shape 11"/>
          <p:cNvSpPr/>
          <p:nvPr/>
        </p:nvSpPr>
        <p:spPr>
          <a:xfrm>
            <a:off x="274320" y="2048256"/>
            <a:ext cx="109728" cy="749808"/>
          </a:xfrm>
          <a:prstGeom prst="rect">
            <a:avLst/>
          </a:prstGeom>
          <a:solidFill>
            <a:srgbClr val="F78166"/>
          </a:solidFill>
          <a:ln w="12700">
            <a:solidFill>
              <a:srgbClr val="F78166"/>
            </a:solidFill>
            <a:prstDash val="solid"/>
          </a:ln>
        </p:spPr>
      </p:sp>
      <p:sp>
        <p:nvSpPr>
          <p:cNvPr id="14" name="Text 12"/>
          <p:cNvSpPr/>
          <p:nvPr/>
        </p:nvSpPr>
        <p:spPr>
          <a:xfrm>
            <a:off x="475488" y="2112264"/>
            <a:ext cx="3794760" cy="274320"/>
          </a:xfrm>
          <a:prstGeom prst="rect">
            <a:avLst/>
          </a:prstGeom>
          <a:noFill/>
          <a:ln/>
        </p:spPr>
        <p:txBody>
          <a:bodyPr wrap="square" rtlCol="0" anchor="ctr"/>
          <a:lstStyle/>
          <a:p>
            <a:pPr indent="0" marL="0">
              <a:buNone/>
            </a:pPr>
            <a:r>
              <a:rPr lang="en-US" sz="1200" b="1" dirty="0">
                <a:solidFill>
                  <a:srgbClr val="F78166"/>
                </a:solidFill>
                <a:latin typeface="Calibri" pitchFamily="34" charset="0"/>
                <a:ea typeface="Calibri" pitchFamily="34" charset="-122"/>
                <a:cs typeface="Calibri" pitchFamily="34" charset="-120"/>
              </a:rPr>
              <a:t>IP &amp; DHCP Info</a:t>
            </a:r>
            <a:endParaRPr lang="en-US" sz="1200" dirty="0"/>
          </a:p>
        </p:txBody>
      </p:sp>
      <p:sp>
        <p:nvSpPr>
          <p:cNvPr id="15" name="Text 13"/>
          <p:cNvSpPr/>
          <p:nvPr/>
        </p:nvSpPr>
        <p:spPr>
          <a:xfrm>
            <a:off x="475488" y="2395728"/>
            <a:ext cx="3794760" cy="347472"/>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Shows the machine's network address and which DHCP server assigned it. Can place the machine on a specific network at a specific time.</a:t>
            </a:r>
            <a:endParaRPr lang="en-US" sz="1000" dirty="0"/>
          </a:p>
        </p:txBody>
      </p:sp>
      <p:sp>
        <p:nvSpPr>
          <p:cNvPr id="16" name="Shape 14"/>
          <p:cNvSpPr/>
          <p:nvPr/>
        </p:nvSpPr>
        <p:spPr>
          <a:xfrm>
            <a:off x="4572000" y="2048256"/>
            <a:ext cx="4114800" cy="749808"/>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sp>
        <p:nvSpPr>
          <p:cNvPr id="17" name="Shape 15"/>
          <p:cNvSpPr/>
          <p:nvPr/>
        </p:nvSpPr>
        <p:spPr>
          <a:xfrm>
            <a:off x="4572000" y="2048256"/>
            <a:ext cx="109728" cy="749808"/>
          </a:xfrm>
          <a:prstGeom prst="rect">
            <a:avLst/>
          </a:prstGeom>
          <a:solidFill>
            <a:srgbClr val="F78166"/>
          </a:solidFill>
          <a:ln w="12700">
            <a:solidFill>
              <a:srgbClr val="F78166"/>
            </a:solidFill>
            <a:prstDash val="solid"/>
          </a:ln>
        </p:spPr>
      </p:sp>
      <p:sp>
        <p:nvSpPr>
          <p:cNvPr id="18" name="Text 16"/>
          <p:cNvSpPr/>
          <p:nvPr/>
        </p:nvSpPr>
        <p:spPr>
          <a:xfrm>
            <a:off x="4773168" y="2112264"/>
            <a:ext cx="3794760" cy="274320"/>
          </a:xfrm>
          <a:prstGeom prst="rect">
            <a:avLst/>
          </a:prstGeom>
          <a:noFill/>
          <a:ln/>
        </p:spPr>
        <p:txBody>
          <a:bodyPr wrap="square" rtlCol="0" anchor="ctr"/>
          <a:lstStyle/>
          <a:p>
            <a:pPr indent="0" marL="0">
              <a:buNone/>
            </a:pPr>
            <a:r>
              <a:rPr lang="en-US" sz="1200" b="1" dirty="0">
                <a:solidFill>
                  <a:srgbClr val="F78166"/>
                </a:solidFill>
                <a:latin typeface="Calibri" pitchFamily="34" charset="0"/>
                <a:ea typeface="Calibri" pitchFamily="34" charset="-122"/>
                <a:cs typeface="Calibri" pitchFamily="34" charset="-120"/>
              </a:rPr>
              <a:t>Last Shutdown</a:t>
            </a:r>
            <a:endParaRPr lang="en-US" sz="1200" dirty="0"/>
          </a:p>
        </p:txBody>
      </p:sp>
      <p:sp>
        <p:nvSpPr>
          <p:cNvPr id="19" name="Text 17"/>
          <p:cNvSpPr/>
          <p:nvPr/>
        </p:nvSpPr>
        <p:spPr>
          <a:xfrm>
            <a:off x="4773168" y="2395728"/>
            <a:ext cx="3794760" cy="347472"/>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The most recent clean shutdown time. Useful for establishing the last time the system was in use.</a:t>
            </a:r>
            <a:endParaRPr lang="en-US" sz="1000" dirty="0"/>
          </a:p>
        </p:txBody>
      </p:sp>
      <p:sp>
        <p:nvSpPr>
          <p:cNvPr id="20" name="Shape 18"/>
          <p:cNvSpPr/>
          <p:nvPr/>
        </p:nvSpPr>
        <p:spPr>
          <a:xfrm>
            <a:off x="274320" y="2889504"/>
            <a:ext cx="4114800" cy="749808"/>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sp>
        <p:nvSpPr>
          <p:cNvPr id="21" name="Shape 19"/>
          <p:cNvSpPr/>
          <p:nvPr/>
        </p:nvSpPr>
        <p:spPr>
          <a:xfrm>
            <a:off x="274320" y="2889504"/>
            <a:ext cx="109728" cy="749808"/>
          </a:xfrm>
          <a:prstGeom prst="rect">
            <a:avLst/>
          </a:prstGeom>
          <a:solidFill>
            <a:srgbClr val="F78166"/>
          </a:solidFill>
          <a:ln w="12700">
            <a:solidFill>
              <a:srgbClr val="F78166"/>
            </a:solidFill>
            <a:prstDash val="solid"/>
          </a:ln>
        </p:spPr>
      </p:sp>
      <p:sp>
        <p:nvSpPr>
          <p:cNvPr id="22" name="Text 20"/>
          <p:cNvSpPr/>
          <p:nvPr/>
        </p:nvSpPr>
        <p:spPr>
          <a:xfrm>
            <a:off x="475488" y="2953512"/>
            <a:ext cx="3794760" cy="274320"/>
          </a:xfrm>
          <a:prstGeom prst="rect">
            <a:avLst/>
          </a:prstGeom>
          <a:noFill/>
          <a:ln/>
        </p:spPr>
        <p:txBody>
          <a:bodyPr wrap="square" rtlCol="0" anchor="ctr"/>
          <a:lstStyle/>
          <a:p>
            <a:pPr indent="0" marL="0">
              <a:buNone/>
            </a:pPr>
            <a:r>
              <a:rPr lang="en-US" sz="1200" b="1" dirty="0">
                <a:solidFill>
                  <a:srgbClr val="F78166"/>
                </a:solidFill>
                <a:latin typeface="Calibri" pitchFamily="34" charset="0"/>
                <a:ea typeface="Calibri" pitchFamily="34" charset="-122"/>
                <a:cs typeface="Calibri" pitchFamily="34" charset="-120"/>
              </a:rPr>
              <a:t>Prefetch Setting</a:t>
            </a:r>
            <a:endParaRPr lang="en-US" sz="1200" dirty="0"/>
          </a:p>
        </p:txBody>
      </p:sp>
      <p:sp>
        <p:nvSpPr>
          <p:cNvPr id="23" name="Text 21"/>
          <p:cNvSpPr/>
          <p:nvPr/>
        </p:nvSpPr>
        <p:spPr>
          <a:xfrm>
            <a:off x="475488" y="3236976"/>
            <a:ext cx="3794760" cy="347472"/>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Confirms prefetch was enabled, validating the prefetch artifacts found in Part A.</a:t>
            </a:r>
            <a:endParaRPr lang="en-US" sz="1000" dirty="0"/>
          </a:p>
        </p:txBody>
      </p:sp>
      <p:sp>
        <p:nvSpPr>
          <p:cNvPr id="24" name="Shape 22"/>
          <p:cNvSpPr/>
          <p:nvPr/>
        </p:nvSpPr>
        <p:spPr>
          <a:xfrm>
            <a:off x="4572000" y="2889504"/>
            <a:ext cx="4114800" cy="749808"/>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sp>
        <p:nvSpPr>
          <p:cNvPr id="25" name="Shape 23"/>
          <p:cNvSpPr/>
          <p:nvPr/>
        </p:nvSpPr>
        <p:spPr>
          <a:xfrm>
            <a:off x="4572000" y="2889504"/>
            <a:ext cx="109728" cy="749808"/>
          </a:xfrm>
          <a:prstGeom prst="rect">
            <a:avLst/>
          </a:prstGeom>
          <a:solidFill>
            <a:srgbClr val="F78166"/>
          </a:solidFill>
          <a:ln w="12700">
            <a:solidFill>
              <a:srgbClr val="F78166"/>
            </a:solidFill>
            <a:prstDash val="solid"/>
          </a:ln>
        </p:spPr>
      </p:sp>
      <p:sp>
        <p:nvSpPr>
          <p:cNvPr id="26" name="Text 24"/>
          <p:cNvSpPr/>
          <p:nvPr/>
        </p:nvSpPr>
        <p:spPr>
          <a:xfrm>
            <a:off x="4773168" y="2953512"/>
            <a:ext cx="3794760" cy="274320"/>
          </a:xfrm>
          <a:prstGeom prst="rect">
            <a:avLst/>
          </a:prstGeom>
          <a:noFill/>
          <a:ln/>
        </p:spPr>
        <p:txBody>
          <a:bodyPr wrap="square" rtlCol="0" anchor="ctr"/>
          <a:lstStyle/>
          <a:p>
            <a:pPr indent="0" marL="0">
              <a:buNone/>
            </a:pPr>
            <a:r>
              <a:rPr lang="en-US" sz="1200" b="1" dirty="0">
                <a:solidFill>
                  <a:srgbClr val="F78166"/>
                </a:solidFill>
                <a:latin typeface="Calibri" pitchFamily="34" charset="0"/>
                <a:ea typeface="Calibri" pitchFamily="34" charset="-122"/>
                <a:cs typeface="Calibri" pitchFamily="34" charset="-120"/>
              </a:rPr>
              <a:t>TrueCrypt Service</a:t>
            </a:r>
            <a:endParaRPr lang="en-US" sz="1200" dirty="0"/>
          </a:p>
        </p:txBody>
      </p:sp>
      <p:sp>
        <p:nvSpPr>
          <p:cNvPr id="27" name="Text 25"/>
          <p:cNvSpPr/>
          <p:nvPr/>
        </p:nvSpPr>
        <p:spPr>
          <a:xfrm>
            <a:off x="4773168" y="3236976"/>
            <a:ext cx="3794760" cy="347472"/>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TrueCrypt is an encryption tool. Its start type tells you whether it was configured to run at boot — meaning encrypted volumes may have been mounted regularly.</a:t>
            </a:r>
            <a:endParaRPr lang="en-US" sz="1000" dirty="0"/>
          </a:p>
        </p:txBody>
      </p:sp>
      <p:sp>
        <p:nvSpPr>
          <p:cNvPr id="28" name="Shape 26"/>
          <p:cNvSpPr/>
          <p:nvPr/>
        </p:nvSpPr>
        <p:spPr>
          <a:xfrm>
            <a:off x="274320" y="3730752"/>
            <a:ext cx="4114800" cy="749808"/>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sp>
        <p:nvSpPr>
          <p:cNvPr id="29" name="Shape 27"/>
          <p:cNvSpPr/>
          <p:nvPr/>
        </p:nvSpPr>
        <p:spPr>
          <a:xfrm>
            <a:off x="274320" y="3730752"/>
            <a:ext cx="109728" cy="749808"/>
          </a:xfrm>
          <a:prstGeom prst="rect">
            <a:avLst/>
          </a:prstGeom>
          <a:solidFill>
            <a:srgbClr val="F78166"/>
          </a:solidFill>
          <a:ln w="12700">
            <a:solidFill>
              <a:srgbClr val="F78166"/>
            </a:solidFill>
            <a:prstDash val="solid"/>
          </a:ln>
        </p:spPr>
      </p:sp>
      <p:sp>
        <p:nvSpPr>
          <p:cNvPr id="30" name="Text 28"/>
          <p:cNvSpPr/>
          <p:nvPr/>
        </p:nvSpPr>
        <p:spPr>
          <a:xfrm>
            <a:off x="475488" y="3794760"/>
            <a:ext cx="3794760" cy="274320"/>
          </a:xfrm>
          <a:prstGeom prst="rect">
            <a:avLst/>
          </a:prstGeom>
          <a:noFill/>
          <a:ln/>
        </p:spPr>
        <p:txBody>
          <a:bodyPr wrap="square" rtlCol="0" anchor="ctr"/>
          <a:lstStyle/>
          <a:p>
            <a:pPr indent="0" marL="0">
              <a:buNone/>
            </a:pPr>
            <a:r>
              <a:rPr lang="en-US" sz="1200" b="1" dirty="0">
                <a:solidFill>
                  <a:srgbClr val="F78166"/>
                </a:solidFill>
                <a:latin typeface="Calibri" pitchFamily="34" charset="0"/>
                <a:ea typeface="Calibri" pitchFamily="34" charset="-122"/>
                <a:cs typeface="Calibri" pitchFamily="34" charset="-120"/>
              </a:rPr>
              <a:t>Network Cards &amp; Wi-Fi</a:t>
            </a:r>
            <a:endParaRPr lang="en-US" sz="1200" dirty="0"/>
          </a:p>
        </p:txBody>
      </p:sp>
      <p:sp>
        <p:nvSpPr>
          <p:cNvPr id="31" name="Text 29"/>
          <p:cNvSpPr/>
          <p:nvPr/>
        </p:nvSpPr>
        <p:spPr>
          <a:xfrm>
            <a:off x="475488" y="4078224"/>
            <a:ext cx="3794760" cy="347472"/>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Lists every network the machine connected to, including wireless profile names. Can place the device at a specific location.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01168"/>
            <a:ext cx="8412480" cy="530352"/>
          </a:xfrm>
          <a:prstGeom prst="rect">
            <a:avLst/>
          </a:prstGeom>
          <a:noFill/>
          <a:ln/>
        </p:spPr>
        <p:txBody>
          <a:bodyPr wrap="square" rtlCol="0" anchor="ctr"/>
          <a:lstStyle/>
          <a:p>
            <a:pPr indent="0" marL="0">
              <a:buNone/>
            </a:pPr>
            <a:r>
              <a:rPr lang="en-US" sz="2600" b="1" dirty="0">
                <a:solidFill>
                  <a:srgbClr val="E6EDF3"/>
                </a:solidFill>
                <a:latin typeface="Calibri" pitchFamily="34" charset="0"/>
                <a:ea typeface="Calibri" pitchFamily="34" charset="-122"/>
                <a:cs typeface="Calibri" pitchFamily="34" charset="-120"/>
              </a:rPr>
              <a:t>Registry: External Device Forensics</a:t>
            </a:r>
            <a:endParaRPr lang="en-US" sz="2600" dirty="0"/>
          </a:p>
        </p:txBody>
      </p:sp>
      <p:sp>
        <p:nvSpPr>
          <p:cNvPr id="3" name="Text 1"/>
          <p:cNvSpPr/>
          <p:nvPr/>
        </p:nvSpPr>
        <p:spPr>
          <a:xfrm>
            <a:off x="365760" y="777240"/>
            <a:ext cx="8412480" cy="384048"/>
          </a:xfrm>
          <a:prstGeom prst="rect">
            <a:avLst/>
          </a:prstGeom>
          <a:noFill/>
          <a:ln/>
        </p:spPr>
        <p:txBody>
          <a:bodyPr wrap="square" rtlCol="0" anchor="ctr"/>
          <a:lstStyle/>
          <a:p>
            <a:pPr indent="0" marL="0">
              <a:buNone/>
            </a:pPr>
            <a:r>
              <a:rPr lang="en-US" sz="1250" i="1" dirty="0">
                <a:solidFill>
                  <a:srgbClr val="8B949E"/>
                </a:solidFill>
                <a:latin typeface="Calibri" pitchFamily="34" charset="0"/>
                <a:ea typeface="Calibri" pitchFamily="34" charset="-122"/>
                <a:cs typeface="Calibri" pitchFamily="34" charset="-120"/>
              </a:rPr>
              <a:t>USB and external device records in the registry are often decisive in data theft and fraud investigations. Every device ever connected is logged.</a:t>
            </a:r>
            <a:endParaRPr lang="en-US" sz="1250" dirty="0"/>
          </a:p>
        </p:txBody>
      </p:sp>
      <p:sp>
        <p:nvSpPr>
          <p:cNvPr id="4" name="Shape 2"/>
          <p:cNvSpPr/>
          <p:nvPr/>
        </p:nvSpPr>
        <p:spPr>
          <a:xfrm>
            <a:off x="274320" y="1261872"/>
            <a:ext cx="4160520" cy="3584448"/>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457200" y="1371600"/>
            <a:ext cx="594360" cy="594360"/>
          </a:xfrm>
          <a:prstGeom prst="rect">
            <a:avLst/>
          </a:prstGeom>
        </p:spPr>
      </p:pic>
      <p:sp>
        <p:nvSpPr>
          <p:cNvPr id="6" name="Text 3"/>
          <p:cNvSpPr/>
          <p:nvPr/>
        </p:nvSpPr>
        <p:spPr>
          <a:xfrm>
            <a:off x="1234440" y="1371600"/>
            <a:ext cx="3063240" cy="384048"/>
          </a:xfrm>
          <a:prstGeom prst="rect">
            <a:avLst/>
          </a:prstGeom>
          <a:noFill/>
          <a:ln/>
        </p:spPr>
        <p:txBody>
          <a:bodyPr wrap="square" rtlCol="0" anchor="ctr"/>
          <a:lstStyle/>
          <a:p>
            <a:pPr indent="0" marL="0">
              <a:buNone/>
            </a:pPr>
            <a:r>
              <a:rPr lang="en-US" sz="1400" b="1" dirty="0">
                <a:solidFill>
                  <a:srgbClr val="58A6FF"/>
                </a:solidFill>
                <a:latin typeface="Calibri" pitchFamily="34" charset="0"/>
                <a:ea typeface="Calibri" pitchFamily="34" charset="-122"/>
                <a:cs typeface="Calibri" pitchFamily="34" charset="-120"/>
              </a:rPr>
              <a:t>USBSTOR Key</a:t>
            </a:r>
            <a:endParaRPr lang="en-US" sz="1400" dirty="0"/>
          </a:p>
        </p:txBody>
      </p:sp>
      <p:sp>
        <p:nvSpPr>
          <p:cNvPr id="7" name="Text 4"/>
          <p:cNvSpPr/>
          <p:nvPr/>
        </p:nvSpPr>
        <p:spPr>
          <a:xfrm>
            <a:off x="457200" y="1810512"/>
            <a:ext cx="3886200" cy="237744"/>
          </a:xfrm>
          <a:prstGeom prst="rect">
            <a:avLst/>
          </a:prstGeom>
          <a:noFill/>
          <a:ln/>
        </p:spPr>
        <p:txBody>
          <a:bodyPr wrap="square" rtlCol="0" anchor="ctr"/>
          <a:lstStyle/>
          <a:p>
            <a:pPr indent="0" marL="0">
              <a:buNone/>
            </a:pPr>
            <a:r>
              <a:rPr lang="en-US" sz="950" dirty="0">
                <a:solidFill>
                  <a:srgbClr val="D2A8FF"/>
                </a:solidFill>
                <a:latin typeface="Consolas" pitchFamily="34" charset="0"/>
                <a:ea typeface="Consolas" pitchFamily="34" charset="-122"/>
                <a:cs typeface="Consolas" pitchFamily="34" charset="-120"/>
              </a:rPr>
              <a:t>SYSTEM\CurrentControlSet\Enum\USBSTOR</a:t>
            </a:r>
            <a:endParaRPr lang="en-US" sz="950" dirty="0"/>
          </a:p>
        </p:txBody>
      </p:sp>
      <p:sp>
        <p:nvSpPr>
          <p:cNvPr id="8" name="Text 5"/>
          <p:cNvSpPr/>
          <p:nvPr/>
        </p:nvSpPr>
        <p:spPr>
          <a:xfrm>
            <a:off x="457200" y="2103120"/>
            <a:ext cx="3886200" cy="2606040"/>
          </a:xfrm>
          <a:prstGeom prst="rect">
            <a:avLst/>
          </a:prstGeom>
          <a:noFill/>
          <a:ln/>
        </p:spPr>
        <p:txBody>
          <a:bodyPr wrap="square" rtlCol="0" anchor="ctr"/>
          <a:lstStyle/>
          <a:p>
            <a:pPr indent="0" marL="0">
              <a:buNone/>
            </a:pPr>
            <a:r>
              <a:rPr lang="en-US" sz="1150" dirty="0">
                <a:solidFill>
                  <a:srgbClr val="E6EDF3"/>
                </a:solidFill>
                <a:latin typeface="Calibri" pitchFamily="34" charset="0"/>
                <a:ea typeface="Calibri" pitchFamily="34" charset="-122"/>
                <a:cs typeface="Calibri" pitchFamily="34" charset="-120"/>
              </a:rPr>
              <a:t>The USBSTOR key records every USB storage device ever connected to this machine. For each device it records:</a:t>
            </a:r>
            <a:endParaRPr lang="en-US" sz="1150" dirty="0"/>
          </a:p>
          <a:p>
            <a:pPr marL="342900" indent="-342900">
              <a:buSzPct val="100000"/>
              <a:buChar char="•"/>
            </a:pPr>
            <a:r>
              <a:rPr lang="en-US" sz="1150" dirty="0">
                <a:solidFill>
                  <a:srgbClr val="E6EDF3"/>
                </a:solidFill>
                <a:latin typeface="Calibri" pitchFamily="34" charset="0"/>
                <a:ea typeface="Calibri" pitchFamily="34" charset="-122"/>
                <a:cs typeface="Calibri" pitchFamily="34" charset="-120"/>
              </a:rPr>
              <a:t>Device description (make, model)</a:t>
            </a:r>
            <a:endParaRPr lang="en-US" sz="1150" dirty="0"/>
          </a:p>
          <a:p>
            <a:pPr marL="342900" indent="-342900">
              <a:buSzPct val="100000"/>
              <a:buChar char="•"/>
            </a:pPr>
            <a:r>
              <a:rPr lang="en-US" sz="1150" dirty="0">
                <a:solidFill>
                  <a:srgbClr val="E6EDF3"/>
                </a:solidFill>
                <a:latin typeface="Calibri" pitchFamily="34" charset="0"/>
                <a:ea typeface="Calibri" pitchFamily="34" charset="-122"/>
                <a:cs typeface="Calibri" pitchFamily="34" charset="-120"/>
              </a:rPr>
              <a:t>Serial number — unique to the physical device</a:t>
            </a:r>
            <a:endParaRPr lang="en-US" sz="1150" dirty="0"/>
          </a:p>
          <a:p>
            <a:pPr marL="342900" indent="-342900">
              <a:buSzPct val="100000"/>
              <a:buChar char="•"/>
            </a:pPr>
            <a:r>
              <a:rPr lang="en-US" sz="1150" dirty="0">
                <a:solidFill>
                  <a:srgbClr val="E6EDF3"/>
                </a:solidFill>
                <a:latin typeface="Calibri" pitchFamily="34" charset="0"/>
                <a:ea typeface="Calibri" pitchFamily="34" charset="-122"/>
                <a:cs typeface="Calibri" pitchFamily="34" charset="-120"/>
              </a:rPr>
              <a:t>First and last connected timestamps</a:t>
            </a:r>
            <a:endParaRPr lang="en-US" sz="1150" dirty="0"/>
          </a:p>
          <a:p>
            <a:pPr indent="0" marL="0">
              <a:buNone/>
            </a:pPr>
            <a:endParaRPr lang="en-US" sz="1150" dirty="0"/>
          </a:p>
          <a:p>
            <a:pPr indent="0" marL="0">
              <a:buNone/>
            </a:pPr>
            <a:r>
              <a:rPr lang="en-US" sz="1150" dirty="0">
                <a:solidFill>
                  <a:srgbClr val="E6EDF3"/>
                </a:solidFill>
                <a:latin typeface="Calibri" pitchFamily="34" charset="0"/>
                <a:ea typeface="Calibri" pitchFamily="34" charset="-122"/>
                <a:cs typeface="Calibri" pitchFamily="34" charset="-120"/>
              </a:rPr>
              <a:t>The serial number is the key link. If a USB drive is found during a physical search, its serial number can be matched to the registry record, proving it was connected to this machine.</a:t>
            </a:r>
            <a:endParaRPr lang="en-US" sz="1150" dirty="0"/>
          </a:p>
        </p:txBody>
      </p:sp>
      <p:sp>
        <p:nvSpPr>
          <p:cNvPr id="9" name="Shape 6"/>
          <p:cNvSpPr/>
          <p:nvPr/>
        </p:nvSpPr>
        <p:spPr>
          <a:xfrm>
            <a:off x="4709160" y="1261872"/>
            <a:ext cx="4160520" cy="3584448"/>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10" name="Image 1" descr="preencoded.png">    </p:cNvPr>
          <p:cNvPicPr>
            <a:picLocks noChangeAspect="1"/>
          </p:cNvPicPr>
          <p:nvPr/>
        </p:nvPicPr>
        <p:blipFill>
          <a:blip r:embed="rId2"/>
          <a:stretch>
            <a:fillRect/>
          </a:stretch>
        </p:blipFill>
        <p:spPr>
          <a:xfrm>
            <a:off x="4892040" y="1371600"/>
            <a:ext cx="594360" cy="594360"/>
          </a:xfrm>
          <a:prstGeom prst="rect">
            <a:avLst/>
          </a:prstGeom>
        </p:spPr>
      </p:pic>
      <p:sp>
        <p:nvSpPr>
          <p:cNvPr id="11" name="Text 7"/>
          <p:cNvSpPr/>
          <p:nvPr/>
        </p:nvSpPr>
        <p:spPr>
          <a:xfrm>
            <a:off x="5650992" y="1371600"/>
            <a:ext cx="3063240" cy="384048"/>
          </a:xfrm>
          <a:prstGeom prst="rect">
            <a:avLst/>
          </a:prstGeom>
          <a:noFill/>
          <a:ln/>
        </p:spPr>
        <p:txBody>
          <a:bodyPr wrap="square" rtlCol="0" anchor="ctr"/>
          <a:lstStyle/>
          <a:p>
            <a:pPr indent="0" marL="0">
              <a:buNone/>
            </a:pPr>
            <a:r>
              <a:rPr lang="en-US" sz="1400" b="1" dirty="0">
                <a:solidFill>
                  <a:srgbClr val="3FB950"/>
                </a:solidFill>
                <a:latin typeface="Calibri" pitchFamily="34" charset="0"/>
                <a:ea typeface="Calibri" pitchFamily="34" charset="-122"/>
                <a:cs typeface="Calibri" pitchFamily="34" charset="-120"/>
              </a:rPr>
              <a:t>Drive Letter Assignment</a:t>
            </a:r>
            <a:endParaRPr lang="en-US" sz="1400" dirty="0"/>
          </a:p>
        </p:txBody>
      </p:sp>
      <p:sp>
        <p:nvSpPr>
          <p:cNvPr id="12" name="Text 8"/>
          <p:cNvSpPr/>
          <p:nvPr/>
        </p:nvSpPr>
        <p:spPr>
          <a:xfrm>
            <a:off x="4892040" y="1810512"/>
            <a:ext cx="3840480" cy="237744"/>
          </a:xfrm>
          <a:prstGeom prst="rect">
            <a:avLst/>
          </a:prstGeom>
          <a:noFill/>
          <a:ln/>
        </p:spPr>
        <p:txBody>
          <a:bodyPr wrap="square" rtlCol="0" anchor="ctr"/>
          <a:lstStyle/>
          <a:p>
            <a:pPr indent="0" marL="0">
              <a:buNone/>
            </a:pPr>
            <a:r>
              <a:rPr lang="en-US" sz="950" dirty="0">
                <a:solidFill>
                  <a:srgbClr val="D2A8FF"/>
                </a:solidFill>
                <a:latin typeface="Consolas" pitchFamily="34" charset="0"/>
                <a:ea typeface="Consolas" pitchFamily="34" charset="-122"/>
                <a:cs typeface="Consolas" pitchFamily="34" charset="-120"/>
              </a:rPr>
              <a:t>SYSTEM\MountedDevices</a:t>
            </a:r>
            <a:endParaRPr lang="en-US" sz="950" dirty="0"/>
          </a:p>
        </p:txBody>
      </p:sp>
      <p:sp>
        <p:nvSpPr>
          <p:cNvPr id="13" name="Text 9"/>
          <p:cNvSpPr/>
          <p:nvPr/>
        </p:nvSpPr>
        <p:spPr>
          <a:xfrm>
            <a:off x="4892040" y="2103120"/>
            <a:ext cx="3840480" cy="2606040"/>
          </a:xfrm>
          <a:prstGeom prst="rect">
            <a:avLst/>
          </a:prstGeom>
          <a:noFill/>
          <a:ln/>
        </p:spPr>
        <p:txBody>
          <a:bodyPr wrap="square" rtlCol="0" anchor="ctr"/>
          <a:lstStyle/>
          <a:p>
            <a:pPr indent="0" marL="0">
              <a:buNone/>
            </a:pPr>
            <a:r>
              <a:rPr lang="en-US" sz="1150" dirty="0">
                <a:solidFill>
                  <a:srgbClr val="E6EDF3"/>
                </a:solidFill>
                <a:latin typeface="Calibri" pitchFamily="34" charset="0"/>
                <a:ea typeface="Calibri" pitchFamily="34" charset="-122"/>
                <a:cs typeface="Calibri" pitchFamily="34" charset="-120"/>
              </a:rPr>
              <a:t>MountedDevices records which drive letter was assigned to each device when it was connected. This is stored in a different key from USBSTOR.</a:t>
            </a:r>
            <a:endParaRPr lang="en-US" sz="1150" dirty="0"/>
          </a:p>
          <a:p>
            <a:pPr indent="0" marL="0">
              <a:buNone/>
            </a:pPr>
            <a:endParaRPr lang="en-US" sz="1150" dirty="0"/>
          </a:p>
          <a:p>
            <a:pPr indent="0" marL="0">
              <a:buNone/>
            </a:pPr>
            <a:r>
              <a:rPr lang="en-US" sz="1150" b="1" dirty="0">
                <a:solidFill>
                  <a:srgbClr val="F78166"/>
                </a:solidFill>
                <a:latin typeface="Calibri" pitchFamily="34" charset="0"/>
                <a:ea typeface="Calibri" pitchFamily="34" charset="-122"/>
                <a:cs typeface="Calibri" pitchFamily="34" charset="-120"/>
              </a:rPr>
              <a:t>To get the full picture — device, serial number, and drive letter — you must correlate data from both keys.</a:t>
            </a:r>
            <a:endParaRPr lang="en-US" sz="1150" dirty="0"/>
          </a:p>
          <a:p>
            <a:pPr indent="0" marL="0">
              <a:buNone/>
            </a:pPr>
            <a:endParaRPr lang="en-US" sz="1150" dirty="0"/>
          </a:p>
          <a:p>
            <a:pPr indent="0" marL="0">
              <a:buNone/>
            </a:pPr>
            <a:r>
              <a:rPr lang="en-US" sz="1150" dirty="0">
                <a:solidFill>
                  <a:srgbClr val="E6EDF3"/>
                </a:solidFill>
                <a:latin typeface="Calibri" pitchFamily="34" charset="0"/>
                <a:ea typeface="Calibri" pitchFamily="34" charset="-122"/>
                <a:cs typeface="Calibri" pitchFamily="34" charset="-120"/>
              </a:rPr>
              <a:t>Why drive letters matter: if registry MRU lists show files opened from drive F:, and MountedDevices shows a USB drive was assigned F:, you can prove those files were accessed from that external device.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01168"/>
            <a:ext cx="8412480" cy="530352"/>
          </a:xfrm>
          <a:prstGeom prst="rect">
            <a:avLst/>
          </a:prstGeom>
          <a:noFill/>
          <a:ln/>
        </p:spPr>
        <p:txBody>
          <a:bodyPr wrap="square" rtlCol="0" anchor="ctr"/>
          <a:lstStyle/>
          <a:p>
            <a:pPr indent="0" marL="0">
              <a:buNone/>
            </a:pPr>
            <a:r>
              <a:rPr lang="en-US" sz="2600" b="1" dirty="0">
                <a:solidFill>
                  <a:srgbClr val="E6EDF3"/>
                </a:solidFill>
                <a:latin typeface="Calibri" pitchFamily="34" charset="0"/>
                <a:ea typeface="Calibri" pitchFamily="34" charset="-122"/>
                <a:cs typeface="Calibri" pitchFamily="34" charset="-120"/>
              </a:rPr>
              <a:t>Registry: SAM — User Accounts &amp; Authentication History</a:t>
            </a:r>
            <a:endParaRPr lang="en-US" sz="2600" dirty="0"/>
          </a:p>
        </p:txBody>
      </p:sp>
      <p:sp>
        <p:nvSpPr>
          <p:cNvPr id="3" name="Text 1"/>
          <p:cNvSpPr/>
          <p:nvPr/>
        </p:nvSpPr>
        <p:spPr>
          <a:xfrm>
            <a:off x="365760" y="777240"/>
            <a:ext cx="8412480" cy="384048"/>
          </a:xfrm>
          <a:prstGeom prst="rect">
            <a:avLst/>
          </a:prstGeom>
          <a:noFill/>
          <a:ln/>
        </p:spPr>
        <p:txBody>
          <a:bodyPr wrap="square" rtlCol="0" anchor="ctr"/>
          <a:lstStyle/>
          <a:p>
            <a:pPr indent="0" marL="0">
              <a:buNone/>
            </a:pPr>
            <a:r>
              <a:rPr lang="en-US" sz="1250" i="1" dirty="0">
                <a:solidFill>
                  <a:srgbClr val="8B949E"/>
                </a:solidFill>
                <a:latin typeface="Calibri" pitchFamily="34" charset="0"/>
                <a:ea typeface="Calibri" pitchFamily="34" charset="-122"/>
                <a:cs typeface="Calibri" pitchFamily="34" charset="-120"/>
              </a:rPr>
              <a:t>The SAM (Security Account Manager) hive contains detailed records of every local user account — not just names, but full authentication history.</a:t>
            </a:r>
            <a:endParaRPr lang="en-US" sz="1250" dirty="0"/>
          </a:p>
        </p:txBody>
      </p:sp>
      <p:sp>
        <p:nvSpPr>
          <p:cNvPr id="4" name="Shape 2"/>
          <p:cNvSpPr/>
          <p:nvPr/>
        </p:nvSpPr>
        <p:spPr>
          <a:xfrm>
            <a:off x="274320" y="1234440"/>
            <a:ext cx="8595360" cy="242316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sp>
        <p:nvSpPr>
          <p:cNvPr id="5" name="Text 3"/>
          <p:cNvSpPr/>
          <p:nvPr/>
        </p:nvSpPr>
        <p:spPr>
          <a:xfrm>
            <a:off x="502920" y="1325880"/>
            <a:ext cx="8229600" cy="347472"/>
          </a:xfrm>
          <a:prstGeom prst="rect">
            <a:avLst/>
          </a:prstGeom>
          <a:noFill/>
          <a:ln/>
        </p:spPr>
        <p:txBody>
          <a:bodyPr wrap="square" rtlCol="0" anchor="ctr"/>
          <a:lstStyle/>
          <a:p>
            <a:pPr indent="0" marL="0">
              <a:buNone/>
            </a:pPr>
            <a:r>
              <a:rPr lang="en-US" sz="1400" b="1" dirty="0">
                <a:solidFill>
                  <a:srgbClr val="D2A8FF"/>
                </a:solidFill>
                <a:latin typeface="Calibri" pitchFamily="34" charset="0"/>
                <a:ea typeface="Calibri" pitchFamily="34" charset="-122"/>
                <a:cs typeface="Calibri" pitchFamily="34" charset="-120"/>
              </a:rPr>
              <a:t>What the SAM Records for Each Account</a:t>
            </a:r>
            <a:endParaRPr lang="en-US" sz="1400" dirty="0"/>
          </a:p>
        </p:txBody>
      </p:sp>
      <p:sp>
        <p:nvSpPr>
          <p:cNvPr id="6" name="Shape 4"/>
          <p:cNvSpPr/>
          <p:nvPr/>
        </p:nvSpPr>
        <p:spPr>
          <a:xfrm>
            <a:off x="502920" y="1783080"/>
            <a:ext cx="1920240" cy="365760"/>
          </a:xfrm>
          <a:prstGeom prst="rect">
            <a:avLst/>
          </a:prstGeom>
          <a:solidFill>
            <a:srgbClr val="0D1B2A"/>
          </a:solidFill>
          <a:ln w="12700">
            <a:solidFill>
              <a:srgbClr val="000000"/>
            </a:solidFill>
            <a:prstDash val="solid"/>
          </a:ln>
        </p:spPr>
      </p:sp>
      <p:sp>
        <p:nvSpPr>
          <p:cNvPr id="7" name="Text 5"/>
          <p:cNvSpPr/>
          <p:nvPr/>
        </p:nvSpPr>
        <p:spPr>
          <a:xfrm>
            <a:off x="502920" y="1783080"/>
            <a:ext cx="1920240" cy="365760"/>
          </a:xfrm>
          <a:prstGeom prst="rect">
            <a:avLst/>
          </a:prstGeom>
          <a:noFill/>
          <a:ln/>
        </p:spPr>
        <p:txBody>
          <a:bodyPr wrap="square" rtlCol="0" anchor="ctr"/>
          <a:lstStyle/>
          <a:p>
            <a:pPr algn="ctr" indent="0" marL="0">
              <a:buNone/>
            </a:pPr>
            <a:r>
              <a:rPr lang="en-US" sz="1100" dirty="0">
                <a:solidFill>
                  <a:srgbClr val="D2A8FF"/>
                </a:solidFill>
                <a:latin typeface="Calibri" pitchFamily="34" charset="0"/>
                <a:ea typeface="Calibri" pitchFamily="34" charset="-122"/>
                <a:cs typeface="Calibri" pitchFamily="34" charset="-120"/>
              </a:rPr>
              <a:t>Username</a:t>
            </a:r>
            <a:endParaRPr lang="en-US" sz="1100" dirty="0"/>
          </a:p>
        </p:txBody>
      </p:sp>
      <p:sp>
        <p:nvSpPr>
          <p:cNvPr id="8" name="Shape 6"/>
          <p:cNvSpPr/>
          <p:nvPr/>
        </p:nvSpPr>
        <p:spPr>
          <a:xfrm>
            <a:off x="502920" y="2258568"/>
            <a:ext cx="1920240" cy="365760"/>
          </a:xfrm>
          <a:prstGeom prst="rect">
            <a:avLst/>
          </a:prstGeom>
          <a:solidFill>
            <a:srgbClr val="0D1B2A"/>
          </a:solidFill>
          <a:ln w="12700">
            <a:solidFill>
              <a:srgbClr val="000000"/>
            </a:solidFill>
            <a:prstDash val="solid"/>
          </a:ln>
        </p:spPr>
      </p:sp>
      <p:sp>
        <p:nvSpPr>
          <p:cNvPr id="9" name="Text 7"/>
          <p:cNvSpPr/>
          <p:nvPr/>
        </p:nvSpPr>
        <p:spPr>
          <a:xfrm>
            <a:off x="502920" y="2258568"/>
            <a:ext cx="1920240" cy="365760"/>
          </a:xfrm>
          <a:prstGeom prst="rect">
            <a:avLst/>
          </a:prstGeom>
          <a:noFill/>
          <a:ln/>
        </p:spPr>
        <p:txBody>
          <a:bodyPr wrap="square" rtlCol="0" anchor="ctr"/>
          <a:lstStyle/>
          <a:p>
            <a:pPr algn="ctr" indent="0" marL="0">
              <a:buNone/>
            </a:pPr>
            <a:r>
              <a:rPr lang="en-US" sz="1100" dirty="0">
                <a:solidFill>
                  <a:srgbClr val="D2A8FF"/>
                </a:solidFill>
                <a:latin typeface="Calibri" pitchFamily="34" charset="0"/>
                <a:ea typeface="Calibri" pitchFamily="34" charset="-122"/>
                <a:cs typeface="Calibri" pitchFamily="34" charset="-120"/>
              </a:rPr>
              <a:t>Account type</a:t>
            </a:r>
            <a:endParaRPr lang="en-US" sz="1100" dirty="0"/>
          </a:p>
        </p:txBody>
      </p:sp>
      <p:sp>
        <p:nvSpPr>
          <p:cNvPr id="10" name="Shape 8"/>
          <p:cNvSpPr/>
          <p:nvPr/>
        </p:nvSpPr>
        <p:spPr>
          <a:xfrm>
            <a:off x="502920" y="2734056"/>
            <a:ext cx="1920240" cy="365760"/>
          </a:xfrm>
          <a:prstGeom prst="rect">
            <a:avLst/>
          </a:prstGeom>
          <a:solidFill>
            <a:srgbClr val="0D1B2A"/>
          </a:solidFill>
          <a:ln w="12700">
            <a:solidFill>
              <a:srgbClr val="000000"/>
            </a:solidFill>
            <a:prstDash val="solid"/>
          </a:ln>
        </p:spPr>
      </p:sp>
      <p:sp>
        <p:nvSpPr>
          <p:cNvPr id="11" name="Text 9"/>
          <p:cNvSpPr/>
          <p:nvPr/>
        </p:nvSpPr>
        <p:spPr>
          <a:xfrm>
            <a:off x="502920" y="2734056"/>
            <a:ext cx="1920240" cy="365760"/>
          </a:xfrm>
          <a:prstGeom prst="rect">
            <a:avLst/>
          </a:prstGeom>
          <a:noFill/>
          <a:ln/>
        </p:spPr>
        <p:txBody>
          <a:bodyPr wrap="square" rtlCol="0" anchor="ctr"/>
          <a:lstStyle/>
          <a:p>
            <a:pPr algn="ctr" indent="0" marL="0">
              <a:buNone/>
            </a:pPr>
            <a:r>
              <a:rPr lang="en-US" sz="1100" dirty="0">
                <a:solidFill>
                  <a:srgbClr val="D2A8FF"/>
                </a:solidFill>
                <a:latin typeface="Calibri" pitchFamily="34" charset="0"/>
                <a:ea typeface="Calibri" pitchFamily="34" charset="-122"/>
                <a:cs typeface="Calibri" pitchFamily="34" charset="-120"/>
              </a:rPr>
              <a:t>Account creation date</a:t>
            </a:r>
            <a:endParaRPr lang="en-US" sz="1100" dirty="0"/>
          </a:p>
        </p:txBody>
      </p:sp>
      <p:sp>
        <p:nvSpPr>
          <p:cNvPr id="12" name="Shape 10"/>
          <p:cNvSpPr/>
          <p:nvPr/>
        </p:nvSpPr>
        <p:spPr>
          <a:xfrm>
            <a:off x="502920" y="3209544"/>
            <a:ext cx="1920240" cy="365760"/>
          </a:xfrm>
          <a:prstGeom prst="rect">
            <a:avLst/>
          </a:prstGeom>
          <a:solidFill>
            <a:srgbClr val="0D1B2A"/>
          </a:solidFill>
          <a:ln w="12700">
            <a:solidFill>
              <a:srgbClr val="000000"/>
            </a:solidFill>
            <a:prstDash val="solid"/>
          </a:ln>
        </p:spPr>
      </p:sp>
      <p:sp>
        <p:nvSpPr>
          <p:cNvPr id="13" name="Text 11"/>
          <p:cNvSpPr/>
          <p:nvPr/>
        </p:nvSpPr>
        <p:spPr>
          <a:xfrm>
            <a:off x="502920" y="3209544"/>
            <a:ext cx="1920240" cy="365760"/>
          </a:xfrm>
          <a:prstGeom prst="rect">
            <a:avLst/>
          </a:prstGeom>
          <a:noFill/>
          <a:ln/>
        </p:spPr>
        <p:txBody>
          <a:bodyPr wrap="square" rtlCol="0" anchor="ctr"/>
          <a:lstStyle/>
          <a:p>
            <a:pPr algn="ctr" indent="0" marL="0">
              <a:buNone/>
            </a:pPr>
            <a:r>
              <a:rPr lang="en-US" sz="1100" dirty="0">
                <a:solidFill>
                  <a:srgbClr val="D2A8FF"/>
                </a:solidFill>
                <a:latin typeface="Calibri" pitchFamily="34" charset="0"/>
                <a:ea typeface="Calibri" pitchFamily="34" charset="-122"/>
                <a:cs typeface="Calibri" pitchFamily="34" charset="-120"/>
              </a:rPr>
              <a:t>Password hint</a:t>
            </a:r>
            <a:endParaRPr lang="en-US" sz="1100" dirty="0"/>
          </a:p>
        </p:txBody>
      </p:sp>
      <p:sp>
        <p:nvSpPr>
          <p:cNvPr id="14" name="Shape 12"/>
          <p:cNvSpPr/>
          <p:nvPr/>
        </p:nvSpPr>
        <p:spPr>
          <a:xfrm>
            <a:off x="2679192" y="1783080"/>
            <a:ext cx="1920240" cy="365760"/>
          </a:xfrm>
          <a:prstGeom prst="rect">
            <a:avLst/>
          </a:prstGeom>
          <a:solidFill>
            <a:srgbClr val="0D1B2A"/>
          </a:solidFill>
          <a:ln w="12700">
            <a:solidFill>
              <a:srgbClr val="000000"/>
            </a:solidFill>
            <a:prstDash val="solid"/>
          </a:ln>
        </p:spPr>
      </p:sp>
      <p:sp>
        <p:nvSpPr>
          <p:cNvPr id="15" name="Text 13"/>
          <p:cNvSpPr/>
          <p:nvPr/>
        </p:nvSpPr>
        <p:spPr>
          <a:xfrm>
            <a:off x="2679192" y="1783080"/>
            <a:ext cx="1920240" cy="365760"/>
          </a:xfrm>
          <a:prstGeom prst="rect">
            <a:avLst/>
          </a:prstGeom>
          <a:noFill/>
          <a:ln/>
        </p:spPr>
        <p:txBody>
          <a:bodyPr wrap="square" rtlCol="0" anchor="ctr"/>
          <a:lstStyle/>
          <a:p>
            <a:pPr algn="ctr" indent="0" marL="0">
              <a:buNone/>
            </a:pPr>
            <a:r>
              <a:rPr lang="en-US" sz="1100" dirty="0">
                <a:solidFill>
                  <a:srgbClr val="D2A8FF"/>
                </a:solidFill>
                <a:latin typeface="Calibri" pitchFamily="34" charset="0"/>
                <a:ea typeface="Calibri" pitchFamily="34" charset="-122"/>
                <a:cs typeface="Calibri" pitchFamily="34" charset="-120"/>
              </a:rPr>
              <a:t>Last login date</a:t>
            </a:r>
            <a:endParaRPr lang="en-US" sz="1100" dirty="0"/>
          </a:p>
        </p:txBody>
      </p:sp>
      <p:sp>
        <p:nvSpPr>
          <p:cNvPr id="16" name="Shape 14"/>
          <p:cNvSpPr/>
          <p:nvPr/>
        </p:nvSpPr>
        <p:spPr>
          <a:xfrm>
            <a:off x="2679192" y="2258568"/>
            <a:ext cx="1920240" cy="365760"/>
          </a:xfrm>
          <a:prstGeom prst="rect">
            <a:avLst/>
          </a:prstGeom>
          <a:solidFill>
            <a:srgbClr val="0D1B2A"/>
          </a:solidFill>
          <a:ln w="12700">
            <a:solidFill>
              <a:srgbClr val="000000"/>
            </a:solidFill>
            <a:prstDash val="solid"/>
          </a:ln>
        </p:spPr>
      </p:sp>
      <p:sp>
        <p:nvSpPr>
          <p:cNvPr id="17" name="Text 15"/>
          <p:cNvSpPr/>
          <p:nvPr/>
        </p:nvSpPr>
        <p:spPr>
          <a:xfrm>
            <a:off x="2679192" y="2258568"/>
            <a:ext cx="1920240" cy="365760"/>
          </a:xfrm>
          <a:prstGeom prst="rect">
            <a:avLst/>
          </a:prstGeom>
          <a:noFill/>
          <a:ln/>
        </p:spPr>
        <p:txBody>
          <a:bodyPr wrap="square" rtlCol="0" anchor="ctr"/>
          <a:lstStyle/>
          <a:p>
            <a:pPr algn="ctr" indent="0" marL="0">
              <a:buNone/>
            </a:pPr>
            <a:r>
              <a:rPr lang="en-US" sz="1100" dirty="0">
                <a:solidFill>
                  <a:srgbClr val="D2A8FF"/>
                </a:solidFill>
                <a:latin typeface="Calibri" pitchFamily="34" charset="0"/>
                <a:ea typeface="Calibri" pitchFamily="34" charset="-122"/>
                <a:cs typeface="Calibri" pitchFamily="34" charset="-120"/>
              </a:rPr>
              <a:t>Password last reset</a:t>
            </a:r>
            <a:endParaRPr lang="en-US" sz="1100" dirty="0"/>
          </a:p>
        </p:txBody>
      </p:sp>
      <p:sp>
        <p:nvSpPr>
          <p:cNvPr id="18" name="Shape 16"/>
          <p:cNvSpPr/>
          <p:nvPr/>
        </p:nvSpPr>
        <p:spPr>
          <a:xfrm>
            <a:off x="2679192" y="2734056"/>
            <a:ext cx="1920240" cy="365760"/>
          </a:xfrm>
          <a:prstGeom prst="rect">
            <a:avLst/>
          </a:prstGeom>
          <a:solidFill>
            <a:srgbClr val="0D1B2A"/>
          </a:solidFill>
          <a:ln w="12700">
            <a:solidFill>
              <a:srgbClr val="000000"/>
            </a:solidFill>
            <a:prstDash val="solid"/>
          </a:ln>
        </p:spPr>
      </p:sp>
      <p:sp>
        <p:nvSpPr>
          <p:cNvPr id="19" name="Text 17"/>
          <p:cNvSpPr/>
          <p:nvPr/>
        </p:nvSpPr>
        <p:spPr>
          <a:xfrm>
            <a:off x="2679192" y="2734056"/>
            <a:ext cx="1920240" cy="365760"/>
          </a:xfrm>
          <a:prstGeom prst="rect">
            <a:avLst/>
          </a:prstGeom>
          <a:noFill/>
          <a:ln/>
        </p:spPr>
        <p:txBody>
          <a:bodyPr wrap="square" rtlCol="0" anchor="ctr"/>
          <a:lstStyle/>
          <a:p>
            <a:pPr algn="ctr" indent="0" marL="0">
              <a:buNone/>
            </a:pPr>
            <a:r>
              <a:rPr lang="en-US" sz="1100" dirty="0">
                <a:solidFill>
                  <a:srgbClr val="D2A8FF"/>
                </a:solidFill>
                <a:latin typeface="Calibri" pitchFamily="34" charset="0"/>
                <a:ea typeface="Calibri" pitchFamily="34" charset="-122"/>
                <a:cs typeface="Calibri" pitchFamily="34" charset="-120"/>
              </a:rPr>
              <a:t>Password last failed</a:t>
            </a:r>
            <a:endParaRPr lang="en-US" sz="1100" dirty="0"/>
          </a:p>
        </p:txBody>
      </p:sp>
      <p:sp>
        <p:nvSpPr>
          <p:cNvPr id="20" name="Shape 18"/>
          <p:cNvSpPr/>
          <p:nvPr/>
        </p:nvSpPr>
        <p:spPr>
          <a:xfrm>
            <a:off x="2679192" y="3209544"/>
            <a:ext cx="1920240" cy="365760"/>
          </a:xfrm>
          <a:prstGeom prst="rect">
            <a:avLst/>
          </a:prstGeom>
          <a:solidFill>
            <a:srgbClr val="0D1B2A"/>
          </a:solidFill>
          <a:ln w="12700">
            <a:solidFill>
              <a:srgbClr val="000000"/>
            </a:solidFill>
            <a:prstDash val="solid"/>
          </a:ln>
        </p:spPr>
      </p:sp>
      <p:sp>
        <p:nvSpPr>
          <p:cNvPr id="21" name="Text 19"/>
          <p:cNvSpPr/>
          <p:nvPr/>
        </p:nvSpPr>
        <p:spPr>
          <a:xfrm>
            <a:off x="2679192" y="3209544"/>
            <a:ext cx="1920240" cy="365760"/>
          </a:xfrm>
          <a:prstGeom prst="rect">
            <a:avLst/>
          </a:prstGeom>
          <a:noFill/>
          <a:ln/>
        </p:spPr>
        <p:txBody>
          <a:bodyPr wrap="square" rtlCol="0" anchor="ctr"/>
          <a:lstStyle/>
          <a:p>
            <a:pPr algn="ctr" indent="0" marL="0">
              <a:buNone/>
            </a:pPr>
            <a:r>
              <a:rPr lang="en-US" sz="1100" dirty="0">
                <a:solidFill>
                  <a:srgbClr val="D2A8FF"/>
                </a:solidFill>
                <a:latin typeface="Calibri" pitchFamily="34" charset="0"/>
                <a:ea typeface="Calibri" pitchFamily="34" charset="-122"/>
                <a:cs typeface="Calibri" pitchFamily="34" charset="-120"/>
              </a:rPr>
              <a:t>Total login count</a:t>
            </a:r>
            <a:endParaRPr lang="en-US" sz="1100" dirty="0"/>
          </a:p>
        </p:txBody>
      </p:sp>
      <p:sp>
        <p:nvSpPr>
          <p:cNvPr id="22" name="Shape 20"/>
          <p:cNvSpPr/>
          <p:nvPr/>
        </p:nvSpPr>
        <p:spPr>
          <a:xfrm>
            <a:off x="274320" y="3749040"/>
            <a:ext cx="8595360" cy="1188720"/>
          </a:xfrm>
          <a:prstGeom prst="rect">
            <a:avLst/>
          </a:prstGeom>
          <a:solidFill>
            <a:srgbClr val="100018"/>
          </a:solidFill>
          <a:ln w="12700">
            <a:solidFill>
              <a:srgbClr val="D2A8FF"/>
            </a:solidFill>
            <a:prstDash val="solid"/>
          </a:ln>
          <a:effectLst>
            <a:outerShdw sx="100000" sy="100000" kx="0" ky="0" algn="bl" rotWithShape="0" blurRad="127000" dist="38100" dir="8100000">
              <a:srgbClr val="000000">
                <a:alpha val="18000"/>
              </a:srgbClr>
            </a:outerShdw>
          </a:effectLst>
        </p:spPr>
      </p:sp>
      <p:sp>
        <p:nvSpPr>
          <p:cNvPr id="23" name="Text 21"/>
          <p:cNvSpPr/>
          <p:nvPr/>
        </p:nvSpPr>
        <p:spPr>
          <a:xfrm>
            <a:off x="502920" y="3840480"/>
            <a:ext cx="8229600" cy="320040"/>
          </a:xfrm>
          <a:prstGeom prst="rect">
            <a:avLst/>
          </a:prstGeom>
          <a:noFill/>
          <a:ln/>
        </p:spPr>
        <p:txBody>
          <a:bodyPr wrap="square" rtlCol="0" anchor="ctr"/>
          <a:lstStyle/>
          <a:p>
            <a:pPr indent="0" marL="0">
              <a:buNone/>
            </a:pPr>
            <a:r>
              <a:rPr lang="en-US" sz="1300" b="1" dirty="0">
                <a:solidFill>
                  <a:srgbClr val="D2A8FF"/>
                </a:solidFill>
                <a:latin typeface="Calibri" pitchFamily="34" charset="0"/>
                <a:ea typeface="Calibri" pitchFamily="34" charset="-122"/>
                <a:cs typeface="Calibri" pitchFamily="34" charset="-120"/>
              </a:rPr>
              <a:t>Why the SAM Matters Forensically</a:t>
            </a:r>
            <a:endParaRPr lang="en-US" sz="1300" dirty="0"/>
          </a:p>
        </p:txBody>
      </p:sp>
      <p:sp>
        <p:nvSpPr>
          <p:cNvPr id="24" name="Text 22"/>
          <p:cNvSpPr/>
          <p:nvPr/>
        </p:nvSpPr>
        <p:spPr>
          <a:xfrm>
            <a:off x="502920" y="4187952"/>
            <a:ext cx="8229600" cy="658368"/>
          </a:xfrm>
          <a:prstGeom prst="rect">
            <a:avLst/>
          </a:prstGeom>
          <a:noFill/>
          <a:ln/>
        </p:spPr>
        <p:txBody>
          <a:bodyPr wrap="square" rtlCol="0" anchor="ctr"/>
          <a:lstStyle/>
          <a:p>
            <a:pPr indent="0" marL="0">
              <a:buNone/>
            </a:pPr>
            <a:r>
              <a:rPr lang="en-US" sz="1150" b="1" dirty="0">
                <a:solidFill>
                  <a:srgbClr val="58A6FF"/>
                </a:solidFill>
                <a:latin typeface="Calibri" pitchFamily="34" charset="0"/>
                <a:ea typeface="Calibri" pitchFamily="34" charset="-122"/>
                <a:cs typeface="Calibri" pitchFamily="34" charset="-120"/>
              </a:rPr>
              <a:t>Login count and last login date</a:t>
            </a:r>
            <a:pPr indent="0" marL="0">
              <a:buNone/>
            </a:pPr>
            <a:r>
              <a:rPr lang="en-US" sz="1150" dirty="0">
                <a:solidFill>
                  <a:srgbClr val="E6EDF3"/>
                </a:solidFill>
                <a:latin typeface="Calibri" pitchFamily="34" charset="0"/>
                <a:ea typeface="Calibri" pitchFamily="34" charset="-122"/>
                <a:cs typeface="Calibri" pitchFamily="34" charset="-120"/>
              </a:rPr>
              <a:t> reveal which account was most actively used — that is the account you investigate in depth.</a:t>
            </a:r>
            <a:endParaRPr lang="en-US" sz="1150" dirty="0"/>
          </a:p>
          <a:p>
            <a:pPr indent="0" marL="0">
              <a:buNone/>
            </a:pPr>
            <a:r>
              <a:rPr lang="en-US" sz="1150" b="1" dirty="0">
                <a:solidFill>
                  <a:srgbClr val="F78166"/>
                </a:solidFill>
                <a:latin typeface="Calibri" pitchFamily="34" charset="0"/>
                <a:ea typeface="Calibri" pitchFamily="34" charset="-122"/>
                <a:cs typeface="Calibri" pitchFamily="34" charset="-120"/>
              </a:rPr>
              <a:t>Password reset and fail dates</a:t>
            </a:r>
            <a:pPr indent="0" marL="0">
              <a:buNone/>
            </a:pPr>
            <a:r>
              <a:rPr lang="en-US" sz="1150" dirty="0">
                <a:solidFill>
                  <a:srgbClr val="E6EDF3"/>
                </a:solidFill>
                <a:latin typeface="Calibri" pitchFamily="34" charset="0"/>
                <a:ea typeface="Calibri" pitchFamily="34" charset="-122"/>
                <a:cs typeface="Calibri" pitchFamily="34" charset="-120"/>
              </a:rPr>
              <a:t> can indicate account takeover attempts or security events.</a:t>
            </a:r>
            <a:endParaRPr lang="en-US" sz="1150" dirty="0"/>
          </a:p>
          <a:p>
            <a:pPr indent="0" marL="0">
              <a:buNone/>
            </a:pPr>
            <a:r>
              <a:rPr lang="en-US" sz="1150" b="1" dirty="0">
                <a:solidFill>
                  <a:srgbClr val="3FB950"/>
                </a:solidFill>
                <a:latin typeface="Calibri" pitchFamily="34" charset="0"/>
                <a:ea typeface="Calibri" pitchFamily="34" charset="-122"/>
                <a:cs typeface="Calibri" pitchFamily="34" charset="-120"/>
              </a:rPr>
              <a:t>WinVNC and Yahoo Messenger passwords</a:t>
            </a:r>
            <a:pPr indent="0" marL="0">
              <a:buNone/>
            </a:pPr>
            <a:r>
              <a:rPr lang="en-US" sz="1150" dirty="0">
                <a:solidFill>
                  <a:srgbClr val="E6EDF3"/>
                </a:solidFill>
                <a:latin typeface="Calibri" pitchFamily="34" charset="0"/>
                <a:ea typeface="Calibri" pitchFamily="34" charset="-122"/>
                <a:cs typeface="Calibri" pitchFamily="34" charset="-120"/>
              </a:rPr>
              <a:t> are stored in the registry under SOFTWARE hive keys. WinVNC (remote desktop) stored credentials are significant — they may reveal remote access to other machines.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01168"/>
            <a:ext cx="8412480" cy="530352"/>
          </a:xfrm>
          <a:prstGeom prst="rect">
            <a:avLst/>
          </a:prstGeom>
          <a:noFill/>
          <a:ln/>
        </p:spPr>
        <p:txBody>
          <a:bodyPr wrap="square" rtlCol="0" anchor="ctr"/>
          <a:lstStyle/>
          <a:p>
            <a:pPr indent="0" marL="0">
              <a:buNone/>
            </a:pPr>
            <a:r>
              <a:rPr lang="en-US" sz="2600" b="1" dirty="0">
                <a:solidFill>
                  <a:srgbClr val="E6EDF3"/>
                </a:solidFill>
                <a:latin typeface="Calibri" pitchFamily="34" charset="0"/>
                <a:ea typeface="Calibri" pitchFamily="34" charset="-122"/>
                <a:cs typeface="Calibri" pitchFamily="34" charset="-120"/>
              </a:rPr>
              <a:t>Registry: NTUSER.DAT — User Activity Records</a:t>
            </a:r>
            <a:endParaRPr lang="en-US" sz="2600" dirty="0"/>
          </a:p>
        </p:txBody>
      </p:sp>
      <p:sp>
        <p:nvSpPr>
          <p:cNvPr id="3" name="Text 1"/>
          <p:cNvSpPr/>
          <p:nvPr/>
        </p:nvSpPr>
        <p:spPr>
          <a:xfrm>
            <a:off x="365760" y="777240"/>
            <a:ext cx="8412480" cy="347472"/>
          </a:xfrm>
          <a:prstGeom prst="rect">
            <a:avLst/>
          </a:prstGeom>
          <a:noFill/>
          <a:ln/>
        </p:spPr>
        <p:txBody>
          <a:bodyPr wrap="square" rtlCol="0" anchor="ctr"/>
          <a:lstStyle/>
          <a:p>
            <a:pPr indent="0" marL="0">
              <a:buNone/>
            </a:pPr>
            <a:r>
              <a:rPr lang="en-US" sz="1250" i="1" dirty="0">
                <a:solidFill>
                  <a:srgbClr val="8B949E"/>
                </a:solidFill>
                <a:latin typeface="Calibri" pitchFamily="34" charset="0"/>
                <a:ea typeface="Calibri" pitchFamily="34" charset="-122"/>
                <a:cs typeface="Calibri" pitchFamily="34" charset="-120"/>
              </a:rPr>
              <a:t>NTUSER.DAT is the user's personal registry hive. It is the richest source of user activity evidence in any Windows investigation.</a:t>
            </a:r>
            <a:endParaRPr lang="en-US" sz="1250" dirty="0"/>
          </a:p>
        </p:txBody>
      </p:sp>
      <p:sp>
        <p:nvSpPr>
          <p:cNvPr id="4" name="Shape 2"/>
          <p:cNvSpPr/>
          <p:nvPr/>
        </p:nvSpPr>
        <p:spPr>
          <a:xfrm>
            <a:off x="274320" y="1207008"/>
            <a:ext cx="8595360" cy="91440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475488" y="1408176"/>
            <a:ext cx="457200" cy="457200"/>
          </a:xfrm>
          <a:prstGeom prst="rect">
            <a:avLst/>
          </a:prstGeom>
        </p:spPr>
      </p:pic>
      <p:sp>
        <p:nvSpPr>
          <p:cNvPr id="6" name="Text 3"/>
          <p:cNvSpPr/>
          <p:nvPr/>
        </p:nvSpPr>
        <p:spPr>
          <a:xfrm>
            <a:off x="1097280" y="1280160"/>
            <a:ext cx="5029200" cy="292608"/>
          </a:xfrm>
          <a:prstGeom prst="rect">
            <a:avLst/>
          </a:prstGeom>
          <a:noFill/>
          <a:ln/>
        </p:spPr>
        <p:txBody>
          <a:bodyPr wrap="square" rtlCol="0" anchor="ctr"/>
          <a:lstStyle/>
          <a:p>
            <a:pPr indent="0" marL="0">
              <a:buNone/>
            </a:pPr>
            <a:r>
              <a:rPr lang="en-US" sz="1300" b="1" dirty="0">
                <a:solidFill>
                  <a:srgbClr val="58A6FF"/>
                </a:solidFill>
                <a:latin typeface="Calibri" pitchFamily="34" charset="0"/>
                <a:ea typeface="Calibri" pitchFamily="34" charset="-122"/>
                <a:cs typeface="Calibri" pitchFamily="34" charset="-120"/>
              </a:rPr>
              <a:t>Recent Documents &amp; MRU Lists</a:t>
            </a:r>
            <a:endParaRPr lang="en-US" sz="1300" dirty="0"/>
          </a:p>
        </p:txBody>
      </p:sp>
      <p:sp>
        <p:nvSpPr>
          <p:cNvPr id="7" name="Text 4"/>
          <p:cNvSpPr/>
          <p:nvPr/>
        </p:nvSpPr>
        <p:spPr>
          <a:xfrm>
            <a:off x="6263640" y="1298448"/>
            <a:ext cx="2468880" cy="256032"/>
          </a:xfrm>
          <a:prstGeom prst="rect">
            <a:avLst/>
          </a:prstGeom>
          <a:noFill/>
          <a:ln/>
        </p:spPr>
        <p:txBody>
          <a:bodyPr wrap="square" rtlCol="0" anchor="ctr"/>
          <a:lstStyle/>
          <a:p>
            <a:pPr indent="0" marL="0">
              <a:buNone/>
            </a:pPr>
            <a:r>
              <a:rPr lang="en-US" sz="850" dirty="0">
                <a:solidFill>
                  <a:srgbClr val="D2A8FF"/>
                </a:solidFill>
                <a:latin typeface="Consolas" pitchFamily="34" charset="0"/>
                <a:ea typeface="Consolas" pitchFamily="34" charset="-122"/>
                <a:cs typeface="Consolas" pitchFamily="34" charset="-120"/>
              </a:rPr>
              <a:t>NTUSER.DAT\Software\Microsoft\Windows\CurrentVersion\Explorer\RecentDocs</a:t>
            </a:r>
            <a:endParaRPr lang="en-US" sz="850" dirty="0"/>
          </a:p>
        </p:txBody>
      </p:sp>
      <p:sp>
        <p:nvSpPr>
          <p:cNvPr id="8" name="Text 5"/>
          <p:cNvSpPr/>
          <p:nvPr/>
        </p:nvSpPr>
        <p:spPr>
          <a:xfrm>
            <a:off x="1097280" y="1609344"/>
            <a:ext cx="7360920" cy="45720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Records the last files opened in each application. Entries persist even after the files are deleted. A registry MRU entry proves the file existed and was accessed, even if the file itself is gone.</a:t>
            </a:r>
            <a:endParaRPr lang="en-US" sz="1100" dirty="0"/>
          </a:p>
        </p:txBody>
      </p:sp>
      <p:sp>
        <p:nvSpPr>
          <p:cNvPr id="9" name="Shape 6"/>
          <p:cNvSpPr/>
          <p:nvPr/>
        </p:nvSpPr>
        <p:spPr>
          <a:xfrm>
            <a:off x="274320" y="2231136"/>
            <a:ext cx="8595360" cy="91440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10" name="Image 1" descr="preencoded.png">    </p:cNvPr>
          <p:cNvPicPr>
            <a:picLocks noChangeAspect="1"/>
          </p:cNvPicPr>
          <p:nvPr/>
        </p:nvPicPr>
        <p:blipFill>
          <a:blip r:embed="rId2"/>
          <a:stretch>
            <a:fillRect/>
          </a:stretch>
        </p:blipFill>
        <p:spPr>
          <a:xfrm>
            <a:off x="475488" y="2432304"/>
            <a:ext cx="457200" cy="457200"/>
          </a:xfrm>
          <a:prstGeom prst="rect">
            <a:avLst/>
          </a:prstGeom>
        </p:spPr>
      </p:pic>
      <p:sp>
        <p:nvSpPr>
          <p:cNvPr id="11" name="Text 7"/>
          <p:cNvSpPr/>
          <p:nvPr/>
        </p:nvSpPr>
        <p:spPr>
          <a:xfrm>
            <a:off x="1097280" y="2304288"/>
            <a:ext cx="5029200" cy="292608"/>
          </a:xfrm>
          <a:prstGeom prst="rect">
            <a:avLst/>
          </a:prstGeom>
          <a:noFill/>
          <a:ln/>
        </p:spPr>
        <p:txBody>
          <a:bodyPr wrap="square" rtlCol="0" anchor="ctr"/>
          <a:lstStyle/>
          <a:p>
            <a:pPr indent="0" marL="0">
              <a:buNone/>
            </a:pPr>
            <a:r>
              <a:rPr lang="en-US" sz="1300" b="1" dirty="0">
                <a:solidFill>
                  <a:srgbClr val="3FB950"/>
                </a:solidFill>
                <a:latin typeface="Calibri" pitchFamily="34" charset="0"/>
                <a:ea typeface="Calibri" pitchFamily="34" charset="-122"/>
                <a:cs typeface="Calibri" pitchFamily="34" charset="-120"/>
              </a:rPr>
              <a:t>RunMRU — Windows Run Dialog</a:t>
            </a:r>
            <a:endParaRPr lang="en-US" sz="1300" dirty="0"/>
          </a:p>
        </p:txBody>
      </p:sp>
      <p:sp>
        <p:nvSpPr>
          <p:cNvPr id="12" name="Text 8"/>
          <p:cNvSpPr/>
          <p:nvPr/>
        </p:nvSpPr>
        <p:spPr>
          <a:xfrm>
            <a:off x="6263640" y="2322576"/>
            <a:ext cx="2468880" cy="256032"/>
          </a:xfrm>
          <a:prstGeom prst="rect">
            <a:avLst/>
          </a:prstGeom>
          <a:noFill/>
          <a:ln/>
        </p:spPr>
        <p:txBody>
          <a:bodyPr wrap="square" rtlCol="0" anchor="ctr"/>
          <a:lstStyle/>
          <a:p>
            <a:pPr indent="0" marL="0">
              <a:buNone/>
            </a:pPr>
            <a:r>
              <a:rPr lang="en-US" sz="850" dirty="0">
                <a:solidFill>
                  <a:srgbClr val="D2A8FF"/>
                </a:solidFill>
                <a:latin typeface="Consolas" pitchFamily="34" charset="0"/>
                <a:ea typeface="Consolas" pitchFamily="34" charset="-122"/>
                <a:cs typeface="Consolas" pitchFamily="34" charset="-120"/>
              </a:rPr>
              <a:t>NTUSER.DAT\Software\Microsoft\Windows\CurrentVersion\Explorer\RunMRU</a:t>
            </a:r>
            <a:endParaRPr lang="en-US" sz="850" dirty="0"/>
          </a:p>
        </p:txBody>
      </p:sp>
      <p:sp>
        <p:nvSpPr>
          <p:cNvPr id="13" name="Text 9"/>
          <p:cNvSpPr/>
          <p:nvPr/>
        </p:nvSpPr>
        <p:spPr>
          <a:xfrm>
            <a:off x="1097280" y="2633472"/>
            <a:ext cx="7360920" cy="45720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Records every command typed into the Windows Run dialog box. Investigators use this to identify tools run from the command prompt, network paths accessed, and programs launched manually.</a:t>
            </a:r>
            <a:endParaRPr lang="en-US" sz="1100" dirty="0"/>
          </a:p>
        </p:txBody>
      </p:sp>
      <p:sp>
        <p:nvSpPr>
          <p:cNvPr id="14" name="Shape 10"/>
          <p:cNvSpPr/>
          <p:nvPr/>
        </p:nvSpPr>
        <p:spPr>
          <a:xfrm>
            <a:off x="274320" y="3255264"/>
            <a:ext cx="8595360" cy="91440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15" name="Image 2" descr="preencoded.png">    </p:cNvPr>
          <p:cNvPicPr>
            <a:picLocks noChangeAspect="1"/>
          </p:cNvPicPr>
          <p:nvPr/>
        </p:nvPicPr>
        <p:blipFill>
          <a:blip r:embed="rId3"/>
          <a:stretch>
            <a:fillRect/>
          </a:stretch>
        </p:blipFill>
        <p:spPr>
          <a:xfrm>
            <a:off x="475488" y="3456432"/>
            <a:ext cx="457200" cy="457200"/>
          </a:xfrm>
          <a:prstGeom prst="rect">
            <a:avLst/>
          </a:prstGeom>
        </p:spPr>
      </p:pic>
      <p:sp>
        <p:nvSpPr>
          <p:cNvPr id="16" name="Text 11"/>
          <p:cNvSpPr/>
          <p:nvPr/>
        </p:nvSpPr>
        <p:spPr>
          <a:xfrm>
            <a:off x="1097280" y="3328416"/>
            <a:ext cx="5029200" cy="292608"/>
          </a:xfrm>
          <a:prstGeom prst="rect">
            <a:avLst/>
          </a:prstGeom>
          <a:noFill/>
          <a:ln/>
        </p:spPr>
        <p:txBody>
          <a:bodyPr wrap="square" rtlCol="0" anchor="ctr"/>
          <a:lstStyle/>
          <a:p>
            <a:pPr indent="0" marL="0">
              <a:buNone/>
            </a:pPr>
            <a:r>
              <a:rPr lang="en-US" sz="1300" b="1" dirty="0">
                <a:solidFill>
                  <a:srgbClr val="D2A8FF"/>
                </a:solidFill>
                <a:latin typeface="Calibri" pitchFamily="34" charset="0"/>
                <a:ea typeface="Calibri" pitchFamily="34" charset="-122"/>
                <a:cs typeface="Calibri" pitchFamily="34" charset="-120"/>
              </a:rPr>
              <a:t>Application-Specific MRU</a:t>
            </a:r>
            <a:endParaRPr lang="en-US" sz="1300" dirty="0"/>
          </a:p>
        </p:txBody>
      </p:sp>
      <p:sp>
        <p:nvSpPr>
          <p:cNvPr id="17" name="Text 12"/>
          <p:cNvSpPr/>
          <p:nvPr/>
        </p:nvSpPr>
        <p:spPr>
          <a:xfrm>
            <a:off x="6263640" y="3346704"/>
            <a:ext cx="2468880" cy="256032"/>
          </a:xfrm>
          <a:prstGeom prst="rect">
            <a:avLst/>
          </a:prstGeom>
          <a:noFill/>
          <a:ln/>
        </p:spPr>
        <p:txBody>
          <a:bodyPr wrap="square" rtlCol="0" anchor="ctr"/>
          <a:lstStyle/>
          <a:p>
            <a:pPr indent="0" marL="0">
              <a:buNone/>
            </a:pPr>
            <a:r>
              <a:rPr lang="en-US" sz="850" dirty="0">
                <a:solidFill>
                  <a:srgbClr val="D2A8FF"/>
                </a:solidFill>
                <a:latin typeface="Consolas" pitchFamily="34" charset="0"/>
                <a:ea typeface="Consolas" pitchFamily="34" charset="-122"/>
                <a:cs typeface="Consolas" pitchFamily="34" charset="-120"/>
              </a:rPr>
              <a:t>NTUSER.DAT\Software\Microsoft\Office\... and other app paths</a:t>
            </a:r>
            <a:endParaRPr lang="en-US" sz="850" dirty="0"/>
          </a:p>
        </p:txBody>
      </p:sp>
      <p:sp>
        <p:nvSpPr>
          <p:cNvPr id="18" name="Text 13"/>
          <p:cNvSpPr/>
          <p:nvPr/>
        </p:nvSpPr>
        <p:spPr>
          <a:xfrm>
            <a:off x="1097280" y="3657600"/>
            <a:ext cx="7360920" cy="45720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Microsoft Office, Paint, Media Player, and other applications each maintain their own MRU lists. These tell you exactly which files each application opened, with paths that survive file deletion.</a:t>
            </a:r>
            <a:endParaRPr lang="en-US" sz="1100" dirty="0"/>
          </a:p>
        </p:txBody>
      </p:sp>
      <p:sp>
        <p:nvSpPr>
          <p:cNvPr id="19" name="Shape 14"/>
          <p:cNvSpPr/>
          <p:nvPr/>
        </p:nvSpPr>
        <p:spPr>
          <a:xfrm>
            <a:off x="274320" y="4279392"/>
            <a:ext cx="8595360" cy="91440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pic>
        <p:nvPicPr>
          <p:cNvPr id="20" name="Image 3" descr="preencoded.png">    </p:cNvPr>
          <p:cNvPicPr>
            <a:picLocks noChangeAspect="1"/>
          </p:cNvPicPr>
          <p:nvPr/>
        </p:nvPicPr>
        <p:blipFill>
          <a:blip r:embed="rId4"/>
          <a:stretch>
            <a:fillRect/>
          </a:stretch>
        </p:blipFill>
        <p:spPr>
          <a:xfrm>
            <a:off x="475488" y="4480560"/>
            <a:ext cx="457200" cy="457200"/>
          </a:xfrm>
          <a:prstGeom prst="rect">
            <a:avLst/>
          </a:prstGeom>
        </p:spPr>
      </p:pic>
      <p:sp>
        <p:nvSpPr>
          <p:cNvPr id="21" name="Text 15"/>
          <p:cNvSpPr/>
          <p:nvPr/>
        </p:nvSpPr>
        <p:spPr>
          <a:xfrm>
            <a:off x="1097280" y="4352544"/>
            <a:ext cx="5029200" cy="292608"/>
          </a:xfrm>
          <a:prstGeom prst="rect">
            <a:avLst/>
          </a:prstGeom>
          <a:noFill/>
          <a:ln/>
        </p:spPr>
        <p:txBody>
          <a:bodyPr wrap="square" rtlCol="0" anchor="ctr"/>
          <a:lstStyle/>
          <a:p>
            <a:pPr indent="0" marL="0">
              <a:buNone/>
            </a:pPr>
            <a:r>
              <a:rPr lang="en-US" sz="1300" b="1" dirty="0">
                <a:solidFill>
                  <a:srgbClr val="F78166"/>
                </a:solidFill>
                <a:latin typeface="Calibri" pitchFamily="34" charset="0"/>
                <a:ea typeface="Calibri" pitchFamily="34" charset="-122"/>
                <a:cs typeface="Calibri" pitchFamily="34" charset="-120"/>
              </a:rPr>
              <a:t>Internet Explorer History &amp; TypedURLs</a:t>
            </a:r>
            <a:endParaRPr lang="en-US" sz="1300" dirty="0"/>
          </a:p>
        </p:txBody>
      </p:sp>
      <p:sp>
        <p:nvSpPr>
          <p:cNvPr id="22" name="Text 16"/>
          <p:cNvSpPr/>
          <p:nvPr/>
        </p:nvSpPr>
        <p:spPr>
          <a:xfrm>
            <a:off x="6263640" y="4370832"/>
            <a:ext cx="2468880" cy="256032"/>
          </a:xfrm>
          <a:prstGeom prst="rect">
            <a:avLst/>
          </a:prstGeom>
          <a:noFill/>
          <a:ln/>
        </p:spPr>
        <p:txBody>
          <a:bodyPr wrap="square" rtlCol="0" anchor="ctr"/>
          <a:lstStyle/>
          <a:p>
            <a:pPr indent="0" marL="0">
              <a:buNone/>
            </a:pPr>
            <a:r>
              <a:rPr lang="en-US" sz="850" dirty="0">
                <a:solidFill>
                  <a:srgbClr val="D2A8FF"/>
                </a:solidFill>
                <a:latin typeface="Consolas" pitchFamily="34" charset="0"/>
                <a:ea typeface="Consolas" pitchFamily="34" charset="-122"/>
                <a:cs typeface="Consolas" pitchFamily="34" charset="-120"/>
              </a:rPr>
              <a:t>NTUSER.DAT\Software\Microsoft\Internet Explorer\TypedURLs</a:t>
            </a:r>
            <a:endParaRPr lang="en-US" sz="850" dirty="0"/>
          </a:p>
        </p:txBody>
      </p:sp>
      <p:sp>
        <p:nvSpPr>
          <p:cNvPr id="23" name="Text 17"/>
          <p:cNvSpPr/>
          <p:nvPr/>
        </p:nvSpPr>
        <p:spPr>
          <a:xfrm>
            <a:off x="1097280" y="4681728"/>
            <a:ext cx="7360920" cy="45720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TypedURLs records URLs entered directly into the IE address bar — these are the most deliberate navigation actions and can reveal intent. Supplements the browser cache analysis from Part A.</a:t>
            </a:r>
            <a:endParaRPr lang="en-US" sz="1100" dirty="0"/>
          </a:p>
        </p:txBody>
      </p:sp>
      <p:sp>
        <p:nvSpPr>
          <p:cNvPr id="24" name="Shape 18"/>
          <p:cNvSpPr/>
          <p:nvPr/>
        </p:nvSpPr>
        <p:spPr>
          <a:xfrm>
            <a:off x="274320" y="4709160"/>
            <a:ext cx="8595360" cy="292608"/>
          </a:xfrm>
          <a:prstGeom prst="rect">
            <a:avLst/>
          </a:prstGeom>
          <a:solidFill>
            <a:srgbClr val="001A0A"/>
          </a:solidFill>
          <a:ln w="12700">
            <a:solidFill>
              <a:srgbClr val="3FB950"/>
            </a:solidFill>
            <a:prstDash val="solid"/>
          </a:ln>
        </p:spPr>
      </p:sp>
      <p:sp>
        <p:nvSpPr>
          <p:cNvPr id="25" name="Text 19"/>
          <p:cNvSpPr/>
          <p:nvPr/>
        </p:nvSpPr>
        <p:spPr>
          <a:xfrm>
            <a:off x="457200" y="4736592"/>
            <a:ext cx="8321040" cy="256032"/>
          </a:xfrm>
          <a:prstGeom prst="rect">
            <a:avLst/>
          </a:prstGeom>
          <a:noFill/>
          <a:ln/>
        </p:spPr>
        <p:txBody>
          <a:bodyPr wrap="square" rtlCol="0" anchor="ctr"/>
          <a:lstStyle/>
          <a:p>
            <a:pPr indent="0" marL="0">
              <a:buNone/>
            </a:pPr>
            <a:r>
              <a:rPr lang="en-US" sz="1000" b="1" dirty="0">
                <a:solidFill>
                  <a:srgbClr val="3FB950"/>
                </a:solidFill>
                <a:latin typeface="Calibri" pitchFamily="34" charset="0"/>
                <a:ea typeface="Calibri" pitchFamily="34" charset="-122"/>
                <a:cs typeface="Calibri" pitchFamily="34" charset="-120"/>
              </a:rPr>
              <a:t>Key investigative files in this case: ATM_THEFTS1.ppt — its registry path proves access even if deleted from disk  |  Files on F: drive prove external device use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01168"/>
            <a:ext cx="8412480" cy="530352"/>
          </a:xfrm>
          <a:prstGeom prst="rect">
            <a:avLst/>
          </a:prstGeom>
          <a:noFill/>
          <a:ln/>
        </p:spPr>
        <p:txBody>
          <a:bodyPr wrap="square" rtlCol="0" anchor="ctr"/>
          <a:lstStyle/>
          <a:p>
            <a:pPr indent="0" marL="0">
              <a:buNone/>
            </a:pPr>
            <a:r>
              <a:rPr lang="en-US" sz="2600" b="1" dirty="0">
                <a:solidFill>
                  <a:srgbClr val="E6EDF3"/>
                </a:solidFill>
                <a:latin typeface="Calibri" pitchFamily="34" charset="0"/>
                <a:ea typeface="Calibri" pitchFamily="34" charset="-122"/>
                <a:cs typeface="Calibri" pitchFamily="34" charset="-120"/>
              </a:rPr>
              <a:t>Connecting the Evidence — Building the Case</a:t>
            </a:r>
            <a:endParaRPr lang="en-US" sz="2600" dirty="0"/>
          </a:p>
        </p:txBody>
      </p:sp>
      <p:sp>
        <p:nvSpPr>
          <p:cNvPr id="3" name="Text 1"/>
          <p:cNvSpPr/>
          <p:nvPr/>
        </p:nvSpPr>
        <p:spPr>
          <a:xfrm>
            <a:off x="365760" y="777240"/>
            <a:ext cx="8412480" cy="384048"/>
          </a:xfrm>
          <a:prstGeom prst="rect">
            <a:avLst/>
          </a:prstGeom>
          <a:noFill/>
          <a:ln/>
        </p:spPr>
        <p:txBody>
          <a:bodyPr wrap="square" rtlCol="0" anchor="ctr"/>
          <a:lstStyle/>
          <a:p>
            <a:pPr indent="0" marL="0">
              <a:buNone/>
            </a:pPr>
            <a:r>
              <a:rPr lang="en-US" sz="1250" i="1" dirty="0">
                <a:solidFill>
                  <a:srgbClr val="8B949E"/>
                </a:solidFill>
                <a:latin typeface="Calibri" pitchFamily="34" charset="0"/>
                <a:ea typeface="Calibri" pitchFamily="34" charset="-122"/>
                <a:cs typeface="Calibri" pitchFamily="34" charset="-120"/>
              </a:rPr>
              <a:t>Individual artifacts have limited value in isolation. The investigation becomes defensible when multiple artifact categories tell the same story.</a:t>
            </a:r>
            <a:endParaRPr lang="en-US" sz="1250" dirty="0"/>
          </a:p>
        </p:txBody>
      </p:sp>
      <p:sp>
        <p:nvSpPr>
          <p:cNvPr id="4" name="Shape 2"/>
          <p:cNvSpPr/>
          <p:nvPr/>
        </p:nvSpPr>
        <p:spPr>
          <a:xfrm>
            <a:off x="274320" y="1280160"/>
            <a:ext cx="8595360" cy="640080"/>
          </a:xfrm>
          <a:prstGeom prst="rect">
            <a:avLst/>
          </a:prstGeom>
          <a:solidFill>
            <a:srgbClr val="1C2333"/>
          </a:solidFill>
          <a:ln w="12700">
            <a:solidFill>
              <a:srgbClr val="000000"/>
            </a:solidFill>
            <a:prstDash val="solid"/>
          </a:ln>
          <a:effectLst>
            <a:outerShdw sx="100000" sy="100000" kx="0" ky="0" algn="bl" rotWithShape="0" blurRad="127000" dist="38100" dir="8100000">
              <a:srgbClr val="000000">
                <a:alpha val="18000"/>
              </a:srgbClr>
            </a:outerShdw>
          </a:effectLst>
        </p:spPr>
      </p:sp>
      <p:sp>
        <p:nvSpPr>
          <p:cNvPr id="5" name="Shape 3"/>
          <p:cNvSpPr/>
          <p:nvPr/>
        </p:nvSpPr>
        <p:spPr>
          <a:xfrm>
            <a:off x="274320" y="1280160"/>
            <a:ext cx="109728" cy="640080"/>
          </a:xfrm>
          <a:prstGeom prst="rect">
            <a:avLst/>
          </a:prstGeom>
          <a:solidFill>
            <a:srgbClr val="58A6FF"/>
          </a:solidFill>
          <a:ln w="12700">
            <a:solidFill>
              <a:srgbClr val="58A6FF"/>
            </a:solidFill>
            <a:prstDash val="solid"/>
          </a:ln>
        </p:spPr>
      </p:sp>
      <p:sp>
        <p:nvSpPr>
          <p:cNvPr id="6" name="Text 4"/>
          <p:cNvSpPr/>
          <p:nvPr/>
        </p:nvSpPr>
        <p:spPr>
          <a:xfrm>
            <a:off x="502920" y="1335024"/>
            <a:ext cx="3017520" cy="256032"/>
          </a:xfrm>
          <a:prstGeom prst="rect">
            <a:avLst/>
          </a:prstGeom>
          <a:noFill/>
          <a:ln/>
        </p:spPr>
        <p:txBody>
          <a:bodyPr wrap="square" rtlCol="0" anchor="ctr"/>
          <a:lstStyle/>
          <a:p>
            <a:pPr indent="0" marL="0">
              <a:buNone/>
            </a:pPr>
            <a:r>
              <a:rPr lang="en-US" sz="1200" b="1" dirty="0">
                <a:solidFill>
                  <a:srgbClr val="58A6FF"/>
                </a:solidFill>
                <a:latin typeface="Calibri" pitchFamily="34" charset="0"/>
                <a:ea typeface="Calibri" pitchFamily="34" charset="-122"/>
                <a:cs typeface="Calibri" pitchFamily="34" charset="-120"/>
              </a:rPr>
              <a:t>Thumbcache</a:t>
            </a:r>
            <a:endParaRPr lang="en-US" sz="1200" dirty="0"/>
          </a:p>
        </p:txBody>
      </p:sp>
      <p:sp>
        <p:nvSpPr>
          <p:cNvPr id="7" name="Text 5"/>
          <p:cNvSpPr/>
          <p:nvPr/>
        </p:nvSpPr>
        <p:spPr>
          <a:xfrm>
            <a:off x="502920" y="1609344"/>
            <a:ext cx="8138160" cy="256032"/>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Thumbnails of check images viewed in Explorer — visual proof of access</a:t>
            </a:r>
            <a:endParaRPr lang="en-US" sz="1100" dirty="0"/>
          </a:p>
        </p:txBody>
      </p:sp>
      <p:sp>
        <p:nvSpPr>
          <p:cNvPr id="8" name="Shape 6"/>
          <p:cNvSpPr/>
          <p:nvPr/>
        </p:nvSpPr>
        <p:spPr>
          <a:xfrm>
            <a:off x="4297680" y="1920240"/>
            <a:ext cx="0" cy="73152"/>
          </a:xfrm>
          <a:prstGeom prst="line">
            <a:avLst/>
          </a:prstGeom>
          <a:noFill/>
          <a:ln w="12700">
            <a:solidFill>
              <a:srgbClr val="8B949E"/>
            </a:solidFill>
            <a:prstDash val="dash"/>
          </a:ln>
        </p:spPr>
      </p:sp>
      <p:sp>
        <p:nvSpPr>
          <p:cNvPr id="9" name="Shape 7"/>
          <p:cNvSpPr/>
          <p:nvPr/>
        </p:nvSpPr>
        <p:spPr>
          <a:xfrm>
            <a:off x="274320" y="1993392"/>
            <a:ext cx="8595360" cy="640080"/>
          </a:xfrm>
          <a:prstGeom prst="rect">
            <a:avLst/>
          </a:prstGeom>
          <a:solidFill>
            <a:srgbClr val="1C2333"/>
          </a:solidFill>
          <a:ln w="12700">
            <a:solidFill>
              <a:srgbClr val="000000"/>
            </a:solidFill>
            <a:prstDash val="solid"/>
          </a:ln>
          <a:effectLst>
            <a:outerShdw sx="100000" sy="100000" kx="0" ky="0" algn="bl" rotWithShape="0" blurRad="127000" dist="38100" dir="8100000">
              <a:srgbClr val="000000">
                <a:alpha val="18000"/>
              </a:srgbClr>
            </a:outerShdw>
          </a:effectLst>
        </p:spPr>
      </p:sp>
      <p:sp>
        <p:nvSpPr>
          <p:cNvPr id="10" name="Shape 8"/>
          <p:cNvSpPr/>
          <p:nvPr/>
        </p:nvSpPr>
        <p:spPr>
          <a:xfrm>
            <a:off x="274320" y="1993392"/>
            <a:ext cx="109728" cy="640080"/>
          </a:xfrm>
          <a:prstGeom prst="rect">
            <a:avLst/>
          </a:prstGeom>
          <a:solidFill>
            <a:srgbClr val="F78166"/>
          </a:solidFill>
          <a:ln w="12700">
            <a:solidFill>
              <a:srgbClr val="F78166"/>
            </a:solidFill>
            <a:prstDash val="solid"/>
          </a:ln>
        </p:spPr>
      </p:sp>
      <p:sp>
        <p:nvSpPr>
          <p:cNvPr id="11" name="Text 9"/>
          <p:cNvSpPr/>
          <p:nvPr/>
        </p:nvSpPr>
        <p:spPr>
          <a:xfrm>
            <a:off x="502920" y="2048256"/>
            <a:ext cx="3017520" cy="256032"/>
          </a:xfrm>
          <a:prstGeom prst="rect">
            <a:avLst/>
          </a:prstGeom>
          <a:noFill/>
          <a:ln/>
        </p:spPr>
        <p:txBody>
          <a:bodyPr wrap="square" rtlCol="0" anchor="ctr"/>
          <a:lstStyle/>
          <a:p>
            <a:pPr indent="0" marL="0">
              <a:buNone/>
            </a:pPr>
            <a:r>
              <a:rPr lang="en-US" sz="1200" b="1" dirty="0">
                <a:solidFill>
                  <a:srgbClr val="F78166"/>
                </a:solidFill>
                <a:latin typeface="Calibri" pitchFamily="34" charset="0"/>
                <a:ea typeface="Calibri" pitchFamily="34" charset="-122"/>
                <a:cs typeface="Calibri" pitchFamily="34" charset="-120"/>
              </a:rPr>
              <a:t>Camerashy.exe in Recycle Bin</a:t>
            </a:r>
            <a:endParaRPr lang="en-US" sz="1200" dirty="0"/>
          </a:p>
        </p:txBody>
      </p:sp>
      <p:sp>
        <p:nvSpPr>
          <p:cNvPr id="12" name="Text 10"/>
          <p:cNvSpPr/>
          <p:nvPr/>
        </p:nvSpPr>
        <p:spPr>
          <a:xfrm>
            <a:off x="502920" y="2322576"/>
            <a:ext cx="8138160" cy="256032"/>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Steganography tool — data hidden in images — found deleted, proving attempt to conceal</a:t>
            </a:r>
            <a:endParaRPr lang="en-US" sz="1100" dirty="0"/>
          </a:p>
        </p:txBody>
      </p:sp>
      <p:sp>
        <p:nvSpPr>
          <p:cNvPr id="13" name="Shape 11"/>
          <p:cNvSpPr/>
          <p:nvPr/>
        </p:nvSpPr>
        <p:spPr>
          <a:xfrm>
            <a:off x="4297680" y="2633472"/>
            <a:ext cx="0" cy="73152"/>
          </a:xfrm>
          <a:prstGeom prst="line">
            <a:avLst/>
          </a:prstGeom>
          <a:noFill/>
          <a:ln w="12700">
            <a:solidFill>
              <a:srgbClr val="8B949E"/>
            </a:solidFill>
            <a:prstDash val="dash"/>
          </a:ln>
        </p:spPr>
      </p:sp>
      <p:sp>
        <p:nvSpPr>
          <p:cNvPr id="14" name="Shape 12"/>
          <p:cNvSpPr/>
          <p:nvPr/>
        </p:nvSpPr>
        <p:spPr>
          <a:xfrm>
            <a:off x="274320" y="2706624"/>
            <a:ext cx="8595360" cy="640080"/>
          </a:xfrm>
          <a:prstGeom prst="rect">
            <a:avLst/>
          </a:prstGeom>
          <a:solidFill>
            <a:srgbClr val="1C2333"/>
          </a:solidFill>
          <a:ln w="12700">
            <a:solidFill>
              <a:srgbClr val="000000"/>
            </a:solidFill>
            <a:prstDash val="solid"/>
          </a:ln>
          <a:effectLst>
            <a:outerShdw sx="100000" sy="100000" kx="0" ky="0" algn="bl" rotWithShape="0" blurRad="127000" dist="38100" dir="8100000">
              <a:srgbClr val="000000">
                <a:alpha val="18000"/>
              </a:srgbClr>
            </a:outerShdw>
          </a:effectLst>
        </p:spPr>
      </p:sp>
      <p:sp>
        <p:nvSpPr>
          <p:cNvPr id="15" name="Shape 13"/>
          <p:cNvSpPr/>
          <p:nvPr/>
        </p:nvSpPr>
        <p:spPr>
          <a:xfrm>
            <a:off x="274320" y="2706624"/>
            <a:ext cx="109728" cy="640080"/>
          </a:xfrm>
          <a:prstGeom prst="rect">
            <a:avLst/>
          </a:prstGeom>
          <a:solidFill>
            <a:srgbClr val="D2A8FF"/>
          </a:solidFill>
          <a:ln w="12700">
            <a:solidFill>
              <a:srgbClr val="D2A8FF"/>
            </a:solidFill>
            <a:prstDash val="solid"/>
          </a:ln>
        </p:spPr>
      </p:sp>
      <p:sp>
        <p:nvSpPr>
          <p:cNvPr id="16" name="Text 14"/>
          <p:cNvSpPr/>
          <p:nvPr/>
        </p:nvSpPr>
        <p:spPr>
          <a:xfrm>
            <a:off x="502920" y="2761488"/>
            <a:ext cx="3017520" cy="256032"/>
          </a:xfrm>
          <a:prstGeom prst="rect">
            <a:avLst/>
          </a:prstGeom>
          <a:noFill/>
          <a:ln/>
        </p:spPr>
        <p:txBody>
          <a:bodyPr wrap="square" rtlCol="0" anchor="ctr"/>
          <a:lstStyle/>
          <a:p>
            <a:pPr indent="0" marL="0">
              <a:buNone/>
            </a:pPr>
            <a:r>
              <a:rPr lang="en-US" sz="1200" b="1" dirty="0">
                <a:solidFill>
                  <a:srgbClr val="D2A8FF"/>
                </a:solidFill>
                <a:latin typeface="Calibri" pitchFamily="34" charset="0"/>
                <a:ea typeface="Calibri" pitchFamily="34" charset="-122"/>
                <a:cs typeface="Calibri" pitchFamily="34" charset="-120"/>
              </a:rPr>
              <a:t>ATM_THEFTS1.ppt in MRU</a:t>
            </a:r>
            <a:endParaRPr lang="en-US" sz="1200" dirty="0"/>
          </a:p>
        </p:txBody>
      </p:sp>
      <p:sp>
        <p:nvSpPr>
          <p:cNvPr id="17" name="Text 15"/>
          <p:cNvSpPr/>
          <p:nvPr/>
        </p:nvSpPr>
        <p:spPr>
          <a:xfrm>
            <a:off x="502920" y="3035808"/>
            <a:ext cx="8138160" cy="256032"/>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Registry records the file path even after deletion — intent and knowledge proved</a:t>
            </a:r>
            <a:endParaRPr lang="en-US" sz="1100" dirty="0"/>
          </a:p>
        </p:txBody>
      </p:sp>
      <p:sp>
        <p:nvSpPr>
          <p:cNvPr id="18" name="Shape 16"/>
          <p:cNvSpPr/>
          <p:nvPr/>
        </p:nvSpPr>
        <p:spPr>
          <a:xfrm>
            <a:off x="4297680" y="3346704"/>
            <a:ext cx="0" cy="73152"/>
          </a:xfrm>
          <a:prstGeom prst="line">
            <a:avLst/>
          </a:prstGeom>
          <a:noFill/>
          <a:ln w="12700">
            <a:solidFill>
              <a:srgbClr val="8B949E"/>
            </a:solidFill>
            <a:prstDash val="dash"/>
          </a:ln>
        </p:spPr>
      </p:sp>
      <p:sp>
        <p:nvSpPr>
          <p:cNvPr id="19" name="Shape 17"/>
          <p:cNvSpPr/>
          <p:nvPr/>
        </p:nvSpPr>
        <p:spPr>
          <a:xfrm>
            <a:off x="274320" y="3419856"/>
            <a:ext cx="8595360" cy="640080"/>
          </a:xfrm>
          <a:prstGeom prst="rect">
            <a:avLst/>
          </a:prstGeom>
          <a:solidFill>
            <a:srgbClr val="1C2333"/>
          </a:solidFill>
          <a:ln w="12700">
            <a:solidFill>
              <a:srgbClr val="000000"/>
            </a:solidFill>
            <a:prstDash val="solid"/>
          </a:ln>
          <a:effectLst>
            <a:outerShdw sx="100000" sy="100000" kx="0" ky="0" algn="bl" rotWithShape="0" blurRad="127000" dist="38100" dir="8100000">
              <a:srgbClr val="000000">
                <a:alpha val="18000"/>
              </a:srgbClr>
            </a:outerShdw>
          </a:effectLst>
        </p:spPr>
      </p:sp>
      <p:sp>
        <p:nvSpPr>
          <p:cNvPr id="20" name="Shape 18"/>
          <p:cNvSpPr/>
          <p:nvPr/>
        </p:nvSpPr>
        <p:spPr>
          <a:xfrm>
            <a:off x="274320" y="3419856"/>
            <a:ext cx="109728" cy="640080"/>
          </a:xfrm>
          <a:prstGeom prst="rect">
            <a:avLst/>
          </a:prstGeom>
          <a:solidFill>
            <a:srgbClr val="3FB950"/>
          </a:solidFill>
          <a:ln w="12700">
            <a:solidFill>
              <a:srgbClr val="3FB950"/>
            </a:solidFill>
            <a:prstDash val="solid"/>
          </a:ln>
        </p:spPr>
      </p:sp>
      <p:sp>
        <p:nvSpPr>
          <p:cNvPr id="21" name="Text 19"/>
          <p:cNvSpPr/>
          <p:nvPr/>
        </p:nvSpPr>
        <p:spPr>
          <a:xfrm>
            <a:off x="502920" y="3474720"/>
            <a:ext cx="3017520" cy="256032"/>
          </a:xfrm>
          <a:prstGeom prst="rect">
            <a:avLst/>
          </a:prstGeom>
          <a:noFill/>
          <a:ln/>
        </p:spPr>
        <p:txBody>
          <a:bodyPr wrap="square" rtlCol="0" anchor="ctr"/>
          <a:lstStyle/>
          <a:p>
            <a:pPr indent="0" marL="0">
              <a:buNone/>
            </a:pPr>
            <a:r>
              <a:rPr lang="en-US" sz="1200" b="1" dirty="0">
                <a:solidFill>
                  <a:srgbClr val="3FB950"/>
                </a:solidFill>
                <a:latin typeface="Calibri" pitchFamily="34" charset="0"/>
                <a:ea typeface="Calibri" pitchFamily="34" charset="-122"/>
                <a:cs typeface="Calibri" pitchFamily="34" charset="-120"/>
              </a:rPr>
              <a:t>Xcopy in Prefetch</a:t>
            </a:r>
            <a:endParaRPr lang="en-US" sz="1200" dirty="0"/>
          </a:p>
        </p:txBody>
      </p:sp>
      <p:sp>
        <p:nvSpPr>
          <p:cNvPr id="22" name="Text 20"/>
          <p:cNvSpPr/>
          <p:nvPr/>
        </p:nvSpPr>
        <p:spPr>
          <a:xfrm>
            <a:off x="502920" y="3749040"/>
            <a:ext cx="8138160" cy="256032"/>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Bulk copy tool was used — files likely moved to an external device (F: drive)</a:t>
            </a:r>
            <a:endParaRPr lang="en-US" sz="1100" dirty="0"/>
          </a:p>
        </p:txBody>
      </p:sp>
      <p:sp>
        <p:nvSpPr>
          <p:cNvPr id="23" name="Shape 21"/>
          <p:cNvSpPr/>
          <p:nvPr/>
        </p:nvSpPr>
        <p:spPr>
          <a:xfrm>
            <a:off x="4297680" y="4059936"/>
            <a:ext cx="0" cy="73152"/>
          </a:xfrm>
          <a:prstGeom prst="line">
            <a:avLst/>
          </a:prstGeom>
          <a:noFill/>
          <a:ln w="12700">
            <a:solidFill>
              <a:srgbClr val="8B949E"/>
            </a:solidFill>
            <a:prstDash val="dash"/>
          </a:ln>
        </p:spPr>
      </p:sp>
      <p:sp>
        <p:nvSpPr>
          <p:cNvPr id="24" name="Shape 22"/>
          <p:cNvSpPr/>
          <p:nvPr/>
        </p:nvSpPr>
        <p:spPr>
          <a:xfrm>
            <a:off x="274320" y="4133088"/>
            <a:ext cx="8595360" cy="640080"/>
          </a:xfrm>
          <a:prstGeom prst="rect">
            <a:avLst/>
          </a:prstGeom>
          <a:solidFill>
            <a:srgbClr val="1C2333"/>
          </a:solidFill>
          <a:ln w="12700">
            <a:solidFill>
              <a:srgbClr val="000000"/>
            </a:solidFill>
            <a:prstDash val="solid"/>
          </a:ln>
          <a:effectLst>
            <a:outerShdw sx="100000" sy="100000" kx="0" ky="0" algn="bl" rotWithShape="0" blurRad="127000" dist="38100" dir="8100000">
              <a:srgbClr val="000000">
                <a:alpha val="18000"/>
              </a:srgbClr>
            </a:outerShdw>
          </a:effectLst>
        </p:spPr>
      </p:sp>
      <p:sp>
        <p:nvSpPr>
          <p:cNvPr id="25" name="Shape 23"/>
          <p:cNvSpPr/>
          <p:nvPr/>
        </p:nvSpPr>
        <p:spPr>
          <a:xfrm>
            <a:off x="274320" y="4133088"/>
            <a:ext cx="109728" cy="640080"/>
          </a:xfrm>
          <a:prstGeom prst="rect">
            <a:avLst/>
          </a:prstGeom>
          <a:solidFill>
            <a:srgbClr val="F0E68C"/>
          </a:solidFill>
          <a:ln w="12700">
            <a:solidFill>
              <a:srgbClr val="F0E68C"/>
            </a:solidFill>
            <a:prstDash val="solid"/>
          </a:ln>
        </p:spPr>
      </p:sp>
      <p:sp>
        <p:nvSpPr>
          <p:cNvPr id="26" name="Text 24"/>
          <p:cNvSpPr/>
          <p:nvPr/>
        </p:nvSpPr>
        <p:spPr>
          <a:xfrm>
            <a:off x="502920" y="4187952"/>
            <a:ext cx="3017520" cy="256032"/>
          </a:xfrm>
          <a:prstGeom prst="rect">
            <a:avLst/>
          </a:prstGeom>
          <a:noFill/>
          <a:ln/>
        </p:spPr>
        <p:txBody>
          <a:bodyPr wrap="square" rtlCol="0" anchor="ctr"/>
          <a:lstStyle/>
          <a:p>
            <a:pPr indent="0" marL="0">
              <a:buNone/>
            </a:pPr>
            <a:r>
              <a:rPr lang="en-US" sz="1200" b="1" dirty="0">
                <a:solidFill>
                  <a:srgbClr val="F0E68C"/>
                </a:solidFill>
                <a:latin typeface="Calibri" pitchFamily="34" charset="0"/>
                <a:ea typeface="Calibri" pitchFamily="34" charset="-122"/>
                <a:cs typeface="Calibri" pitchFamily="34" charset="-120"/>
              </a:rPr>
              <a:t>USB Devices in Registry</a:t>
            </a:r>
            <a:endParaRPr lang="en-US" sz="1200" dirty="0"/>
          </a:p>
        </p:txBody>
      </p:sp>
      <p:sp>
        <p:nvSpPr>
          <p:cNvPr id="27" name="Text 25"/>
          <p:cNvSpPr/>
          <p:nvPr/>
        </p:nvSpPr>
        <p:spPr>
          <a:xfrm>
            <a:off x="502920" y="4462272"/>
            <a:ext cx="8138160" cy="256032"/>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Serial numbers and drive letters prove specific external storage was connected</a:t>
            </a:r>
            <a:endParaRPr lang="en-US" sz="1100" dirty="0"/>
          </a:p>
        </p:txBody>
      </p:sp>
      <p:sp>
        <p:nvSpPr>
          <p:cNvPr id="28" name="Shape 26"/>
          <p:cNvSpPr/>
          <p:nvPr/>
        </p:nvSpPr>
        <p:spPr>
          <a:xfrm>
            <a:off x="274320" y="4800600"/>
            <a:ext cx="8595360" cy="237744"/>
          </a:xfrm>
          <a:prstGeom prst="rect">
            <a:avLst/>
          </a:prstGeom>
          <a:solidFill>
            <a:srgbClr val="001818"/>
          </a:solidFill>
          <a:ln w="12700">
            <a:solidFill>
              <a:srgbClr val="58A6FF"/>
            </a:solidFill>
            <a:prstDash val="solid"/>
          </a:ln>
        </p:spPr>
      </p:sp>
      <p:sp>
        <p:nvSpPr>
          <p:cNvPr id="29" name="Text 27"/>
          <p:cNvSpPr/>
          <p:nvPr/>
        </p:nvSpPr>
        <p:spPr>
          <a:xfrm>
            <a:off x="457200" y="4818888"/>
            <a:ext cx="8321040" cy="201168"/>
          </a:xfrm>
          <a:prstGeom prst="rect">
            <a:avLst/>
          </a:prstGeom>
          <a:noFill/>
          <a:ln/>
        </p:spPr>
        <p:txBody>
          <a:bodyPr wrap="square" rtlCol="0" anchor="ctr"/>
          <a:lstStyle/>
          <a:p>
            <a:pPr algn="ctr" indent="0" marL="0">
              <a:buNone/>
            </a:pPr>
            <a:r>
              <a:rPr lang="en-US" sz="1000" b="1" dirty="0">
                <a:solidFill>
                  <a:srgbClr val="58A6FF"/>
                </a:solidFill>
                <a:latin typeface="Calibri" pitchFamily="34" charset="0"/>
                <a:ea typeface="Calibri" pitchFamily="34" charset="-122"/>
                <a:cs typeface="Calibri" pitchFamily="34" charset="-120"/>
              </a:rPr>
              <a:t>The investigation commentary synthesises all findings into a single narrative — this is what makes the report useful to a prosecutor.</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1B22"/>
          </a:solidFill>
          <a:ln w="12700">
            <a:solidFill>
              <a:srgbClr val="161B22"/>
            </a:solidFill>
            <a:prstDash val="solid"/>
          </a:ln>
        </p:spPr>
      </p:sp>
      <p:sp>
        <p:nvSpPr>
          <p:cNvPr id="3" name="Shape 1"/>
          <p:cNvSpPr/>
          <p:nvPr/>
        </p:nvSpPr>
        <p:spPr>
          <a:xfrm>
            <a:off x="0" y="0"/>
            <a:ext cx="128016" cy="5143500"/>
          </a:xfrm>
          <a:prstGeom prst="rect">
            <a:avLst/>
          </a:prstGeom>
          <a:solidFill>
            <a:srgbClr val="3FB950"/>
          </a:solidFill>
          <a:ln w="12700">
            <a:solidFill>
              <a:srgbClr val="3FB950"/>
            </a:solidFill>
            <a:prstDash val="solid"/>
          </a:ln>
        </p:spPr>
      </p:sp>
      <p:sp>
        <p:nvSpPr>
          <p:cNvPr id="4" name="Text 2"/>
          <p:cNvSpPr/>
          <p:nvPr/>
        </p:nvSpPr>
        <p:spPr>
          <a:xfrm>
            <a:off x="365760" y="228600"/>
            <a:ext cx="8412480" cy="59436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Week 10 — Key Takeaways</a:t>
            </a:r>
            <a:endParaRPr lang="en-US" sz="2800" dirty="0"/>
          </a:p>
        </p:txBody>
      </p:sp>
      <p:sp>
        <p:nvSpPr>
          <p:cNvPr id="5" name="Shape 3"/>
          <p:cNvSpPr/>
          <p:nvPr/>
        </p:nvSpPr>
        <p:spPr>
          <a:xfrm>
            <a:off x="320040" y="1051560"/>
            <a:ext cx="4114800" cy="160020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sp>
        <p:nvSpPr>
          <p:cNvPr id="6" name="Shape 4"/>
          <p:cNvSpPr/>
          <p:nvPr/>
        </p:nvSpPr>
        <p:spPr>
          <a:xfrm>
            <a:off x="457200" y="1188720"/>
            <a:ext cx="502920" cy="502920"/>
          </a:xfrm>
          <a:prstGeom prst="rect">
            <a:avLst/>
          </a:prstGeom>
          <a:solidFill>
            <a:srgbClr val="58A6FF"/>
          </a:solidFill>
          <a:ln w="12700">
            <a:solidFill>
              <a:srgbClr val="58A6FF"/>
            </a:solidFill>
            <a:prstDash val="solid"/>
          </a:ln>
        </p:spPr>
      </p:sp>
      <p:sp>
        <p:nvSpPr>
          <p:cNvPr id="7" name="Text 5"/>
          <p:cNvSpPr/>
          <p:nvPr/>
        </p:nvSpPr>
        <p:spPr>
          <a:xfrm>
            <a:off x="457200" y="1188720"/>
            <a:ext cx="502920" cy="502920"/>
          </a:xfrm>
          <a:prstGeom prst="rect">
            <a:avLst/>
          </a:prstGeom>
          <a:noFill/>
          <a:ln/>
        </p:spPr>
        <p:txBody>
          <a:bodyPr wrap="square" rtlCol="0" anchor="ctr"/>
          <a:lstStyle/>
          <a:p>
            <a:pPr algn="ctr" indent="0" marL="0">
              <a:buNone/>
            </a:pPr>
            <a:r>
              <a:rPr lang="en-US" sz="1600" b="1" dirty="0">
                <a:solidFill>
                  <a:srgbClr val="0D1117"/>
                </a:solidFill>
                <a:latin typeface="Calibri" pitchFamily="34" charset="0"/>
                <a:ea typeface="Calibri" pitchFamily="34" charset="-122"/>
                <a:cs typeface="Calibri" pitchFamily="34" charset="-120"/>
              </a:rPr>
              <a:t>01</a:t>
            </a:r>
            <a:endParaRPr lang="en-US" sz="1600" dirty="0"/>
          </a:p>
        </p:txBody>
      </p:sp>
      <p:sp>
        <p:nvSpPr>
          <p:cNvPr id="8" name="Text 6"/>
          <p:cNvSpPr/>
          <p:nvPr/>
        </p:nvSpPr>
        <p:spPr>
          <a:xfrm>
            <a:off x="1097280" y="1188720"/>
            <a:ext cx="3200400" cy="438912"/>
          </a:xfrm>
          <a:prstGeom prst="rect">
            <a:avLst/>
          </a:prstGeom>
          <a:noFill/>
          <a:ln/>
        </p:spPr>
        <p:txBody>
          <a:bodyPr wrap="square" rtlCol="0" anchor="ctr"/>
          <a:lstStyle/>
          <a:p>
            <a:pPr indent="0" marL="0">
              <a:buNone/>
            </a:pPr>
            <a:r>
              <a:rPr lang="en-US" sz="1200" b="1" dirty="0">
                <a:solidFill>
                  <a:srgbClr val="58A6FF"/>
                </a:solidFill>
                <a:latin typeface="Calibri" pitchFamily="34" charset="0"/>
                <a:ea typeface="Calibri" pitchFamily="34" charset="-122"/>
                <a:cs typeface="Calibri" pitchFamily="34" charset="-120"/>
              </a:rPr>
              <a:t>Autopsy Brings Everything Together</a:t>
            </a:r>
            <a:endParaRPr lang="en-US" sz="1200" dirty="0"/>
          </a:p>
        </p:txBody>
      </p:sp>
      <p:sp>
        <p:nvSpPr>
          <p:cNvPr id="9" name="Text 7"/>
          <p:cNvSpPr/>
          <p:nvPr/>
        </p:nvSpPr>
        <p:spPr>
          <a:xfrm>
            <a:off x="457200" y="1764792"/>
            <a:ext cx="3840480" cy="77724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Autopsy ingests forensic images and automates artifact extraction. Always set the timezone and let the full ingest finish before investigating. The MD5 hash goes at the top of every report.</a:t>
            </a:r>
            <a:endParaRPr lang="en-US" sz="1100" dirty="0"/>
          </a:p>
        </p:txBody>
      </p:sp>
      <p:sp>
        <p:nvSpPr>
          <p:cNvPr id="10" name="Shape 8"/>
          <p:cNvSpPr/>
          <p:nvPr/>
        </p:nvSpPr>
        <p:spPr>
          <a:xfrm>
            <a:off x="4663440" y="1051560"/>
            <a:ext cx="4114800" cy="160020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sp>
        <p:nvSpPr>
          <p:cNvPr id="11" name="Shape 9"/>
          <p:cNvSpPr/>
          <p:nvPr/>
        </p:nvSpPr>
        <p:spPr>
          <a:xfrm>
            <a:off x="4800600" y="1188720"/>
            <a:ext cx="502920" cy="502920"/>
          </a:xfrm>
          <a:prstGeom prst="rect">
            <a:avLst/>
          </a:prstGeom>
          <a:solidFill>
            <a:srgbClr val="F78166"/>
          </a:solidFill>
          <a:ln w="12700">
            <a:solidFill>
              <a:srgbClr val="F78166"/>
            </a:solidFill>
            <a:prstDash val="solid"/>
          </a:ln>
        </p:spPr>
      </p:sp>
      <p:sp>
        <p:nvSpPr>
          <p:cNvPr id="12" name="Text 10"/>
          <p:cNvSpPr/>
          <p:nvPr/>
        </p:nvSpPr>
        <p:spPr>
          <a:xfrm>
            <a:off x="4800600" y="1188720"/>
            <a:ext cx="502920" cy="502920"/>
          </a:xfrm>
          <a:prstGeom prst="rect">
            <a:avLst/>
          </a:prstGeom>
          <a:noFill/>
          <a:ln/>
        </p:spPr>
        <p:txBody>
          <a:bodyPr wrap="square" rtlCol="0" anchor="ctr"/>
          <a:lstStyle/>
          <a:p>
            <a:pPr algn="ctr" indent="0" marL="0">
              <a:buNone/>
            </a:pPr>
            <a:r>
              <a:rPr lang="en-US" sz="1600" b="1" dirty="0">
                <a:solidFill>
                  <a:srgbClr val="0D1117"/>
                </a:solidFill>
                <a:latin typeface="Calibri" pitchFamily="34" charset="0"/>
                <a:ea typeface="Calibri" pitchFamily="34" charset="-122"/>
                <a:cs typeface="Calibri" pitchFamily="34" charset="-120"/>
              </a:rPr>
              <a:t>02</a:t>
            </a:r>
            <a:endParaRPr lang="en-US" sz="1600" dirty="0"/>
          </a:p>
        </p:txBody>
      </p:sp>
      <p:sp>
        <p:nvSpPr>
          <p:cNvPr id="13" name="Text 11"/>
          <p:cNvSpPr/>
          <p:nvPr/>
        </p:nvSpPr>
        <p:spPr>
          <a:xfrm>
            <a:off x="5440680" y="1188720"/>
            <a:ext cx="3200400" cy="438912"/>
          </a:xfrm>
          <a:prstGeom prst="rect">
            <a:avLst/>
          </a:prstGeom>
          <a:noFill/>
          <a:ln/>
        </p:spPr>
        <p:txBody>
          <a:bodyPr wrap="square" rtlCol="0" anchor="ctr"/>
          <a:lstStyle/>
          <a:p>
            <a:pPr indent="0" marL="0">
              <a:buNone/>
            </a:pPr>
            <a:r>
              <a:rPr lang="en-US" sz="1200" b="1" dirty="0">
                <a:solidFill>
                  <a:srgbClr val="F78166"/>
                </a:solidFill>
                <a:latin typeface="Calibri" pitchFamily="34" charset="0"/>
                <a:ea typeface="Calibri" pitchFamily="34" charset="-122"/>
                <a:cs typeface="Calibri" pitchFamily="34" charset="-120"/>
              </a:rPr>
              <a:t>Artifacts Survive Deletion</a:t>
            </a:r>
            <a:endParaRPr lang="en-US" sz="1200" dirty="0"/>
          </a:p>
        </p:txBody>
      </p:sp>
      <p:sp>
        <p:nvSpPr>
          <p:cNvPr id="14" name="Text 12"/>
          <p:cNvSpPr/>
          <p:nvPr/>
        </p:nvSpPr>
        <p:spPr>
          <a:xfrm>
            <a:off x="4800600" y="1764792"/>
            <a:ext cx="3840480" cy="77724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Thumbcache, LNK files, prefetch entries, and registry MRU lists all persist after the original files are deleted. The user's attempt to delete evidence often leaves more evidence behind.</a:t>
            </a:r>
            <a:endParaRPr lang="en-US" sz="1100" dirty="0"/>
          </a:p>
        </p:txBody>
      </p:sp>
      <p:sp>
        <p:nvSpPr>
          <p:cNvPr id="15" name="Shape 13"/>
          <p:cNvSpPr/>
          <p:nvPr/>
        </p:nvSpPr>
        <p:spPr>
          <a:xfrm>
            <a:off x="320040" y="2880360"/>
            <a:ext cx="4114800" cy="160020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sp>
        <p:nvSpPr>
          <p:cNvPr id="16" name="Shape 14"/>
          <p:cNvSpPr/>
          <p:nvPr/>
        </p:nvSpPr>
        <p:spPr>
          <a:xfrm>
            <a:off x="457200" y="3017520"/>
            <a:ext cx="502920" cy="502920"/>
          </a:xfrm>
          <a:prstGeom prst="rect">
            <a:avLst/>
          </a:prstGeom>
          <a:solidFill>
            <a:srgbClr val="D2A8FF"/>
          </a:solidFill>
          <a:ln w="12700">
            <a:solidFill>
              <a:srgbClr val="D2A8FF"/>
            </a:solidFill>
            <a:prstDash val="solid"/>
          </a:ln>
        </p:spPr>
      </p:sp>
      <p:sp>
        <p:nvSpPr>
          <p:cNvPr id="17" name="Text 15"/>
          <p:cNvSpPr/>
          <p:nvPr/>
        </p:nvSpPr>
        <p:spPr>
          <a:xfrm>
            <a:off x="457200" y="3017520"/>
            <a:ext cx="502920" cy="502920"/>
          </a:xfrm>
          <a:prstGeom prst="rect">
            <a:avLst/>
          </a:prstGeom>
          <a:noFill/>
          <a:ln/>
        </p:spPr>
        <p:txBody>
          <a:bodyPr wrap="square" rtlCol="0" anchor="ctr"/>
          <a:lstStyle/>
          <a:p>
            <a:pPr algn="ctr" indent="0" marL="0">
              <a:buNone/>
            </a:pPr>
            <a:r>
              <a:rPr lang="en-US" sz="1600" b="1" dirty="0">
                <a:solidFill>
                  <a:srgbClr val="0D1117"/>
                </a:solidFill>
                <a:latin typeface="Calibri" pitchFamily="34" charset="0"/>
                <a:ea typeface="Calibri" pitchFamily="34" charset="-122"/>
                <a:cs typeface="Calibri" pitchFamily="34" charset="-120"/>
              </a:rPr>
              <a:t>03</a:t>
            </a:r>
            <a:endParaRPr lang="en-US" sz="1600" dirty="0"/>
          </a:p>
        </p:txBody>
      </p:sp>
      <p:sp>
        <p:nvSpPr>
          <p:cNvPr id="18" name="Text 16"/>
          <p:cNvSpPr/>
          <p:nvPr/>
        </p:nvSpPr>
        <p:spPr>
          <a:xfrm>
            <a:off x="1097280" y="3017520"/>
            <a:ext cx="3200400" cy="438912"/>
          </a:xfrm>
          <a:prstGeom prst="rect">
            <a:avLst/>
          </a:prstGeom>
          <a:noFill/>
          <a:ln/>
        </p:spPr>
        <p:txBody>
          <a:bodyPr wrap="square" rtlCol="0" anchor="ctr"/>
          <a:lstStyle/>
          <a:p>
            <a:pPr indent="0" marL="0">
              <a:buNone/>
            </a:pPr>
            <a:r>
              <a:rPr lang="en-US" sz="1200" b="1" dirty="0">
                <a:solidFill>
                  <a:srgbClr val="D2A8FF"/>
                </a:solidFill>
                <a:latin typeface="Calibri" pitchFamily="34" charset="0"/>
                <a:ea typeface="Calibri" pitchFamily="34" charset="-122"/>
                <a:cs typeface="Calibri" pitchFamily="34" charset="-120"/>
              </a:rPr>
              <a:t>The Registry Is the Activity Log</a:t>
            </a:r>
            <a:endParaRPr lang="en-US" sz="1200" dirty="0"/>
          </a:p>
        </p:txBody>
      </p:sp>
      <p:sp>
        <p:nvSpPr>
          <p:cNvPr id="19" name="Text 17"/>
          <p:cNvSpPr/>
          <p:nvPr/>
        </p:nvSpPr>
        <p:spPr>
          <a:xfrm>
            <a:off x="457200" y="3593592"/>
            <a:ext cx="3840480" cy="77724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NTUSER.DAT tells you what every application opened, what URLs were typed, and what files were recently accessed. The SAM tells you who used the machine and when. The SYSTEM hive tells you what devices were connected.</a:t>
            </a:r>
            <a:endParaRPr lang="en-US" sz="1100" dirty="0"/>
          </a:p>
        </p:txBody>
      </p:sp>
      <p:sp>
        <p:nvSpPr>
          <p:cNvPr id="20" name="Shape 18"/>
          <p:cNvSpPr/>
          <p:nvPr/>
        </p:nvSpPr>
        <p:spPr>
          <a:xfrm>
            <a:off x="4663440" y="2880360"/>
            <a:ext cx="4114800" cy="1600200"/>
          </a:xfrm>
          <a:prstGeom prst="rect">
            <a:avLst/>
          </a:prstGeom>
          <a:solidFill>
            <a:srgbClr val="1C2333"/>
          </a:solidFill>
          <a:ln w="12700">
            <a:solidFill>
              <a:srgbClr val="30363D"/>
            </a:solidFill>
            <a:prstDash val="solid"/>
          </a:ln>
          <a:effectLst>
            <a:outerShdw sx="100000" sy="100000" kx="0" ky="0" algn="bl" rotWithShape="0" blurRad="127000" dist="38100" dir="8100000">
              <a:srgbClr val="000000">
                <a:alpha val="18000"/>
              </a:srgbClr>
            </a:outerShdw>
          </a:effectLst>
        </p:spPr>
      </p:sp>
      <p:sp>
        <p:nvSpPr>
          <p:cNvPr id="21" name="Shape 19"/>
          <p:cNvSpPr/>
          <p:nvPr/>
        </p:nvSpPr>
        <p:spPr>
          <a:xfrm>
            <a:off x="4800600" y="3017520"/>
            <a:ext cx="502920" cy="502920"/>
          </a:xfrm>
          <a:prstGeom prst="rect">
            <a:avLst/>
          </a:prstGeom>
          <a:solidFill>
            <a:srgbClr val="3FB950"/>
          </a:solidFill>
          <a:ln w="12700">
            <a:solidFill>
              <a:srgbClr val="3FB950"/>
            </a:solidFill>
            <a:prstDash val="solid"/>
          </a:ln>
        </p:spPr>
      </p:sp>
      <p:sp>
        <p:nvSpPr>
          <p:cNvPr id="22" name="Text 20"/>
          <p:cNvSpPr/>
          <p:nvPr/>
        </p:nvSpPr>
        <p:spPr>
          <a:xfrm>
            <a:off x="4800600" y="3017520"/>
            <a:ext cx="502920" cy="502920"/>
          </a:xfrm>
          <a:prstGeom prst="rect">
            <a:avLst/>
          </a:prstGeom>
          <a:noFill/>
          <a:ln/>
        </p:spPr>
        <p:txBody>
          <a:bodyPr wrap="square" rtlCol="0" anchor="ctr"/>
          <a:lstStyle/>
          <a:p>
            <a:pPr algn="ctr" indent="0" marL="0">
              <a:buNone/>
            </a:pPr>
            <a:r>
              <a:rPr lang="en-US" sz="1600" b="1" dirty="0">
                <a:solidFill>
                  <a:srgbClr val="0D1117"/>
                </a:solidFill>
                <a:latin typeface="Calibri" pitchFamily="34" charset="0"/>
                <a:ea typeface="Calibri" pitchFamily="34" charset="-122"/>
                <a:cs typeface="Calibri" pitchFamily="34" charset="-120"/>
              </a:rPr>
              <a:t>04</a:t>
            </a:r>
            <a:endParaRPr lang="en-US" sz="1600" dirty="0"/>
          </a:p>
        </p:txBody>
      </p:sp>
      <p:sp>
        <p:nvSpPr>
          <p:cNvPr id="23" name="Text 21"/>
          <p:cNvSpPr/>
          <p:nvPr/>
        </p:nvSpPr>
        <p:spPr>
          <a:xfrm>
            <a:off x="5440680" y="3017520"/>
            <a:ext cx="3200400" cy="438912"/>
          </a:xfrm>
          <a:prstGeom prst="rect">
            <a:avLst/>
          </a:prstGeom>
          <a:noFill/>
          <a:ln/>
        </p:spPr>
        <p:txBody>
          <a:bodyPr wrap="square" rtlCol="0" anchor="ctr"/>
          <a:lstStyle/>
          <a:p>
            <a:pPr indent="0" marL="0">
              <a:buNone/>
            </a:pPr>
            <a:r>
              <a:rPr lang="en-US" sz="1200" b="1" dirty="0">
                <a:solidFill>
                  <a:srgbClr val="3FB950"/>
                </a:solidFill>
                <a:latin typeface="Calibri" pitchFamily="34" charset="0"/>
                <a:ea typeface="Calibri" pitchFamily="34" charset="-122"/>
                <a:cs typeface="Calibri" pitchFamily="34" charset="-120"/>
              </a:rPr>
              <a:t>Correlate Across Artifact Categories</a:t>
            </a:r>
            <a:endParaRPr lang="en-US" sz="1200" dirty="0"/>
          </a:p>
        </p:txBody>
      </p:sp>
      <p:sp>
        <p:nvSpPr>
          <p:cNvPr id="24" name="Text 22"/>
          <p:cNvSpPr/>
          <p:nvPr/>
        </p:nvSpPr>
        <p:spPr>
          <a:xfrm>
            <a:off x="4800600" y="3593592"/>
            <a:ext cx="3840480" cy="77724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USB serial numbers + MountedDevices = drive letter. Prefetch + Run dialog + MRU = execution timeline. Thumbcache + Recycle Bin + registry = destruction of evidence. One artifact is a lead. Three are a case.</a:t>
            </a:r>
            <a:endParaRPr lang="en-US" sz="1100" dirty="0"/>
          </a:p>
        </p:txBody>
      </p:sp>
      <p:sp>
        <p:nvSpPr>
          <p:cNvPr id="25" name="Text 23"/>
          <p:cNvSpPr/>
          <p:nvPr/>
        </p:nvSpPr>
        <p:spPr>
          <a:xfrm>
            <a:off x="0" y="4864608"/>
            <a:ext cx="9144000" cy="256032"/>
          </a:xfrm>
          <a:prstGeom prst="rect">
            <a:avLst/>
          </a:prstGeom>
          <a:noFill/>
          <a:ln/>
        </p:spPr>
        <p:txBody>
          <a:bodyPr wrap="square" rtlCol="0" anchor="ctr"/>
          <a:lstStyle/>
          <a:p>
            <a:pPr algn="ctr" indent="0" marL="0">
              <a:buNone/>
            </a:pPr>
            <a:r>
              <a:rPr lang="en-US" sz="950" dirty="0">
                <a:solidFill>
                  <a:srgbClr val="8B949E"/>
                </a:solidFill>
                <a:latin typeface="Calibri" pitchFamily="34" charset="0"/>
                <a:ea typeface="Calibri" pitchFamily="34" charset="-122"/>
                <a:cs typeface="Calibri" pitchFamily="34" charset="-120"/>
              </a:rPr>
              <a:t>Cyberster Blue Team Internship  |  Week 10  |  Phase Two — Digital Forensics and Incident Response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Cyberster Week 10 — Autopsy Triage &amp; Registry Analysis</dc:title>
  <dc:subject>PptxGenJS Presentation</dc:subject>
  <dc:creator>PptxGenJS</dc:creator>
  <cp:lastModifiedBy>PptxGenJS</cp:lastModifiedBy>
  <cp:revision>1</cp:revision>
  <dcterms:created xsi:type="dcterms:W3CDTF">2026-05-04T13:13:59Z</dcterms:created>
  <dcterms:modified xsi:type="dcterms:W3CDTF">2026-05-04T13:13:59Z</dcterms:modified>
</cp:coreProperties>
</file>