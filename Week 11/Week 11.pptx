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4493" autoAdjust="0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4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3607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9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12700">
            <a:solidFill>
              <a:srgbClr val="0E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07592" y="0"/>
            <a:ext cx="0" cy="5143500"/>
          </a:xfrm>
          <a:prstGeom prst="line">
            <a:avLst/>
          </a:prstGeom>
          <a:noFill/>
          <a:ln w="12700">
            <a:solidFill>
              <a:srgbClr val="0E15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615184" y="0"/>
            <a:ext cx="0" cy="5143500"/>
          </a:xfrm>
          <a:prstGeom prst="line">
            <a:avLst/>
          </a:prstGeom>
          <a:noFill/>
          <a:ln w="12700">
            <a:solidFill>
              <a:srgbClr val="0E15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22776" y="0"/>
            <a:ext cx="0" cy="5143500"/>
          </a:xfrm>
          <a:prstGeom prst="line">
            <a:avLst/>
          </a:prstGeom>
          <a:noFill/>
          <a:ln w="12700">
            <a:solidFill>
              <a:srgbClr val="0E15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30368" y="0"/>
            <a:ext cx="0" cy="5143500"/>
          </a:xfrm>
          <a:prstGeom prst="line">
            <a:avLst/>
          </a:prstGeom>
          <a:noFill/>
          <a:ln w="12700">
            <a:solidFill>
              <a:srgbClr val="0E15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37960" y="0"/>
            <a:ext cx="0" cy="5143500"/>
          </a:xfrm>
          <a:prstGeom prst="line">
            <a:avLst/>
          </a:prstGeom>
          <a:noFill/>
          <a:ln w="12700">
            <a:solidFill>
              <a:srgbClr val="0E15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45552" y="0"/>
            <a:ext cx="0" cy="5143500"/>
          </a:xfrm>
          <a:prstGeom prst="line">
            <a:avLst/>
          </a:prstGeom>
          <a:noFill/>
          <a:ln w="12700">
            <a:solidFill>
              <a:srgbClr val="0E15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53144" y="0"/>
            <a:ext cx="0" cy="5143500"/>
          </a:xfrm>
          <a:prstGeom prst="line">
            <a:avLst/>
          </a:prstGeom>
          <a:noFill/>
          <a:ln w="12700">
            <a:solidFill>
              <a:srgbClr val="0E15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02920"/>
            <a:ext cx="1005840" cy="10058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92608" y="169164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FORENSICS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92608" y="2029968"/>
            <a:ext cx="3657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Forensics
&amp; Timeline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292608" y="3913632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technical theory — headers, storage formats,</a:t>
            </a:r>
            <a:endParaRPr lang="en-US" sz="1150" dirty="0"/>
          </a:p>
          <a:p>
            <a:pPr marL="0" indent="0">
              <a:buNone/>
            </a:pPr>
            <a:r>
              <a:rPr lang="en-US" sz="1150" i="1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construction, and the pivot methodology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572000" y="685800"/>
            <a:ext cx="4297680" cy="1188720"/>
          </a:xfrm>
          <a:prstGeom prst="rect">
            <a:avLst/>
          </a:prstGeom>
          <a:solidFill>
            <a:srgbClr val="161B26"/>
          </a:solidFill>
          <a:ln w="12700">
            <a:solidFill>
              <a:srgbClr val="1E29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1033272"/>
            <a:ext cx="475488" cy="47548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394960" y="85039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Storage Formats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5394960" y="125272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PST · OST · MBOX · EML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572000" y="2057400"/>
            <a:ext cx="4297680" cy="1188720"/>
          </a:xfrm>
          <a:prstGeom prst="rect">
            <a:avLst/>
          </a:prstGeom>
          <a:solidFill>
            <a:srgbClr val="161B26"/>
          </a:solidFill>
          <a:ln w="12700">
            <a:solidFill>
              <a:srgbClr val="1E29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2404872"/>
            <a:ext cx="475488" cy="47548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394960" y="222199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Anatomy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5394960" y="262432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vs Goldmine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572000" y="3429000"/>
            <a:ext cx="4297680" cy="1188720"/>
          </a:xfrm>
          <a:prstGeom prst="rect">
            <a:avLst/>
          </a:prstGeom>
          <a:solidFill>
            <a:srgbClr val="161B26"/>
          </a:solidFill>
          <a:ln w="12700">
            <a:solidFill>
              <a:srgbClr val="1E29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3168" y="3776472"/>
            <a:ext cx="475488" cy="47548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394960" y="359359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Analysis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5394960" y="399592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Plaso · log2timeline · CSV pivot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D2535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274320" y="4882896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slides  ·  Email spoofing  ·  SMTP authentication failures  ·  Received-chain analysis  ·  1.5M-row problem  ·  Pivot methodology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9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Core Challenges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analysts get burned here first. Both traps are about trusting what looks obvious.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261872"/>
            <a:ext cx="4206240" cy="3429000"/>
          </a:xfrm>
          <a:prstGeom prst="rect">
            <a:avLst/>
          </a:prstGeom>
          <a:solidFill>
            <a:srgbClr val="161B26"/>
          </a:solidFill>
          <a:ln w="12700">
            <a:solidFill>
              <a:srgbClr val="FF3B3B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61872"/>
            <a:ext cx="4206240" cy="475488"/>
          </a:xfrm>
          <a:prstGeom prst="rect">
            <a:avLst/>
          </a:prstGeom>
          <a:solidFill>
            <a:srgbClr val="FF3B3B"/>
          </a:solidFill>
          <a:ln w="12700">
            <a:solidFill>
              <a:srgbClr val="FF3B3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0759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316736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 1: Trusting the From Address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75488" y="1810512"/>
            <a:ext cx="3931920" cy="2724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From header is</a:t>
            </a:r>
            <a:r>
              <a:rPr lang="en-US" sz="1150" b="1" dirty="0">
                <a:solidFill>
                  <a:srgbClr val="F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user-controlled data</a:t>
            </a: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a verified identity.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has no built-in authentication for the envelope From field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MTA will relay a message with a forged From address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SPF/DKIM/DMARC are optional — millions of servers omit them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phishing or fraud email often shows the target's own CEO as sender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</a:t>
            </a: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From address is a claim. Only the Received chain is evidence.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17720" y="1261872"/>
            <a:ext cx="4206240" cy="3429000"/>
          </a:xfrm>
          <a:prstGeom prst="rect">
            <a:avLst/>
          </a:prstGeom>
          <a:solidFill>
            <a:srgbClr val="161B26"/>
          </a:solidFill>
          <a:ln w="12700">
            <a:solidFill>
              <a:srgbClr val="FFB80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1261872"/>
            <a:ext cx="4206240" cy="47548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307592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57800" y="1316736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 2: Drowning in the Timeline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773168" y="1810512"/>
            <a:ext cx="3931920" cy="2724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system timeline generates</a:t>
            </a:r>
            <a:r>
              <a:rPr lang="en-US" sz="115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1.5M+ rows</a:t>
            </a: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Sequential reading is impossible.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timestamps fire on every file read, write, and metadata change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OS processes generate thousands of events per minute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pivot anchor, noise drowns the signal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analysts either ignore the timeline entirely or get lost in it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</a:t>
            </a: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Never read a raw timeline. Always anchor first, then filter.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traps share the same root cause: treating surface-level data as ground truth without verification.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9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Emails Live on Disk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distinct formats — each with different forensic implications for extraction and parsing.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4206240" cy="1810512"/>
          </a:xfrm>
          <a:prstGeom prst="rect">
            <a:avLst/>
          </a:prstGeom>
          <a:solidFill>
            <a:srgbClr val="161B26"/>
          </a:solidFill>
          <a:ln w="12700">
            <a:solidFill>
              <a:srgbClr val="1E29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34440"/>
            <a:ext cx="749808" cy="1810512"/>
          </a:xfrm>
          <a:prstGeom prst="rect">
            <a:avLst/>
          </a:prstGeom>
          <a:solidFill>
            <a:srgbClr val="0F1117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34440"/>
            <a:ext cx="749808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325880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Storage Table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1636776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C:\Users\&lt;user&gt;\Documents\Outlook Files\*.pst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3000" y="1901952"/>
            <a:ext cx="32004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archive file — stores mail, calendar, contacts off-server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value: full offline mail history independent of server access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45152" y="1234440"/>
            <a:ext cx="4206240" cy="1810512"/>
          </a:xfrm>
          <a:prstGeom prst="rect">
            <a:avLst/>
          </a:prstGeom>
          <a:solidFill>
            <a:srgbClr val="161B26"/>
          </a:solidFill>
          <a:ln w="12700">
            <a:solidFill>
              <a:srgbClr val="1E29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45152" y="1234440"/>
            <a:ext cx="749808" cy="1810512"/>
          </a:xfrm>
          <a:prstGeom prst="rect">
            <a:avLst/>
          </a:prstGeom>
          <a:solidFill>
            <a:srgbClr val="0F1117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1234440"/>
            <a:ext cx="749808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13832" y="1325880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Storage Table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13832" y="1636776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C:\Users\&lt;user&gt;\AppData\Local\Microsoft\Outlook\*.ost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513832" y="1901952"/>
            <a:ext cx="32004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copy of Exchange / Microsoft 365 mailbox for offline use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value: reveals server-side deletions that may no longer exist remotely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246120"/>
            <a:ext cx="4206240" cy="1810512"/>
          </a:xfrm>
          <a:prstGeom prst="rect">
            <a:avLst/>
          </a:prstGeom>
          <a:solidFill>
            <a:srgbClr val="161B26"/>
          </a:solidFill>
          <a:ln w="12700">
            <a:solidFill>
              <a:srgbClr val="1E29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246120"/>
            <a:ext cx="749808" cy="1810512"/>
          </a:xfrm>
          <a:prstGeom prst="rect">
            <a:avLst/>
          </a:prstGeom>
          <a:solidFill>
            <a:srgbClr val="0F1117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246120"/>
            <a:ext cx="749808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MBOX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3337560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Unix Mailbox Format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3000" y="3648456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~/.thunderbird/&lt;profile&gt;/Mail/  or  /var/mail/&lt;user&gt;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43000" y="3913632"/>
            <a:ext cx="32004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Plain-text concatenated format — all messages in one flat file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value: easy keyword search without specialist tooling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45152" y="3246120"/>
            <a:ext cx="4206240" cy="1810512"/>
          </a:xfrm>
          <a:prstGeom prst="rect">
            <a:avLst/>
          </a:prstGeom>
          <a:solidFill>
            <a:srgbClr val="161B26"/>
          </a:solidFill>
          <a:ln w="12700">
            <a:solidFill>
              <a:srgbClr val="1E29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45152" y="3246120"/>
            <a:ext cx="749808" cy="1810512"/>
          </a:xfrm>
          <a:prstGeom prst="rect">
            <a:avLst/>
          </a:prstGeom>
          <a:solidFill>
            <a:srgbClr val="0F1117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45152" y="3246120"/>
            <a:ext cx="749808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13832" y="3337560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Email Message File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13832" y="3648456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— often extracted from PST/OST, saved by user, or in mail drops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513832" y="3913632"/>
            <a:ext cx="32004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Single-message file — one .eml = one email with full raw headers and body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value: the gold standard for header analysis — nothing is hidden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4882896"/>
            <a:ext cx="8595360" cy="164592"/>
          </a:xfrm>
          <a:prstGeom prst="rect">
            <a:avLst/>
          </a:prstGeom>
          <a:solidFill>
            <a:srgbClr val="1D2535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892040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Workflow: acquire image → locate store files → export to EML → open raw headers in text editor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9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'From' Address 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was designed in 1982 for a trusted academic network. Authentication was never part of the original design.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4251960" cy="3547872"/>
          </a:xfrm>
          <a:prstGeom prst="rect">
            <a:avLst/>
          </a:prstGeom>
          <a:solidFill>
            <a:srgbClr val="161B26"/>
          </a:solidFill>
          <a:ln w="12700">
            <a:solidFill>
              <a:srgbClr val="1E29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371600"/>
            <a:ext cx="530352" cy="5303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37160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SMTP Actually Works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75488" y="1874520"/>
            <a:ext cx="3931920" cy="2724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envelope vs message header: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FROM:</a:t>
            </a: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envelope sender — used for bounces, rarely visible to recipient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</a:t>
            </a: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display header — what you see in your email client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fields are completely independent. Any sending MTA will relay a message where they do not match.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physical analogy:</a:t>
            </a:r>
            <a:endParaRPr lang="en-US" sz="1150" dirty="0"/>
          </a:p>
          <a:p>
            <a:pPr marL="0" indent="0">
              <a:buNone/>
            </a:pPr>
            <a:r>
              <a:rPr lang="en-US" sz="1150" i="1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'The White House, 1600 Pennsylvania Ave' as the return address on an envelope is legal. The post office will still deliver it.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17720" y="1234440"/>
            <a:ext cx="4251960" cy="3547872"/>
          </a:xfrm>
          <a:prstGeom prst="rect">
            <a:avLst/>
          </a:prstGeom>
          <a:solidFill>
            <a:srgbClr val="161B26"/>
          </a:solidFill>
          <a:ln w="12700">
            <a:solidFill>
              <a:srgbClr val="1E29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371600"/>
            <a:ext cx="530352" cy="5303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0680" y="13716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Mitigations — and Their Gaps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4773168" y="1901952"/>
            <a:ext cx="3913632" cy="877824"/>
          </a:xfrm>
          <a:prstGeom prst="rect">
            <a:avLst/>
          </a:prstGeom>
          <a:solidFill>
            <a:srgbClr val="1D2535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864608" y="1993392"/>
            <a:ext cx="658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SPF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864608" y="2322576"/>
            <a:ext cx="3730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Authorises sending servers, not the From: header. Pass ≠ legitimate sender identity.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773168" y="2889504"/>
            <a:ext cx="3913632" cy="877824"/>
          </a:xfrm>
          <a:prstGeom prst="rect">
            <a:avLst/>
          </a:prstGeom>
          <a:solidFill>
            <a:srgbClr val="1D2535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864608" y="2980944"/>
            <a:ext cx="658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DKIM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864608" y="3310128"/>
            <a:ext cx="3730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headers cryptographically — but only if the sending domain configured it. Absence of DKIM is not flagged as failure.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773168" y="3877056"/>
            <a:ext cx="3913632" cy="877824"/>
          </a:xfrm>
          <a:prstGeom prst="rect">
            <a:avLst/>
          </a:prstGeom>
          <a:solidFill>
            <a:srgbClr val="1D2535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864608" y="3968496"/>
            <a:ext cx="658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DMARC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864608" y="4297680"/>
            <a:ext cx="3730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Ties SPF/DKIM to the From: domain. But adoption is &lt;30% of domains globally. Most mail servers still accept unauthenticated mail.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1427870" y="4791456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Investigator's rule:</a:t>
            </a: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never cite From as evidence of sender identity. Cite Received headers and X-Originating-IP.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9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Analysis — The Noise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headers are either user-controlled, easily spoofed, or provide no reliable forensic value. Treat them as context only — never as proof.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61872"/>
            <a:ext cx="4206240" cy="1325880"/>
          </a:xfrm>
          <a:prstGeom prst="rect">
            <a:avLst/>
          </a:prstGeom>
          <a:solidFill>
            <a:srgbClr val="161B26"/>
          </a:solidFill>
          <a:ln w="12700">
            <a:solidFill>
              <a:srgbClr val="1E29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61872"/>
            <a:ext cx="91440" cy="132588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353312"/>
            <a:ext cx="3858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From: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75488" y="1664208"/>
            <a:ext cx="3858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UNRELIABLE — User-controlled display field. No server verification.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5488" y="1956816"/>
            <a:ext cx="38587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display name and address the email client shows the recipient. As discussed, it is freetext set by the sender and carries zero authentication weight.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45152" y="1261872"/>
            <a:ext cx="4206240" cy="1325880"/>
          </a:xfrm>
          <a:prstGeom prst="rect">
            <a:avLst/>
          </a:prstGeom>
          <a:solidFill>
            <a:srgbClr val="161B26"/>
          </a:solidFill>
          <a:ln w="12700">
            <a:solidFill>
              <a:srgbClr val="1E29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45152" y="1261872"/>
            <a:ext cx="91440" cy="132588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353312"/>
            <a:ext cx="3858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To:  /  CC:  /  BCC: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46320" y="1664208"/>
            <a:ext cx="3858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UNRELIABLE — Can be omitted, forged, or set to unrelated addresses.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0" y="1956816"/>
            <a:ext cx="38587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BCC recipients receive the email but are absent from all headers. A message can be delivered to someone not listed in To or CC via blind copy or direct RCPT TO targeting.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660904"/>
            <a:ext cx="4206240" cy="1325880"/>
          </a:xfrm>
          <a:prstGeom prst="rect">
            <a:avLst/>
          </a:prstGeom>
          <a:solidFill>
            <a:srgbClr val="161B26"/>
          </a:solidFill>
          <a:ln w="12700">
            <a:solidFill>
              <a:srgbClr val="1E29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660904"/>
            <a:ext cx="91440" cy="132588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752344"/>
            <a:ext cx="3858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Date: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75488" y="3063240"/>
            <a:ext cx="3858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UNRELIABLE — Set by the sending client's local clock.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5488" y="3355848"/>
            <a:ext cx="38587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Date header is stamped by the sending MUA (mail user agent), which may be misconfigured, set to a different timezone, or deliberately altered. Cross-reference against Received timestamps instead.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45152" y="2660904"/>
            <a:ext cx="4206240" cy="1325880"/>
          </a:xfrm>
          <a:prstGeom prst="rect">
            <a:avLst/>
          </a:prstGeom>
          <a:solidFill>
            <a:srgbClr val="161B26"/>
          </a:solidFill>
          <a:ln w="12700">
            <a:solidFill>
              <a:srgbClr val="1E29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45152" y="2660904"/>
            <a:ext cx="91440" cy="132588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752344"/>
            <a:ext cx="3858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Subject: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846320" y="3063240"/>
            <a:ext cx="3858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UNRELIABLE — Freetext. No forensic standing alone.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46320" y="3355848"/>
            <a:ext cx="38587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case organisation and searching, but the subject line is the most easily modified part of a message. Never use it as a sole identifier in a chain-of-custody document.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4059936"/>
            <a:ext cx="4206240" cy="1325880"/>
          </a:xfrm>
          <a:prstGeom prst="rect">
            <a:avLst/>
          </a:prstGeom>
          <a:solidFill>
            <a:srgbClr val="161B26"/>
          </a:solidFill>
          <a:ln w="12700">
            <a:solidFill>
              <a:srgbClr val="1E29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059936"/>
            <a:ext cx="91440" cy="132588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4151376"/>
            <a:ext cx="3858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Reply-To: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75488" y="4462272"/>
            <a:ext cx="3858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— Often used in phishing to redirect replies.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5488" y="4754880"/>
            <a:ext cx="38587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mailers rarely set Reply-To to a different address than From. When they differ, it is a strong indicator of phishing or a mail-forwarding scheme designed to intercept replies.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45152" y="4059936"/>
            <a:ext cx="4206240" cy="1325880"/>
          </a:xfrm>
          <a:prstGeom prst="rect">
            <a:avLst/>
          </a:prstGeom>
          <a:solidFill>
            <a:srgbClr val="161B26"/>
          </a:solidFill>
          <a:ln w="12700">
            <a:solidFill>
              <a:srgbClr val="1E29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45152" y="4059936"/>
            <a:ext cx="91440" cy="132588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4151376"/>
            <a:ext cx="3858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X-Mailer:  /  User-Agent: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846320" y="4462272"/>
            <a:ext cx="3858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— Identifies the email client software used.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46320" y="4754880"/>
            <a:ext cx="38587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informative but is trivially spoofed. Useful for profiling but do not rely on it as evidence of which client was actually used without corroborating artefacts.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9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Analysis — The Goldmine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headers are server-generated and cannot be forged by the original sender. They are your primary forensic evidence.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43584"/>
            <a:ext cx="8595360" cy="1481328"/>
          </a:xfrm>
          <a:prstGeom prst="rect">
            <a:avLst/>
          </a:prstGeom>
          <a:solidFill>
            <a:srgbClr val="161B26"/>
          </a:solidFill>
          <a:ln w="12700">
            <a:solidFill>
              <a:srgbClr val="00FF88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43584"/>
            <a:ext cx="146304" cy="1481328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2588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Received:  Chain  (CRITICAL — read BOTTOM TO TOP)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81381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server that handles the message prepends its own Received: header. The</a:t>
            </a:r>
            <a:r>
              <a:rPr lang="en-US" sz="115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bottommost entry is the origin</a:t>
            </a: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the topmost is your server.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entry contains: hostname, IP address, and a</a:t>
            </a:r>
            <a:r>
              <a:rPr lang="en-US" sz="11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server-stamped timestamp</a:t>
            </a: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(not controlled by the sender). Gaps or out-of-order timestamps indicate relay manipulation.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2834640"/>
            <a:ext cx="2834640" cy="2148840"/>
          </a:xfrm>
          <a:prstGeom prst="rect">
            <a:avLst/>
          </a:prstGeom>
          <a:solidFill>
            <a:srgbClr val="161B26"/>
          </a:solidFill>
          <a:ln w="12700">
            <a:solidFill>
              <a:srgbClr val="1E29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834640"/>
            <a:ext cx="2834640" cy="420624"/>
          </a:xfrm>
          <a:prstGeom prst="rect">
            <a:avLst/>
          </a:prstGeom>
          <a:solidFill>
            <a:srgbClr val="1D2535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2862072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X-Originating-IP: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" y="3310128"/>
            <a:ext cx="261518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by webmail providers (Gmail, Yahoo, Outlook.com) to record the sender's client IP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actual computer or device that composed and submitted the message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 against login logs, VPN records, and geolocation databases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37560" y="2834640"/>
            <a:ext cx="2834640" cy="2148840"/>
          </a:xfrm>
          <a:prstGeom prst="rect">
            <a:avLst/>
          </a:prstGeom>
          <a:solidFill>
            <a:srgbClr val="161B26"/>
          </a:solidFill>
          <a:ln w="12700">
            <a:solidFill>
              <a:srgbClr val="1E29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2834640"/>
            <a:ext cx="2834640" cy="420624"/>
          </a:xfrm>
          <a:prstGeom prst="rect">
            <a:avLst/>
          </a:prstGeom>
          <a:solidFill>
            <a:srgbClr val="1D2535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47288" y="2862072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Return-Path: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47288" y="3310128"/>
            <a:ext cx="261518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envelope-sender address — where bounce notifications go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by the sending server, not the user — more reliable than From: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Differs from From: in phishing campaigns (tells you the real sending infrastructure)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82512" y="2834640"/>
            <a:ext cx="2834640" cy="2148840"/>
          </a:xfrm>
          <a:prstGeom prst="rect">
            <a:avLst/>
          </a:prstGeom>
          <a:solidFill>
            <a:srgbClr val="161B26"/>
          </a:solidFill>
          <a:ln w="12700">
            <a:solidFill>
              <a:srgbClr val="1E29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82512" y="2834640"/>
            <a:ext cx="2834640" cy="420624"/>
          </a:xfrm>
          <a:prstGeom prst="rect">
            <a:avLst/>
          </a:prstGeom>
          <a:solidFill>
            <a:srgbClr val="1D2535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2862072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Message-ID: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3310128"/>
            <a:ext cx="261518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identifier generated by the sending MTA — formatted as &lt;unique-string@sending-domain&gt;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domain after @ should match the sending server's domain — mismatch reveals true origin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track a message across multiple forensic artefacts (server logs, client archives)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9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 timeline merges every time-stamped artifact from a forensic image into a single, chronologically sorted CSV.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8595360" cy="1024128"/>
          </a:xfrm>
          <a:prstGeom prst="rect">
            <a:avLst/>
          </a:prstGeom>
          <a:solidFill>
            <a:srgbClr val="161B26"/>
          </a:solidFill>
          <a:ln w="12700">
            <a:solidFill>
              <a:srgbClr val="00D4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316736"/>
            <a:ext cx="822960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chain:</a:t>
            </a: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log2timeline.py  (Plaso framework) ingests the forensic image and emits events from every parser it has. </a:t>
            </a:r>
            <a:r>
              <a:rPr lang="en-US" sz="12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psort.py</a:t>
            </a: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then sorts and filters those events into a CSV. The result is a single file where every row is one event in the system's history, sorted by timestamp.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2377440"/>
            <a:ext cx="2834640" cy="1170432"/>
          </a:xfrm>
          <a:prstGeom prst="rect">
            <a:avLst/>
          </a:prstGeom>
          <a:solidFill>
            <a:srgbClr val="161B26"/>
          </a:solidFill>
          <a:ln w="12700">
            <a:solidFill>
              <a:srgbClr val="1E29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72491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2468880"/>
            <a:ext cx="2029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Timestamps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2798064"/>
            <a:ext cx="202996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/ Accessed / Changed timestamps from NTFS $MFT — every file operation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73552" y="2377440"/>
            <a:ext cx="2834640" cy="1170432"/>
          </a:xfrm>
          <a:prstGeom prst="rect">
            <a:avLst/>
          </a:prstGeom>
          <a:solidFill>
            <a:srgbClr val="161B26"/>
          </a:solidFill>
          <a:ln w="12700">
            <a:solidFill>
              <a:srgbClr val="1E29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8144" y="2724912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59352" y="2468880"/>
            <a:ext cx="2029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Writes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959352" y="2798064"/>
            <a:ext cx="202996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NTUSER.DAT MRU updates, SYSTEM hive changes, USB device connections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63640" y="2377440"/>
            <a:ext cx="2834640" cy="1170432"/>
          </a:xfrm>
          <a:prstGeom prst="rect">
            <a:avLst/>
          </a:prstGeom>
          <a:solidFill>
            <a:srgbClr val="161B26"/>
          </a:solidFill>
          <a:ln w="12700">
            <a:solidFill>
              <a:srgbClr val="1E29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232" y="2724912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2468880"/>
            <a:ext cx="2029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Logs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949440" y="2798064"/>
            <a:ext cx="202996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Security.evtx, Application, System — logons, service starts, privilege changes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274320" y="3657600"/>
            <a:ext cx="2834640" cy="1170432"/>
          </a:xfrm>
          <a:prstGeom prst="rect">
            <a:avLst/>
          </a:prstGeom>
          <a:solidFill>
            <a:srgbClr val="161B26"/>
          </a:solidFill>
          <a:ln w="12700">
            <a:solidFill>
              <a:srgbClr val="1E29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" y="4005072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60120" y="3749040"/>
            <a:ext cx="2029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Prefetch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960120" y="4078224"/>
            <a:ext cx="202996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timestamps and run counts for every .pf file in C:\Windows\Prefetch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3273552" y="3657600"/>
            <a:ext cx="2834640" cy="1170432"/>
          </a:xfrm>
          <a:prstGeom prst="rect">
            <a:avLst/>
          </a:prstGeom>
          <a:solidFill>
            <a:srgbClr val="161B26"/>
          </a:solidFill>
          <a:ln w="12700">
            <a:solidFill>
              <a:srgbClr val="1E29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8144" y="4005072"/>
            <a:ext cx="384048" cy="38404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959352" y="3749040"/>
            <a:ext cx="2029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Logs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3959352" y="4078224"/>
            <a:ext cx="202996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server logs, sent-item timestamps, mail client database last-modified times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6263640" y="3657600"/>
            <a:ext cx="2834640" cy="1170432"/>
          </a:xfrm>
          <a:prstGeom prst="rect">
            <a:avLst/>
          </a:prstGeom>
          <a:solidFill>
            <a:srgbClr val="161B26"/>
          </a:solidFill>
          <a:ln w="12700">
            <a:solidFill>
              <a:srgbClr val="1E29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8232" y="4005072"/>
            <a:ext cx="384048" cy="38404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949440" y="3749040"/>
            <a:ext cx="2029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LNK Files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6949440" y="4078224"/>
            <a:ext cx="202996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 and access times of shortcut files — proof of file opening even after deletion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9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Volume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raw timeline is forensically complete and analytically useless — until you know how to navigate it.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8595360" cy="1444752"/>
          </a:xfrm>
          <a:prstGeom prst="rect">
            <a:avLst/>
          </a:prstGeom>
          <a:solidFill>
            <a:srgbClr val="1D2535"/>
          </a:solidFill>
          <a:ln w="12700">
            <a:solidFill>
              <a:srgbClr val="FF3B3B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61872"/>
            <a:ext cx="50292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1,500,000+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577840" y="1426464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in a typical
Windows timeline CSV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2816352"/>
            <a:ext cx="2816352" cy="2148840"/>
          </a:xfrm>
          <a:prstGeom prst="rect">
            <a:avLst/>
          </a:prstGeom>
          <a:solidFill>
            <a:srgbClr val="161B26"/>
          </a:solidFill>
          <a:ln w="12700">
            <a:solidFill>
              <a:srgbClr val="1E29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816352"/>
            <a:ext cx="2816352" cy="438912"/>
          </a:xfrm>
          <a:prstGeom prst="rect">
            <a:avLst/>
          </a:prstGeom>
          <a:solidFill>
            <a:srgbClr val="0F1117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2834640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28620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Background Processes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3337560"/>
            <a:ext cx="2596896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Update, Defender, WMI, Prefetch maintenance, NTFS journal compaction, thumbnail cache updates — run constantly and generate hundreds of events per minute with no user involvement.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73552" y="2816352"/>
            <a:ext cx="2816352" cy="2148840"/>
          </a:xfrm>
          <a:prstGeom prst="rect">
            <a:avLst/>
          </a:prstGeom>
          <a:solidFill>
            <a:srgbClr val="161B26"/>
          </a:solidFill>
          <a:ln w="12700">
            <a:solidFill>
              <a:srgbClr val="1E29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73552" y="2816352"/>
            <a:ext cx="2816352" cy="438912"/>
          </a:xfrm>
          <a:prstGeom prst="rect">
            <a:avLst/>
          </a:prstGeom>
          <a:solidFill>
            <a:srgbClr val="0F1117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2834640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096512" y="28620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 Metadata Churn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3337560"/>
            <a:ext cx="2596896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$MFT timestamps fire on file opens, attribute changes, and directory enumerations. A single ls or dir command touches hundreds of MFT entries. Most are meaningless to the investigation.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72784" y="2816352"/>
            <a:ext cx="2816352" cy="2148840"/>
          </a:xfrm>
          <a:prstGeom prst="rect">
            <a:avLst/>
          </a:prstGeom>
          <a:solidFill>
            <a:srgbClr val="161B26"/>
          </a:solidFill>
          <a:ln w="12700">
            <a:solidFill>
              <a:srgbClr val="1E29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72784" y="2816352"/>
            <a:ext cx="2816352" cy="438912"/>
          </a:xfrm>
          <a:prstGeom prst="rect">
            <a:avLst/>
          </a:prstGeom>
          <a:solidFill>
            <a:srgbClr val="0F1117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82512" y="2834640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~10%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095744" y="28620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Telemetry &amp; Logs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82512" y="3337560"/>
            <a:ext cx="2596896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log overhead, application crash telemetry, COM surrogate activity, scheduled task heartbeats. These are routine system health signals — not user activity.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485632" y="2816352"/>
            <a:ext cx="658368" cy="2148840"/>
          </a:xfrm>
          <a:prstGeom prst="rect">
            <a:avLst/>
          </a:prstGeom>
          <a:solidFill>
            <a:srgbClr val="1D2535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85632" y="2834640"/>
            <a:ext cx="640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~5%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9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Pivot Methodology — Start Big, Filter Down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never read a super timeline row by row. You anchor to a known fact, then collapse the window around it.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8595360" cy="1188720"/>
          </a:xfrm>
          <a:prstGeom prst="rect">
            <a:avLst/>
          </a:prstGeom>
          <a:solidFill>
            <a:srgbClr val="161B26"/>
          </a:solidFill>
          <a:ln w="12700">
            <a:solidFill>
              <a:srgbClr val="1E29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34440"/>
            <a:ext cx="822960" cy="1188720"/>
          </a:xfrm>
          <a:prstGeom prst="rect">
            <a:avLst/>
          </a:prstGeom>
          <a:solidFill>
            <a:srgbClr val="00D4FF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34440"/>
            <a:ext cx="822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61872" y="1325880"/>
            <a:ext cx="7452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to a Known Fact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61872" y="1709928"/>
            <a:ext cx="7452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something you already know is true: a specific file's $MFT modified timestamp, an email server log entry, an event log logon time, a prefetch last-run timestamp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anchor: 'The malicious attachment Invoice_Q3.pdf was first created at 14:32:07 per the $MFT'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532888"/>
            <a:ext cx="8595360" cy="1188720"/>
          </a:xfrm>
          <a:prstGeom prst="rect">
            <a:avLst/>
          </a:prstGeom>
          <a:solidFill>
            <a:srgbClr val="161B26"/>
          </a:solidFill>
          <a:ln w="12700">
            <a:solidFill>
              <a:srgbClr val="1E29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532888"/>
            <a:ext cx="822960" cy="1188720"/>
          </a:xfrm>
          <a:prstGeom prst="rect">
            <a:avLst/>
          </a:prstGeom>
          <a:solidFill>
            <a:srgbClr val="A855F7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532888"/>
            <a:ext cx="822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261872" y="2624328"/>
            <a:ext cx="7452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to a Tight Time Window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61872" y="3008376"/>
            <a:ext cx="7452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column filter: show only events within ±2 to 5 minutes of your anchor timestamp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narrow. If the evidence you expect is not present, widen to ±15 minutes. Never start wide.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831336"/>
            <a:ext cx="8595360" cy="1188720"/>
          </a:xfrm>
          <a:prstGeom prst="rect">
            <a:avLst/>
          </a:prstGeom>
          <a:solidFill>
            <a:srgbClr val="161B26"/>
          </a:solidFill>
          <a:ln w="12700">
            <a:solidFill>
              <a:srgbClr val="1E29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831336"/>
            <a:ext cx="822960" cy="1188720"/>
          </a:xfrm>
          <a:prstGeom prst="rect">
            <a:avLst/>
          </a:prstGeom>
          <a:solidFill>
            <a:srgbClr val="00FF88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831336"/>
            <a:ext cx="822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261872" y="3922776"/>
            <a:ext cx="7452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the Remaining Events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61872" y="4306824"/>
            <a:ext cx="7452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filtered rows as a narrative. What happened just before? What happened immediately after?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any event from a source you did not expect (e.g., a USB device connecting at the same time)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solidFill>
            <a:srgbClr val="1D2535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873752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tool options:  psort.py --slice "YYYY-MM-DDTHH:MM:SS" --slice_size 5m  |  Excel: Data → Filter → custom timestamp range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9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Anatomy of Execution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5895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four-event sequence, when found in a filtered timeline window, constitutes evidence of deliberate human action — not background OS activity.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28600" y="1207008"/>
            <a:ext cx="2084832" cy="3547872"/>
          </a:xfrm>
          <a:prstGeom prst="rect">
            <a:avLst/>
          </a:prstGeom>
          <a:solidFill>
            <a:srgbClr val="161B26"/>
          </a:solidFill>
          <a:ln w="12700">
            <a:solidFill>
              <a:srgbClr val="1E29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207008"/>
            <a:ext cx="2084832" cy="402336"/>
          </a:xfrm>
          <a:prstGeom prst="rect">
            <a:avLst/>
          </a:prstGeom>
          <a:solidFill>
            <a:srgbClr val="1E2940"/>
          </a:solidFill>
          <a:ln w="12700">
            <a:solidFill>
              <a:srgbClr val="1E294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" y="12344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0664" y="121615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Registry Write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38328" y="1664208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NTUSER.DAT MRU / USBSTOR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338328" y="2066544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38328" y="2304288"/>
            <a:ext cx="1901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in NTUSER.DAT updates — the application's MRU list records a new file was opened, or a USB device entry is written to USBSTOR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38328" y="3172968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Proves: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38328" y="3419856"/>
            <a:ext cx="190195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was launched and a document was accessed. The registry write is server-side — the user could not fake this timestamp.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313432" y="2084832"/>
            <a:ext cx="338328" cy="0"/>
          </a:xfrm>
          <a:prstGeom prst="line">
            <a:avLst/>
          </a:prstGeom>
          <a:noFill/>
          <a:ln w="19050">
            <a:solidFill>
              <a:srgbClr val="5A6A82"/>
            </a:solidFill>
            <a:prstDash val="dash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6584" y="1993392"/>
            <a:ext cx="182880" cy="182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423160" y="1207008"/>
            <a:ext cx="2084832" cy="3547872"/>
          </a:xfrm>
          <a:prstGeom prst="rect">
            <a:avLst/>
          </a:prstGeom>
          <a:solidFill>
            <a:srgbClr val="161B26"/>
          </a:solidFill>
          <a:ln w="12700">
            <a:solidFill>
              <a:srgbClr val="1E29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423160" y="1207008"/>
            <a:ext cx="2084832" cy="402336"/>
          </a:xfrm>
          <a:prstGeom prst="rect">
            <a:avLst/>
          </a:prstGeom>
          <a:solidFill>
            <a:srgbClr val="1E2940"/>
          </a:solidFill>
          <a:ln w="12700">
            <a:solidFill>
              <a:srgbClr val="1E2940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1176" y="123444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935224" y="121615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Prefetch Created / Updated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2532888" y="1664208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C:\Windows\Prefetch\APP.EXE-HASH.pf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2532888" y="2066544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2532888" y="2304288"/>
            <a:ext cx="1901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.pf file appears, or an existing one updates its last-run timestamp and increments its run count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2532888" y="3172968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Proves: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2532888" y="3419856"/>
            <a:ext cx="190195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executable ran. Prefetch is written by the OS kernel — it cannot be set by user-mode software. Combined with the registry write, it confirms the app executed.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507992" y="2084832"/>
            <a:ext cx="338328" cy="0"/>
          </a:xfrm>
          <a:prstGeom prst="line">
            <a:avLst/>
          </a:prstGeom>
          <a:noFill/>
          <a:ln w="19050">
            <a:solidFill>
              <a:srgbClr val="5A6A82"/>
            </a:solidFill>
            <a:prstDash val="dash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144" y="1993392"/>
            <a:ext cx="182880" cy="182880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4617720" y="1207008"/>
            <a:ext cx="2084832" cy="3547872"/>
          </a:xfrm>
          <a:prstGeom prst="rect">
            <a:avLst/>
          </a:prstGeom>
          <a:solidFill>
            <a:srgbClr val="161B26"/>
          </a:solidFill>
          <a:ln w="12700">
            <a:solidFill>
              <a:srgbClr val="1E29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17720" y="1207008"/>
            <a:ext cx="2084832" cy="402336"/>
          </a:xfrm>
          <a:prstGeom prst="rect">
            <a:avLst/>
          </a:prstGeom>
          <a:solidFill>
            <a:srgbClr val="1E2940"/>
          </a:solidFill>
          <a:ln w="12700">
            <a:solidFill>
              <a:srgbClr val="1E2940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5736" y="1234440"/>
            <a:ext cx="320040" cy="32004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129784" y="121615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LNK File Created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4727448" y="1664208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C:\Users\user\AppData\Roaming\Microsoft\Windows\Recent\</a:t>
            </a:r>
            <a:endParaRPr lang="en-US" sz="850" dirty="0"/>
          </a:p>
        </p:txBody>
      </p:sp>
      <p:sp>
        <p:nvSpPr>
          <p:cNvPr id="31" name="Text 24"/>
          <p:cNvSpPr/>
          <p:nvPr/>
        </p:nvSpPr>
        <p:spPr>
          <a:xfrm>
            <a:off x="4727448" y="2066544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4727448" y="2304288"/>
            <a:ext cx="1901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.lnk shortcut file appears in the Recent folder, pointing to the document that was opened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4727448" y="3172968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Proves: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4727448" y="3419856"/>
            <a:ext cx="190195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file was opened by this user on this machine at this exact timestamp. The LNK persists even if the source document is later deleted.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6702552" y="2084832"/>
            <a:ext cx="338328" cy="0"/>
          </a:xfrm>
          <a:prstGeom prst="line">
            <a:avLst/>
          </a:prstGeom>
          <a:noFill/>
          <a:ln w="19050">
            <a:solidFill>
              <a:srgbClr val="5A6A82"/>
            </a:solidFill>
            <a:prstDash val="dash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5704" y="1993392"/>
            <a:ext cx="182880" cy="182880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6812280" y="1207008"/>
            <a:ext cx="2084832" cy="3547872"/>
          </a:xfrm>
          <a:prstGeom prst="rect">
            <a:avLst/>
          </a:prstGeom>
          <a:solidFill>
            <a:srgbClr val="161B26"/>
          </a:solidFill>
          <a:ln w="12700">
            <a:solidFill>
              <a:srgbClr val="1E29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6812280" y="1207008"/>
            <a:ext cx="2084832" cy="402336"/>
          </a:xfrm>
          <a:prstGeom prst="rect">
            <a:avLst/>
          </a:prstGeom>
          <a:solidFill>
            <a:srgbClr val="1E2940"/>
          </a:solidFill>
          <a:ln w="12700">
            <a:solidFill>
              <a:srgbClr val="1E2940"/>
            </a:solidFill>
            <a:prstDash val="solid"/>
          </a:ln>
        </p:spPr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0296" y="1234440"/>
            <a:ext cx="320040" cy="32004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7324344" y="121615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Email Outbound Log</a:t>
            </a:r>
            <a:endParaRPr lang="en-US" sz="1050" dirty="0"/>
          </a:p>
        </p:txBody>
      </p:sp>
      <p:sp>
        <p:nvSpPr>
          <p:cNvPr id="41" name="Text 32"/>
          <p:cNvSpPr/>
          <p:nvPr/>
        </p:nvSpPr>
        <p:spPr>
          <a:xfrm>
            <a:off x="6922008" y="1664208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SMTP server log / Sent Items timestamp</a:t>
            </a:r>
            <a:endParaRPr lang="en-US" sz="850" dirty="0"/>
          </a:p>
        </p:txBody>
      </p:sp>
      <p:sp>
        <p:nvSpPr>
          <p:cNvPr id="42" name="Text 33"/>
          <p:cNvSpPr/>
          <p:nvPr/>
        </p:nvSpPr>
        <p:spPr>
          <a:xfrm>
            <a:off x="6922008" y="2066544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</a:t>
            </a:r>
            <a:endParaRPr lang="en-US" sz="1000" dirty="0"/>
          </a:p>
        </p:txBody>
      </p:sp>
      <p:sp>
        <p:nvSpPr>
          <p:cNvPr id="43" name="Text 34"/>
          <p:cNvSpPr/>
          <p:nvPr/>
        </p:nvSpPr>
        <p:spPr>
          <a:xfrm>
            <a:off x="6922008" y="2304288"/>
            <a:ext cx="1901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outbound SMTP log entry records a message sent, or the Sent Items folder in the PST/OST has a new entry with a matching timestamp</a:t>
            </a:r>
            <a:endParaRPr lang="en-US" sz="1000" dirty="0"/>
          </a:p>
        </p:txBody>
      </p:sp>
      <p:sp>
        <p:nvSpPr>
          <p:cNvPr id="44" name="Text 35"/>
          <p:cNvSpPr/>
          <p:nvPr/>
        </p:nvSpPr>
        <p:spPr>
          <a:xfrm>
            <a:off x="6922008" y="3172968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Proves:</a:t>
            </a:r>
            <a:endParaRPr lang="en-US" sz="1000" dirty="0"/>
          </a:p>
        </p:txBody>
      </p:sp>
      <p:sp>
        <p:nvSpPr>
          <p:cNvPr id="45" name="Text 36"/>
          <p:cNvSpPr/>
          <p:nvPr/>
        </p:nvSpPr>
        <p:spPr>
          <a:xfrm>
            <a:off x="6922008" y="3419856"/>
            <a:ext cx="190195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composed and sent an email. Cross-reference the email's X-Originating-IP against the machine's known IP to confirm it was sent from this device.</a:t>
            </a:r>
            <a:endParaRPr lang="en-US" sz="1000" dirty="0"/>
          </a:p>
        </p:txBody>
      </p:sp>
      <p:sp>
        <p:nvSpPr>
          <p:cNvPr id="46" name="Shape 37"/>
          <p:cNvSpPr/>
          <p:nvPr/>
        </p:nvSpPr>
        <p:spPr>
          <a:xfrm>
            <a:off x="228600" y="4773168"/>
            <a:ext cx="8686800" cy="292608"/>
          </a:xfrm>
          <a:prstGeom prst="rect">
            <a:avLst/>
          </a:prstGeom>
          <a:solidFill>
            <a:srgbClr val="0A201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7" name="Text 38"/>
          <p:cNvSpPr/>
          <p:nvPr/>
        </p:nvSpPr>
        <p:spPr>
          <a:xfrm>
            <a:off x="411480" y="478231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</a:t>
            </a: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write → Prefetch → LNK → Email outbound, all within one window = deliberate human intent, not background OS activity.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2092</Words>
  <Application>Microsoft Office PowerPoint</Application>
  <PresentationFormat>On-screen Show (16:9)</PresentationFormat>
  <Paragraphs>197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Email Forensics &amp; Super Timeline Analysis</dc:title>
  <dc:subject>PptxGenJS Presentation</dc:subject>
  <dc:creator>PptxGenJS</dc:creator>
  <cp:lastModifiedBy>Abdullah Zia</cp:lastModifiedBy>
  <cp:revision>3</cp:revision>
  <dcterms:created xsi:type="dcterms:W3CDTF">2026-05-10T15:54:35Z</dcterms:created>
  <dcterms:modified xsi:type="dcterms:W3CDTF">2026-05-11T12:43:45Z</dcterms:modified>
</cp:coreProperties>
</file>